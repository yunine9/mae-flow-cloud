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6969acb4-2c88-fddc-1ea4-5cf677023ede}">
          <p14:sldIdLst>
            <p14:sldId id="256"/>
            <p14:sldId id="257"/>
            <p14:sldId id="258"/>
          </p14:sldIdLst>
        </p14:section>
        <p14:section name="需求流" id="{1cc7dde4-84e0-7841-62b7-8474a4d734f2}">
          <p14:sldIdLst>
            <p14:sldId id="259"/>
            <p14:sldId id="260"/>
          </p14:sldIdLst>
        </p14:section>
        <p14:section name="问题单流" id="{7c55a1f2-0d51-bea6-9aa4-afcfb7653b4a}">
          <p14:sldIdLst>
            <p14:sldId id="261"/>
            <p14:sldId id="262"/>
          </p14:sldIdLst>
        </p14:section>
        <p14:section name="知识生产线" id="{9fff398c-f4e5-3ccf-833c-4cd5eb2105f0}">
          <p14:sldIdLst>
            <p14:sldId id="263"/>
            <p14:sldId id="264"/>
          </p14:sldIdLst>
        </p14:section>
        <p14:section name="可信与价值" id="{9ac52aee-7859-6843-c7d4-5b94f52770f4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30 秒）
各位评委好，我是廖翔。今天介绍我主导开发的 Mae-Flow Cloud。这是一个基于 AI Agent 的研发交付平台，覆盖需求开发、问题单处理和知识管理三类工作。AI 负责从分析到提交 MR 的主要工作，人在关键节点确认。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 分 20 秒）
目前团队使用 AI 主要是在编码环节，需求澄清、设计、检视、流水线修复和问题定位仍以人工为主。AI 给出的结果需要人逐项核对；AI 也不了解团队的自研组件和业务规则。平台的做法有四点。一是按阶段推进，每个阶段有明确的完成条件；二是关键节点由人确认；三是推送和流水线结果以 CodeHub 为准；四是团队知识经过审查后提供给 AI 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 分钟）
平台有需求开发、问题单处理和知识管理三类工作。这一页展示它们共用的平台架构：任务服务连接 AI 执行环境、团队知识和 CodeHub。下方是五项共同能力，分别是容器隔离、阶段管理、以 CodeHub 的实际状态为准、等待设置时限和过程留痕。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 分 30 秒）
需求开发分为启动、澄清需求、定规格、写设计、写代码、检视与验证、已合入七个阶段。每个阶段有完成条件，AI 调用工具推进。人工确认有三类：需求存在歧义时回答问题，较大的需求在整体设计后确认拆分方案，推送前检视代码。左边是推送前检视界面，人可以确认推送，也可以提出修改意见。人可随时暂停或接手。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 分 20 秒）
第一是大需求拆分。主任务先生成整体设计，再按代码仓和功能模块拆分子任务，按依赖关系调度。第二是检视意见处理。任意代码行都可以批注，Agent 修改后逐条回复，负责人对每条意见给出处理结论并记录理由。第三是 MR 和流水线跟踪。流水线结果对应到具体提交；失败时由 AI 修复，修复次数用完就停止并通知人。第四是人工接手和继续修改，已合入的任务也可以继续修改并提交新的 MR。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 分 30 秒）
问题单和需求不同，不一定需要改代码，可能只需要定位，也可能不是问题，所以单独设计了处理流程。有问题单时分五个阶段，依次是获取问题单、拉取代码并创建分支、问题分析、先写用例再修复、提交 MR。没有问题单时用于自行定位，分三个阶段，结论是问题就等待提单，不是问题就直接结束。平台负责两项检查。一是分析报告必须由人确认后才能修改代码；二是 AI 提交的 MR 清单要和平台记录一致，并且每个 MR 最新提交的流水线全部通过，才算完成。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 分钟）
拉日志和换库部署已经做成平台技能，AI 直接调用，日志保存在工作区供 AI 分析。代码拉取后会在后台提前编译，修复时直接使用。流水线失败时，平台把失败信息发给 AI，由 AI 判断修复还是请人处理。平台侧的问题和报错信息不足这两种情况 AI 处理不了，会通过卡片交给人。另外，网管口令加密保存；命令超时只终止该命令，不销毁容器，这是一次 2940 次失控循环之后做的改进。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 分 20 秒）
AI 不了解团队的业务规则和自研组件，写出的代码容易不符合团队规范。平台把团队知识分为四类。领域知识是业务规则和背景，平台负责研究和审查，交付到业务代码仓后由业务团队决定如何使用。基础组件知识是自研组件的用法，平台同时管理生产和使用，设计阶段要求 AI 制定组件选用计划，改代码时给出规则提示，提交 MR 时再检查。Skill 审查通过后上架，按模块提供给需求开发任务。团队经验来自交付后的整理，人工采纳后才会使用。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 分钟）
三类知识使用同一个流程，依次是发起研究或导入、审查、发布、归档。审查时可以逐行提意见，交给 Agent 修订。发布后平台上即可阅读，每个版本都保留。需要提交到代码仓时，填写单号创建 MR。右边是知识任务页面，需要人处理的任务排在前面，每行右侧是下一步操作。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1 分钟）
为了让 AI 的执行结果可以核实，平台有四项规则。第一，AI 执行的命令都在容器中运行，容器起不来任务就失败，不会改在宿主机执行。第二，推送、MR 和流水线结果以 CodeHub 为准，并对应到具体提交。第三，所有等待都设置时限，失败后停止并通知人。第四，如实记录哪些已经验证、哪些没有验证。这些规则由三千多条自动化测试、真实容器和 Git 环境下的重启演练、界面截图对比来持续验证。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本页数字、统计周期、分享记录和反馈文案均为示例，方便直接点击替换。提交参评前，请按实际统计填写四项指标、三次分享记录，并将反馈替换为真实用户原话。本页示例不代表已发生的使用或推广成果。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40 秒）
接下来有三项工作。一是根据实际使用结果修正组件规则，二是推广到更多业务团队，三是在已有经验自动整理能力上继续提高质量和复用效果。AI 推进交付全程，关键决定由人做出。谢谢。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18872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2"/>
                </a:solidFill>
              </a:rPr>
              <a:t>Mae-Flow Cloud ｜ AI 先锋个人参评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bg" descr="封面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dge-bar"/>
          <p:cNvSpPr/>
          <p:nvPr/>
        </p:nvSpPr>
        <p:spPr>
          <a:xfrm>
            <a:off x="731520" y="868680"/>
            <a:ext cx="54864" cy="29260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badge"/>
          <p:cNvSpPr txBox="1"/>
          <p:nvPr/>
        </p:nvSpPr>
        <p:spPr>
          <a:xfrm>
            <a:off x="896112" y="868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6E6"/>
                </a:solidFill>
              </a:rPr>
              <a:t>AI 先锋个人参评</a:t>
            </a:r>
            <a:endParaRPr lang="en-US" sz="1300" dirty="0"/>
          </a:p>
        </p:txBody>
      </p:sp>
      <p:sp>
        <p:nvSpPr>
          <p:cNvPr id="5" name="title"/>
          <p:cNvSpPr txBox="1"/>
          <p:nvPr/>
        </p:nvSpPr>
        <p:spPr>
          <a:xfrm>
            <a:off x="731520" y="2057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Mae-Flow Cloud</a:t>
            </a:r>
            <a:endParaRPr lang="en-US" sz="5000" dirty="0"/>
          </a:p>
        </p:txBody>
      </p:sp>
      <p:sp>
        <p:nvSpPr>
          <p:cNvPr id="6" name="title-bar"/>
          <p:cNvSpPr/>
          <p:nvPr/>
        </p:nvSpPr>
        <p:spPr>
          <a:xfrm>
            <a:off x="749808" y="3127248"/>
            <a:ext cx="640080" cy="6400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7" name="subtitle"/>
          <p:cNvSpPr txBox="1"/>
          <p:nvPr/>
        </p:nvSpPr>
        <p:spPr>
          <a:xfrm>
            <a:off x="731520" y="33832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AI Agent 研发交付平台</a:t>
            </a:r>
            <a:endParaRPr lang="en-US" sz="2600" dirty="0"/>
          </a:p>
        </p:txBody>
      </p:sp>
      <p:sp>
        <p:nvSpPr>
          <p:cNvPr id="8" name="tagline"/>
          <p:cNvSpPr txBox="1"/>
          <p:nvPr/>
        </p:nvSpPr>
        <p:spPr>
          <a:xfrm>
            <a:off x="731520" y="39776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A6A6"/>
                </a:solidFill>
              </a:rPr>
              <a:t>覆盖需求开发、问题单处理与知识管理</a:t>
            </a:r>
            <a:endParaRPr lang="en-US" sz="1600" dirty="0"/>
          </a:p>
        </p:txBody>
      </p:sp>
      <p:sp>
        <p:nvSpPr>
          <p:cNvPr id="9" name="lane-0"/>
          <p:cNvSpPr txBox="1"/>
          <p:nvPr/>
        </p:nvSpPr>
        <p:spPr>
          <a:xfrm>
            <a:off x="5669280" y="15727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9D9D9"/>
                </a:solidFill>
              </a:rPr>
              <a:t>需求</a:t>
            </a:r>
            <a:endParaRPr lang="en-US" sz="1300" dirty="0"/>
          </a:p>
        </p:txBody>
      </p:sp>
      <p:sp>
        <p:nvSpPr>
          <p:cNvPr id="10" name="lane-1"/>
          <p:cNvSpPr txBox="1"/>
          <p:nvPr/>
        </p:nvSpPr>
        <p:spPr>
          <a:xfrm>
            <a:off x="5669280" y="33101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9D9D9"/>
                </a:solidFill>
              </a:rPr>
              <a:t>问题单</a:t>
            </a:r>
            <a:endParaRPr lang="en-US" sz="1300" dirty="0"/>
          </a:p>
        </p:txBody>
      </p:sp>
      <p:sp>
        <p:nvSpPr>
          <p:cNvPr id="11" name="lane-2"/>
          <p:cNvSpPr txBox="1"/>
          <p:nvPr/>
        </p:nvSpPr>
        <p:spPr>
          <a:xfrm>
            <a:off x="5669280" y="50474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9D9D9"/>
                </a:solidFill>
              </a:rPr>
              <a:t>知识</a:t>
            </a:r>
            <a:endParaRPr lang="en-US" sz="1300" dirty="0"/>
          </a:p>
        </p:txBody>
      </p:sp>
      <p:sp>
        <p:nvSpPr>
          <p:cNvPr id="12" name="lane-end"/>
          <p:cNvSpPr txBox="1"/>
          <p:nvPr/>
        </p:nvSpPr>
        <p:spPr>
          <a:xfrm>
            <a:off x="1005840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交付</a:t>
            </a:r>
            <a:endParaRPr lang="en-US" sz="1400" dirty="0"/>
          </a:p>
        </p:txBody>
      </p:sp>
      <p:sp>
        <p:nvSpPr>
          <p:cNvPr id="13" name="who"/>
          <p:cNvSpPr txBox="1"/>
          <p:nvPr/>
        </p:nvSpPr>
        <p:spPr>
          <a:xfrm>
            <a:off x="731520" y="5897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A6A6"/>
                </a:solidFill>
              </a:rPr>
              <a:t>廖翔 ｜ 2026 年 10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提效瓶颈：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编码之外的交付环节仍靠人工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平台覆盖需求澄清、设计、检视、问题定位和流水线修复</a:t>
            </a:r>
            <a:endParaRPr lang="en-US" sz="1300" dirty="0"/>
          </a:p>
        </p:txBody>
      </p:sp>
      <p:sp>
        <p:nvSpPr>
          <p:cNvPr id="4" name="left-h"/>
          <p:cNvSpPr txBox="1"/>
          <p:nvPr/>
        </p:nvSpPr>
        <p:spPr>
          <a:xfrm>
            <a:off x="68580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现状与问题</a:t>
            </a:r>
            <a:endParaRPr lang="en-US" sz="1500" dirty="0"/>
          </a:p>
        </p:txBody>
      </p:sp>
      <p:sp>
        <p:nvSpPr>
          <p:cNvPr id="5" name="pain-0"/>
          <p:cNvSpPr/>
          <p:nvPr/>
        </p:nvSpPr>
        <p:spPr>
          <a:xfrm>
            <a:off x="685800" y="1874520"/>
            <a:ext cx="5120640" cy="932688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in-ic-0-bg"/>
          <p:cNvSpPr/>
          <p:nvPr/>
        </p:nvSpPr>
        <p:spPr>
          <a:xfrm>
            <a:off x="868680" y="2121408"/>
            <a:ext cx="438912" cy="438912"/>
          </a:xfrm>
          <a:prstGeom prst="ellipse">
            <a:avLst/>
          </a:prstGeom>
          <a:solidFill>
            <a:srgbClr val="E3E3E5"/>
          </a:solidFill>
          <a:ln w="12700">
            <a:solidFill>
              <a:srgbClr val="E3E3E5"/>
            </a:solidFill>
            <a:prstDash val="solid"/>
          </a:ln>
        </p:spPr>
      </p:sp>
      <p:pic>
        <p:nvPicPr>
          <p:cNvPr id="7" name="pain-ic-0" descr="图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19" y="2226747"/>
            <a:ext cx="228234" cy="228234"/>
          </a:xfrm>
          <a:prstGeom prst="rect">
            <a:avLst/>
          </a:prstGeom>
        </p:spPr>
      </p:pic>
      <p:sp>
        <p:nvSpPr>
          <p:cNvPr id="8" name="pain-h-0"/>
          <p:cNvSpPr txBox="1"/>
          <p:nvPr/>
        </p:nvSpPr>
        <p:spPr>
          <a:xfrm>
            <a:off x="150876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覆盖范围有限</a:t>
            </a:r>
            <a:endParaRPr lang="en-US" sz="1400" dirty="0"/>
          </a:p>
        </p:txBody>
      </p:sp>
      <p:sp>
        <p:nvSpPr>
          <p:cNvPr id="9" name="pain-b-0"/>
          <p:cNvSpPr txBox="1"/>
          <p:nvPr/>
        </p:nvSpPr>
        <p:spPr>
          <a:xfrm>
            <a:off x="1508760" y="23042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代码补全只覆盖编码，澄清、设计、检视和流水线修复仍需人工衔接</a:t>
            </a:r>
            <a:endParaRPr lang="en-US" sz="1200" dirty="0"/>
          </a:p>
        </p:txBody>
      </p:sp>
      <p:sp>
        <p:nvSpPr>
          <p:cNvPr id="10" name="pain-1"/>
          <p:cNvSpPr/>
          <p:nvPr/>
        </p:nvSpPr>
        <p:spPr>
          <a:xfrm>
            <a:off x="685800" y="2953512"/>
            <a:ext cx="5120640" cy="932688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in-ic-1-bg"/>
          <p:cNvSpPr/>
          <p:nvPr/>
        </p:nvSpPr>
        <p:spPr>
          <a:xfrm>
            <a:off x="868680" y="3200400"/>
            <a:ext cx="438912" cy="438912"/>
          </a:xfrm>
          <a:prstGeom prst="ellipse">
            <a:avLst/>
          </a:prstGeom>
          <a:solidFill>
            <a:srgbClr val="E3E3E5"/>
          </a:solidFill>
          <a:ln w="12700">
            <a:solidFill>
              <a:srgbClr val="E3E3E5"/>
            </a:solidFill>
            <a:prstDash val="solid"/>
          </a:ln>
        </p:spPr>
      </p:sp>
      <p:pic>
        <p:nvPicPr>
          <p:cNvPr id="12" name="pain-ic-1" descr="图标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19" y="3305739"/>
            <a:ext cx="228234" cy="228234"/>
          </a:xfrm>
          <a:prstGeom prst="rect">
            <a:avLst/>
          </a:prstGeom>
        </p:spPr>
      </p:pic>
      <p:sp>
        <p:nvSpPr>
          <p:cNvPr id="13" name="pain-h-1"/>
          <p:cNvSpPr txBox="1"/>
          <p:nvPr/>
        </p:nvSpPr>
        <p:spPr>
          <a:xfrm>
            <a:off x="1508760" y="3090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结果需要复核</a:t>
            </a:r>
            <a:endParaRPr lang="en-US" sz="1400" dirty="0"/>
          </a:p>
        </p:txBody>
      </p:sp>
      <p:sp>
        <p:nvSpPr>
          <p:cNvPr id="14" name="pain-b-1"/>
          <p:cNvSpPr txBox="1"/>
          <p:nvPr/>
        </p:nvSpPr>
        <p:spPr>
          <a:xfrm>
            <a:off x="1508760" y="3383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报告的完成状态常与实际不符，需要逐项核对执行结果</a:t>
            </a:r>
            <a:endParaRPr lang="en-US" sz="1200" dirty="0"/>
          </a:p>
        </p:txBody>
      </p:sp>
      <p:sp>
        <p:nvSpPr>
          <p:cNvPr id="15" name="pain-2"/>
          <p:cNvSpPr/>
          <p:nvPr/>
        </p:nvSpPr>
        <p:spPr>
          <a:xfrm>
            <a:off x="685800" y="4032504"/>
            <a:ext cx="5120640" cy="932688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in-ic-2-bg"/>
          <p:cNvSpPr/>
          <p:nvPr/>
        </p:nvSpPr>
        <p:spPr>
          <a:xfrm>
            <a:off x="868680" y="4279392"/>
            <a:ext cx="438912" cy="438912"/>
          </a:xfrm>
          <a:prstGeom prst="ellipse">
            <a:avLst/>
          </a:prstGeom>
          <a:solidFill>
            <a:srgbClr val="E3E3E5"/>
          </a:solidFill>
          <a:ln w="12700">
            <a:solidFill>
              <a:srgbClr val="E3E3E5"/>
            </a:solidFill>
            <a:prstDash val="solid"/>
          </a:ln>
        </p:spPr>
      </p:sp>
      <p:pic>
        <p:nvPicPr>
          <p:cNvPr id="17" name="pain-ic-2" descr="图标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9" y="4384731"/>
            <a:ext cx="228234" cy="228234"/>
          </a:xfrm>
          <a:prstGeom prst="rect">
            <a:avLst/>
          </a:prstGeom>
        </p:spPr>
      </p:pic>
      <p:sp>
        <p:nvSpPr>
          <p:cNvPr id="18" name="pain-h-2"/>
          <p:cNvSpPr txBox="1"/>
          <p:nvPr/>
        </p:nvSpPr>
        <p:spPr>
          <a:xfrm>
            <a:off x="1508760" y="4169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缺少团队知识</a:t>
            </a:r>
            <a:endParaRPr lang="en-US" sz="1400" dirty="0"/>
          </a:p>
        </p:txBody>
      </p:sp>
      <p:sp>
        <p:nvSpPr>
          <p:cNvPr id="19" name="pain-b-2"/>
          <p:cNvSpPr txBox="1"/>
          <p:nvPr/>
        </p:nvSpPr>
        <p:spPr>
          <a:xfrm>
            <a:off x="1508760" y="4462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缺少自研组件、业务规则和团队经验，容易选错组件或重复实现</a:t>
            </a:r>
            <a:endParaRPr lang="en-US" sz="1200" dirty="0"/>
          </a:p>
        </p:txBody>
      </p:sp>
      <p:sp>
        <p:nvSpPr>
          <p:cNvPr id="20" name="pain-3"/>
          <p:cNvSpPr/>
          <p:nvPr/>
        </p:nvSpPr>
        <p:spPr>
          <a:xfrm>
            <a:off x="685800" y="5111496"/>
            <a:ext cx="5120640" cy="932688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in-ic-3-bg"/>
          <p:cNvSpPr/>
          <p:nvPr/>
        </p:nvSpPr>
        <p:spPr>
          <a:xfrm>
            <a:off x="868680" y="5358384"/>
            <a:ext cx="438912" cy="438912"/>
          </a:xfrm>
          <a:prstGeom prst="ellipse">
            <a:avLst/>
          </a:prstGeom>
          <a:solidFill>
            <a:srgbClr val="E3E3E5"/>
          </a:solidFill>
          <a:ln w="12700">
            <a:solidFill>
              <a:srgbClr val="E3E3E5"/>
            </a:solidFill>
            <a:prstDash val="solid"/>
          </a:ln>
        </p:spPr>
      </p:sp>
      <p:pic>
        <p:nvPicPr>
          <p:cNvPr id="22" name="pain-ic-3" descr="图标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019" y="5463723"/>
            <a:ext cx="228234" cy="228234"/>
          </a:xfrm>
          <a:prstGeom prst="rect">
            <a:avLst/>
          </a:prstGeom>
        </p:spPr>
      </p:pic>
      <p:sp>
        <p:nvSpPr>
          <p:cNvPr id="23" name="pain-h-3"/>
          <p:cNvSpPr txBox="1"/>
          <p:nvPr/>
        </p:nvSpPr>
        <p:spPr>
          <a:xfrm>
            <a:off x="1508760" y="5248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问题定位耗时</a:t>
            </a:r>
            <a:endParaRPr lang="en-US" sz="1400" dirty="0"/>
          </a:p>
        </p:txBody>
      </p:sp>
      <p:sp>
        <p:nvSpPr>
          <p:cNvPr id="24" name="pain-b-3"/>
          <p:cNvSpPr txBox="1"/>
          <p:nvPr/>
        </p:nvSpPr>
        <p:spPr>
          <a:xfrm>
            <a:off x="1508760" y="55412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拉日志、换库、复现和建分支占用大量人工时间</a:t>
            </a:r>
            <a:endParaRPr lang="en-US" sz="1200" dirty="0"/>
          </a:p>
        </p:txBody>
      </p:sp>
      <p:sp>
        <p:nvSpPr>
          <p:cNvPr id="25" name="arrow"/>
          <p:cNvSpPr/>
          <p:nvPr/>
        </p:nvSpPr>
        <p:spPr>
          <a:xfrm>
            <a:off x="5989320" y="3520440"/>
            <a:ext cx="45720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right-h"/>
          <p:cNvSpPr txBox="1"/>
          <p:nvPr/>
        </p:nvSpPr>
        <p:spPr>
          <a:xfrm>
            <a:off x="662940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平台思路</a:t>
            </a:r>
            <a:endParaRPr lang="en-US" sz="1500" dirty="0"/>
          </a:p>
        </p:txBody>
      </p:sp>
      <p:sp>
        <p:nvSpPr>
          <p:cNvPr id="27" name="idea-bg"/>
          <p:cNvSpPr/>
          <p:nvPr/>
        </p:nvSpPr>
        <p:spPr>
          <a:xfrm>
            <a:off x="6629400" y="1874520"/>
            <a:ext cx="4892040" cy="932688"/>
          </a:xfrm>
          <a:prstGeom prst="roundRect">
            <a:avLst>
              <a:gd name="adj" fmla="val 5882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0" name="idea-bg-1"/>
          <p:cNvSpPr/>
          <p:nvPr/>
        </p:nvSpPr>
        <p:spPr>
          <a:xfrm>
            <a:off x="6629400" y="2953512"/>
            <a:ext cx="4892040" cy="932688"/>
          </a:xfrm>
          <a:prstGeom prst="roundRect">
            <a:avLst>
              <a:gd name="adj" fmla="val 5882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1" name="idea-bg-2"/>
          <p:cNvSpPr/>
          <p:nvPr/>
        </p:nvSpPr>
        <p:spPr>
          <a:xfrm>
            <a:off x="6629400" y="4032504"/>
            <a:ext cx="4892040" cy="932688"/>
          </a:xfrm>
          <a:prstGeom prst="roundRect">
            <a:avLst>
              <a:gd name="adj" fmla="val 5882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2" name="idea-bg-3"/>
          <p:cNvSpPr/>
          <p:nvPr/>
        </p:nvSpPr>
        <p:spPr>
          <a:xfrm>
            <a:off x="6629400" y="5111496"/>
            <a:ext cx="4892040" cy="932688"/>
          </a:xfrm>
          <a:prstGeom prst="roundRect">
            <a:avLst>
              <a:gd name="adj" fmla="val 5882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8" name="idea-m-0"/>
          <p:cNvSpPr/>
          <p:nvPr/>
        </p:nvSpPr>
        <p:spPr>
          <a:xfrm>
            <a:off x="6903720" y="2084832"/>
            <a:ext cx="109728" cy="1097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idea-h-0"/>
          <p:cNvSpPr txBox="1"/>
          <p:nvPr/>
        </p:nvSpPr>
        <p:spPr>
          <a:xfrm>
            <a:off x="7178040" y="20116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按阶段推进</a:t>
            </a:r>
            <a:endParaRPr lang="en-US" sz="1400" dirty="0"/>
          </a:p>
        </p:txBody>
      </p:sp>
      <p:sp>
        <p:nvSpPr>
          <p:cNvPr id="30" name="idea-b-0"/>
          <p:cNvSpPr txBox="1"/>
          <p:nvPr/>
        </p:nvSpPr>
        <p:spPr>
          <a:xfrm>
            <a:off x="7178040" y="23042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明确阶段目标和完成条件，由 AI 调用工具执行</a:t>
            </a:r>
            <a:endParaRPr lang="en-US" sz="1200" dirty="0"/>
          </a:p>
        </p:txBody>
      </p:sp>
      <p:sp>
        <p:nvSpPr>
          <p:cNvPr id="31" name="idea-m-1"/>
          <p:cNvSpPr/>
          <p:nvPr/>
        </p:nvSpPr>
        <p:spPr>
          <a:xfrm>
            <a:off x="6903720" y="3163824"/>
            <a:ext cx="109728" cy="1097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idea-h-1"/>
          <p:cNvSpPr txBox="1"/>
          <p:nvPr/>
        </p:nvSpPr>
        <p:spPr>
          <a:xfrm>
            <a:off x="7178040" y="30906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关键节点由人确认</a:t>
            </a:r>
            <a:endParaRPr lang="en-US" sz="1400" dirty="0"/>
          </a:p>
        </p:txBody>
      </p:sp>
      <p:sp>
        <p:nvSpPr>
          <p:cNvPr id="33" name="idea-b-1"/>
          <p:cNvSpPr txBox="1"/>
          <p:nvPr/>
        </p:nvSpPr>
        <p:spPr>
          <a:xfrm>
            <a:off x="7178040" y="3383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答疑、确认拆分和推送前检视交给人确认，人可随时接手</a:t>
            </a:r>
            <a:endParaRPr lang="en-US" sz="1200" dirty="0"/>
          </a:p>
        </p:txBody>
      </p:sp>
      <p:sp>
        <p:nvSpPr>
          <p:cNvPr id="34" name="idea-m-2"/>
          <p:cNvSpPr/>
          <p:nvPr/>
        </p:nvSpPr>
        <p:spPr>
          <a:xfrm>
            <a:off x="6903720" y="4242816"/>
            <a:ext cx="109728" cy="1097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idea-h-2"/>
          <p:cNvSpPr txBox="1"/>
          <p:nvPr/>
        </p:nvSpPr>
        <p:spPr>
          <a:xfrm>
            <a:off x="7178040" y="41696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以 CodeHub 的实际状态为准</a:t>
            </a:r>
            <a:endParaRPr lang="en-US" sz="1400" dirty="0"/>
          </a:p>
        </p:txBody>
      </p:sp>
      <p:sp>
        <p:nvSpPr>
          <p:cNvPr id="36" name="idea-b-2"/>
          <p:cNvSpPr txBox="1"/>
          <p:nvPr/>
        </p:nvSpPr>
        <p:spPr>
          <a:xfrm>
            <a:off x="7178040" y="44622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以 CodeHub 的提交、MR 和对应流水线结果核对交付</a:t>
            </a:r>
            <a:endParaRPr lang="en-US" sz="1200" dirty="0"/>
          </a:p>
        </p:txBody>
      </p:sp>
      <p:sp>
        <p:nvSpPr>
          <p:cNvPr id="37" name="idea-m-3"/>
          <p:cNvSpPr/>
          <p:nvPr/>
        </p:nvSpPr>
        <p:spPr>
          <a:xfrm>
            <a:off x="6903720" y="5321808"/>
            <a:ext cx="109728" cy="1097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idea-h-3"/>
          <p:cNvSpPr txBox="1"/>
          <p:nvPr/>
        </p:nvSpPr>
        <p:spPr>
          <a:xfrm>
            <a:off x="7178040" y="52486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团队知识纳入流程</a:t>
            </a:r>
            <a:endParaRPr lang="en-US" sz="1400" dirty="0"/>
          </a:p>
        </p:txBody>
      </p:sp>
      <p:sp>
        <p:nvSpPr>
          <p:cNvPr id="39" name="idea-b-3"/>
          <p:cNvSpPr txBox="1"/>
          <p:nvPr/>
        </p:nvSpPr>
        <p:spPr>
          <a:xfrm>
            <a:off x="7178040" y="55412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团队知识经研究和审查后入库，开发时按需提供给 AI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统一底座：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需求、问题单、知识共用执行与管控能力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三类工作的处理方式不同，但都在隔离容器中执行，都由人在关键节点确认</a:t>
            </a:r>
            <a:endParaRPr lang="en-US" sz="1300" dirty="0"/>
          </a:p>
        </p:txBody>
      </p:sp>
      <p:pic>
        <p:nvPicPr>
          <p:cNvPr id="4" name="diagram-platform" descr="流程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483" y="1261872"/>
            <a:ext cx="10358730" cy="4160520"/>
          </a:xfrm>
          <a:prstGeom prst="rect">
            <a:avLst/>
          </a:prstGeom>
        </p:spPr>
      </p:pic>
      <p:sp>
        <p:nvSpPr>
          <p:cNvPr id="5" name="base-h"/>
          <p:cNvSpPr txBox="1"/>
          <p:nvPr/>
        </p:nvSpPr>
        <p:spPr>
          <a:xfrm>
            <a:off x="685800" y="5486400"/>
            <a:ext cx="1097280" cy="77724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共用能力</a:t>
            </a:r>
            <a:endParaRPr lang="en-US" sz="1500" dirty="0"/>
          </a:p>
        </p:txBody>
      </p:sp>
      <p:sp>
        <p:nvSpPr>
          <p:cNvPr id="6" name="base-0"/>
          <p:cNvSpPr/>
          <p:nvPr/>
        </p:nvSpPr>
        <p:spPr>
          <a:xfrm>
            <a:off x="1920240" y="5486400"/>
            <a:ext cx="1829349" cy="777240"/>
          </a:xfrm>
          <a:prstGeom prst="roundRect">
            <a:avLst>
              <a:gd name="adj" fmla="val 7059"/>
            </a:avLst>
          </a:prstGeom>
          <a:solidFill>
            <a:srgbClr val="EDEDEF"/>
          </a:solidFill>
          <a:ln w="12700">
            <a:solidFill>
              <a:srgbClr val="EDEDEF"/>
            </a:solidFill>
            <a:prstDash val="solid"/>
          </a:ln>
        </p:spPr>
      </p:sp>
      <p:sp>
        <p:nvSpPr>
          <p:cNvPr id="7" name="base-h-0"/>
          <p:cNvSpPr txBox="1"/>
          <p:nvPr/>
        </p:nvSpPr>
        <p:spPr>
          <a:xfrm>
            <a:off x="1993392" y="5559552"/>
            <a:ext cx="1683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容器隔离</a:t>
            </a:r>
            <a:endParaRPr lang="en-US" sz="1300" dirty="0"/>
          </a:p>
        </p:txBody>
      </p:sp>
      <p:sp>
        <p:nvSpPr>
          <p:cNvPr id="8" name="base-b-0"/>
          <p:cNvSpPr txBox="1"/>
          <p:nvPr/>
        </p:nvSpPr>
        <p:spPr>
          <a:xfrm>
            <a:off x="2057400" y="5870448"/>
            <a:ext cx="1555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AI 执行的命令全部在任务容器中运行</a:t>
            </a:r>
            <a:endParaRPr lang="en-US" sz="1150" dirty="0"/>
          </a:p>
        </p:txBody>
      </p:sp>
      <p:sp>
        <p:nvSpPr>
          <p:cNvPr id="9" name="base-1"/>
          <p:cNvSpPr/>
          <p:nvPr/>
        </p:nvSpPr>
        <p:spPr>
          <a:xfrm>
            <a:off x="3859317" y="5486400"/>
            <a:ext cx="1829349" cy="777240"/>
          </a:xfrm>
          <a:prstGeom prst="roundRect">
            <a:avLst>
              <a:gd name="adj" fmla="val 7059"/>
            </a:avLst>
          </a:prstGeom>
          <a:solidFill>
            <a:srgbClr val="EDEDEF"/>
          </a:solidFill>
          <a:ln w="12700">
            <a:solidFill>
              <a:srgbClr val="EDEDEF"/>
            </a:solidFill>
            <a:prstDash val="solid"/>
          </a:ln>
        </p:spPr>
      </p:sp>
      <p:sp>
        <p:nvSpPr>
          <p:cNvPr id="10" name="base-h-1"/>
          <p:cNvSpPr txBox="1"/>
          <p:nvPr/>
        </p:nvSpPr>
        <p:spPr>
          <a:xfrm>
            <a:off x="3932469" y="5559552"/>
            <a:ext cx="1683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阶段管理</a:t>
            </a:r>
            <a:endParaRPr lang="en-US" sz="1300" dirty="0"/>
          </a:p>
        </p:txBody>
      </p:sp>
      <p:sp>
        <p:nvSpPr>
          <p:cNvPr id="11" name="base-b-1"/>
          <p:cNvSpPr txBox="1"/>
          <p:nvPr/>
        </p:nvSpPr>
        <p:spPr>
          <a:xfrm>
            <a:off x="3996477" y="5870448"/>
            <a:ext cx="1555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每个阶段有完成条件和人工确认点</a:t>
            </a:r>
            <a:endParaRPr lang="en-US" sz="1150" dirty="0"/>
          </a:p>
        </p:txBody>
      </p:sp>
      <p:sp>
        <p:nvSpPr>
          <p:cNvPr id="12" name="base-2"/>
          <p:cNvSpPr/>
          <p:nvPr/>
        </p:nvSpPr>
        <p:spPr>
          <a:xfrm>
            <a:off x="5798393" y="5486400"/>
            <a:ext cx="1829349" cy="777240"/>
          </a:xfrm>
          <a:prstGeom prst="roundRect">
            <a:avLst>
              <a:gd name="adj" fmla="val 7059"/>
            </a:avLst>
          </a:prstGeom>
          <a:solidFill>
            <a:srgbClr val="EDEDEF"/>
          </a:solidFill>
          <a:ln w="12700">
            <a:solidFill>
              <a:srgbClr val="EDEDEF"/>
            </a:solidFill>
            <a:prstDash val="solid"/>
          </a:ln>
        </p:spPr>
      </p:sp>
      <p:sp>
        <p:nvSpPr>
          <p:cNvPr id="13" name="base-h-2"/>
          <p:cNvSpPr txBox="1"/>
          <p:nvPr/>
        </p:nvSpPr>
        <p:spPr>
          <a:xfrm>
            <a:off x="5871545" y="5559552"/>
            <a:ext cx="1683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以 CodeHub 为准</a:t>
            </a:r>
            <a:endParaRPr lang="en-US" sz="1300" dirty="0"/>
          </a:p>
        </p:txBody>
      </p:sp>
      <p:sp>
        <p:nvSpPr>
          <p:cNvPr id="14" name="base-b-2"/>
          <p:cNvSpPr txBox="1"/>
          <p:nvPr/>
        </p:nvSpPr>
        <p:spPr>
          <a:xfrm>
            <a:off x="5935553" y="5870448"/>
            <a:ext cx="1555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推送、MR、流水线结果对应到具体提交</a:t>
            </a:r>
            <a:endParaRPr lang="en-US" sz="1150" dirty="0"/>
          </a:p>
        </p:txBody>
      </p:sp>
      <p:sp>
        <p:nvSpPr>
          <p:cNvPr id="15" name="base-3"/>
          <p:cNvSpPr/>
          <p:nvPr/>
        </p:nvSpPr>
        <p:spPr>
          <a:xfrm>
            <a:off x="7737470" y="5486400"/>
            <a:ext cx="1829349" cy="777240"/>
          </a:xfrm>
          <a:prstGeom prst="roundRect">
            <a:avLst>
              <a:gd name="adj" fmla="val 7059"/>
            </a:avLst>
          </a:prstGeom>
          <a:solidFill>
            <a:srgbClr val="EDEDEF"/>
          </a:solidFill>
          <a:ln w="12700">
            <a:solidFill>
              <a:srgbClr val="EDEDEF"/>
            </a:solidFill>
            <a:prstDash val="solid"/>
          </a:ln>
        </p:spPr>
      </p:sp>
      <p:sp>
        <p:nvSpPr>
          <p:cNvPr id="16" name="base-h-3"/>
          <p:cNvSpPr txBox="1"/>
          <p:nvPr/>
        </p:nvSpPr>
        <p:spPr>
          <a:xfrm>
            <a:off x="7810622" y="5559552"/>
            <a:ext cx="1683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等待有时限</a:t>
            </a:r>
            <a:endParaRPr lang="en-US" sz="1300" dirty="0"/>
          </a:p>
        </p:txBody>
      </p:sp>
      <p:sp>
        <p:nvSpPr>
          <p:cNvPr id="17" name="base-b-3"/>
          <p:cNvSpPr txBox="1"/>
          <p:nvPr/>
        </p:nvSpPr>
        <p:spPr>
          <a:xfrm>
            <a:off x="7874630" y="5870448"/>
            <a:ext cx="1555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所有等待都设时限，超时交给人处理</a:t>
            </a:r>
            <a:endParaRPr lang="en-US" sz="1150" dirty="0"/>
          </a:p>
        </p:txBody>
      </p:sp>
      <p:sp>
        <p:nvSpPr>
          <p:cNvPr id="18" name="base-4"/>
          <p:cNvSpPr/>
          <p:nvPr/>
        </p:nvSpPr>
        <p:spPr>
          <a:xfrm>
            <a:off x="9676547" y="5486400"/>
            <a:ext cx="1829349" cy="777240"/>
          </a:xfrm>
          <a:prstGeom prst="roundRect">
            <a:avLst>
              <a:gd name="adj" fmla="val 7059"/>
            </a:avLst>
          </a:prstGeom>
          <a:solidFill>
            <a:srgbClr val="EDEDEF"/>
          </a:solidFill>
          <a:ln w="12700">
            <a:solidFill>
              <a:srgbClr val="EDEDEF"/>
            </a:solidFill>
            <a:prstDash val="solid"/>
          </a:ln>
        </p:spPr>
      </p:sp>
      <p:sp>
        <p:nvSpPr>
          <p:cNvPr id="19" name="base-h-4"/>
          <p:cNvSpPr txBox="1"/>
          <p:nvPr/>
        </p:nvSpPr>
        <p:spPr>
          <a:xfrm>
            <a:off x="9749699" y="5559552"/>
            <a:ext cx="1683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过程留痕</a:t>
            </a:r>
            <a:endParaRPr lang="en-US" sz="1300" dirty="0"/>
          </a:p>
        </p:txBody>
      </p:sp>
      <p:sp>
        <p:nvSpPr>
          <p:cNvPr id="20" name="base-b-4"/>
          <p:cNvSpPr txBox="1"/>
          <p:nvPr/>
        </p:nvSpPr>
        <p:spPr>
          <a:xfrm>
            <a:off x="9813707" y="5870448"/>
            <a:ext cx="1555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批注、决定和执行日志均可查询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人机协同：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七个阶段由 AI 推进，关键节点由人确认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需求有歧义时答疑，大需求确认拆分方案，推送前检视代码。人可随时暂停或接手</a:t>
            </a:r>
            <a:endParaRPr lang="en-US" sz="1300" dirty="0"/>
          </a:p>
        </p:txBody>
      </p:sp>
      <p:sp>
        <p:nvSpPr>
          <p:cNvPr id="4" name="phase-line"/>
          <p:cNvSpPr/>
          <p:nvPr/>
        </p:nvSpPr>
        <p:spPr>
          <a:xfrm>
            <a:off x="1051560" y="1828800"/>
            <a:ext cx="101041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5" name="phase-done"/>
          <p:cNvSpPr/>
          <p:nvPr/>
        </p:nvSpPr>
        <p:spPr>
          <a:xfrm>
            <a:off x="1051560" y="1828800"/>
            <a:ext cx="101041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6" name="phase-n0"/>
          <p:cNvSpPr/>
          <p:nvPr/>
        </p:nvSpPr>
        <p:spPr>
          <a:xfrm>
            <a:off x="950976" y="17282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phase-n1"/>
          <p:cNvSpPr/>
          <p:nvPr/>
        </p:nvSpPr>
        <p:spPr>
          <a:xfrm>
            <a:off x="2634996" y="17282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phase-n2"/>
          <p:cNvSpPr/>
          <p:nvPr/>
        </p:nvSpPr>
        <p:spPr>
          <a:xfrm>
            <a:off x="4319016" y="17282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phase-n3"/>
          <p:cNvSpPr/>
          <p:nvPr/>
        </p:nvSpPr>
        <p:spPr>
          <a:xfrm>
            <a:off x="6003036" y="17282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phase-n4"/>
          <p:cNvSpPr/>
          <p:nvPr/>
        </p:nvSpPr>
        <p:spPr>
          <a:xfrm>
            <a:off x="7687056" y="17282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phase-n5"/>
          <p:cNvSpPr/>
          <p:nvPr/>
        </p:nvSpPr>
        <p:spPr>
          <a:xfrm>
            <a:off x="9371076" y="17282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phase-n6"/>
          <p:cNvSpPr/>
          <p:nvPr/>
        </p:nvSpPr>
        <p:spPr>
          <a:xfrm>
            <a:off x="11055096" y="17282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ph-h-0"/>
          <p:cNvSpPr txBox="1"/>
          <p:nvPr/>
        </p:nvSpPr>
        <p:spPr>
          <a:xfrm>
            <a:off x="32004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启动</a:t>
            </a:r>
            <a:endParaRPr lang="en-US" sz="1300" dirty="0"/>
          </a:p>
        </p:txBody>
      </p:sp>
      <p:sp>
        <p:nvSpPr>
          <p:cNvPr id="14" name="ph-b-0"/>
          <p:cNvSpPr txBox="1"/>
          <p:nvPr/>
        </p:nvSpPr>
        <p:spPr>
          <a:xfrm>
            <a:off x="338328" y="2340864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拉取代码、创建分支，预编译，加载团队 Skill</a:t>
            </a:r>
            <a:endParaRPr lang="en-US" sz="1050" dirty="0"/>
          </a:p>
        </p:txBody>
      </p:sp>
      <p:sp>
        <p:nvSpPr>
          <p:cNvPr id="15" name="ph-h-1"/>
          <p:cNvSpPr txBox="1"/>
          <p:nvPr/>
        </p:nvSpPr>
        <p:spPr>
          <a:xfrm>
            <a:off x="200406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澄清需求</a:t>
            </a:r>
            <a:endParaRPr lang="en-US" sz="1300" dirty="0"/>
          </a:p>
        </p:txBody>
      </p:sp>
      <p:sp>
        <p:nvSpPr>
          <p:cNvPr id="16" name="ph-b-1"/>
          <p:cNvSpPr txBox="1"/>
          <p:nvPr/>
        </p:nvSpPr>
        <p:spPr>
          <a:xfrm>
            <a:off x="2022348" y="2340864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阅读需求，有疑问时向人提问</a:t>
            </a:r>
            <a:endParaRPr lang="en-US" sz="1050" dirty="0"/>
          </a:p>
        </p:txBody>
      </p:sp>
      <p:sp>
        <p:nvSpPr>
          <p:cNvPr id="17" name="ph-human-1-bg"/>
          <p:cNvSpPr/>
          <p:nvPr/>
        </p:nvSpPr>
        <p:spPr>
          <a:xfrm>
            <a:off x="2186940" y="1325880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h-human-1"/>
          <p:cNvSpPr txBox="1"/>
          <p:nvPr/>
        </p:nvSpPr>
        <p:spPr>
          <a:xfrm>
            <a:off x="2186940" y="1325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按需答疑</a:t>
            </a:r>
            <a:endParaRPr lang="en-US" sz="1050" dirty="0"/>
          </a:p>
        </p:txBody>
      </p:sp>
      <p:sp>
        <p:nvSpPr>
          <p:cNvPr id="19" name="ph-h-2"/>
          <p:cNvSpPr txBox="1"/>
          <p:nvPr/>
        </p:nvSpPr>
        <p:spPr>
          <a:xfrm>
            <a:off x="368808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定规格</a:t>
            </a:r>
            <a:endParaRPr lang="en-US" sz="1300" dirty="0"/>
          </a:p>
        </p:txBody>
      </p:sp>
      <p:sp>
        <p:nvSpPr>
          <p:cNvPr id="20" name="ph-b-2"/>
          <p:cNvSpPr txBox="1"/>
          <p:nvPr/>
        </p:nvSpPr>
        <p:spPr>
          <a:xfrm>
            <a:off x="3706368" y="2340864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编写规格说明，验收条件逐条编号</a:t>
            </a:r>
            <a:endParaRPr lang="en-US" sz="1050" dirty="0"/>
          </a:p>
        </p:txBody>
      </p:sp>
      <p:sp>
        <p:nvSpPr>
          <p:cNvPr id="21" name="ph-human-2-bg"/>
          <p:cNvSpPr/>
          <p:nvPr/>
        </p:nvSpPr>
        <p:spPr>
          <a:xfrm>
            <a:off x="5554980" y="1325880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ph-human-2"/>
          <p:cNvSpPr txBox="1"/>
          <p:nvPr/>
        </p:nvSpPr>
        <p:spPr>
          <a:xfrm>
            <a:off x="5554980" y="1325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确认拆分</a:t>
            </a:r>
            <a:endParaRPr lang="en-US" sz="1050" dirty="0"/>
          </a:p>
        </p:txBody>
      </p:sp>
      <p:sp>
        <p:nvSpPr>
          <p:cNvPr id="23" name="ph-h-3"/>
          <p:cNvSpPr txBox="1"/>
          <p:nvPr/>
        </p:nvSpPr>
        <p:spPr>
          <a:xfrm>
            <a:off x="537210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写设计</a:t>
            </a:r>
            <a:endParaRPr lang="en-US" sz="1300" dirty="0"/>
          </a:p>
        </p:txBody>
      </p:sp>
      <p:sp>
        <p:nvSpPr>
          <p:cNvPr id="24" name="ph-b-3"/>
          <p:cNvSpPr txBox="1"/>
          <p:nvPr/>
        </p:nvSpPr>
        <p:spPr>
          <a:xfrm>
            <a:off x="5390388" y="2340864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编写 4+1 视图设计和架构图，制定组件选用计划</a:t>
            </a:r>
            <a:endParaRPr lang="en-US" sz="1050" dirty="0"/>
          </a:p>
        </p:txBody>
      </p:sp>
      <p:sp>
        <p:nvSpPr>
          <p:cNvPr id="25" name="ph-h-4"/>
          <p:cNvSpPr txBox="1"/>
          <p:nvPr/>
        </p:nvSpPr>
        <p:spPr>
          <a:xfrm>
            <a:off x="705612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写代码</a:t>
            </a:r>
            <a:endParaRPr lang="en-US" sz="1300" dirty="0"/>
          </a:p>
        </p:txBody>
      </p:sp>
      <p:sp>
        <p:nvSpPr>
          <p:cNvPr id="26" name="ph-b-4"/>
          <p:cNvSpPr txBox="1"/>
          <p:nvPr/>
        </p:nvSpPr>
        <p:spPr>
          <a:xfrm>
            <a:off x="7074408" y="2340864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编码并编写单元测试，按改动范围编译和测试</a:t>
            </a:r>
            <a:endParaRPr lang="en-US" sz="1050" dirty="0"/>
          </a:p>
        </p:txBody>
      </p:sp>
      <p:sp>
        <p:nvSpPr>
          <p:cNvPr id="27" name="ph-h-5"/>
          <p:cNvSpPr txBox="1"/>
          <p:nvPr/>
        </p:nvSpPr>
        <p:spPr>
          <a:xfrm>
            <a:off x="874014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检视与验证</a:t>
            </a:r>
            <a:endParaRPr lang="en-US" sz="1300" dirty="0"/>
          </a:p>
        </p:txBody>
      </p:sp>
      <p:sp>
        <p:nvSpPr>
          <p:cNvPr id="28" name="ph-b-5"/>
          <p:cNvSpPr txBox="1"/>
          <p:nvPr/>
        </p:nvSpPr>
        <p:spPr>
          <a:xfrm>
            <a:off x="8758428" y="2340864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推送前检视，创建 MR，跟踪流水线并修复失败</a:t>
            </a:r>
            <a:endParaRPr lang="en-US" sz="1050" dirty="0"/>
          </a:p>
        </p:txBody>
      </p:sp>
      <p:sp>
        <p:nvSpPr>
          <p:cNvPr id="29" name="ph-human-5-bg"/>
          <p:cNvSpPr/>
          <p:nvPr/>
        </p:nvSpPr>
        <p:spPr>
          <a:xfrm>
            <a:off x="8923020" y="1325880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ph-human-5"/>
          <p:cNvSpPr txBox="1"/>
          <p:nvPr/>
        </p:nvSpPr>
        <p:spPr>
          <a:xfrm>
            <a:off x="8923020" y="1325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推送检视</a:t>
            </a:r>
            <a:endParaRPr lang="en-US" sz="1050" dirty="0"/>
          </a:p>
        </p:txBody>
      </p:sp>
      <p:sp>
        <p:nvSpPr>
          <p:cNvPr id="31" name="ph-h-6"/>
          <p:cNvSpPr txBox="1"/>
          <p:nvPr/>
        </p:nvSpPr>
        <p:spPr>
          <a:xfrm>
            <a:off x="1042416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已合入</a:t>
            </a:r>
            <a:endParaRPr lang="en-US" sz="1300" dirty="0"/>
          </a:p>
        </p:txBody>
      </p:sp>
      <p:sp>
        <p:nvSpPr>
          <p:cNvPr id="32" name="ph-b-6"/>
          <p:cNvSpPr txBox="1"/>
          <p:nvPr/>
        </p:nvSpPr>
        <p:spPr>
          <a:xfrm>
            <a:off x="10442448" y="2340864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合入后结束，需要时可继续修改</a:t>
            </a:r>
            <a:endParaRPr lang="en-US" sz="1050" dirty="0"/>
          </a:p>
        </p:txBody>
      </p:sp>
      <p:sp>
        <p:nvSpPr>
          <p:cNvPr id="33" name="shot-frame"/>
          <p:cNvSpPr/>
          <p:nvPr/>
        </p:nvSpPr>
        <p:spPr>
          <a:xfrm>
            <a:off x="658368" y="3172968"/>
            <a:ext cx="5632704" cy="276631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34" name="shot" descr="推送前检视界面截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00400"/>
            <a:ext cx="5577840" cy="2711450"/>
          </a:xfrm>
          <a:prstGeom prst="rect">
            <a:avLst/>
          </a:prstGeom>
        </p:spPr>
      </p:pic>
      <p:sp>
        <p:nvSpPr>
          <p:cNvPr id="35" name="shot-cap"/>
          <p:cNvSpPr txBox="1"/>
          <p:nvPr/>
        </p:nvSpPr>
        <p:spPr>
          <a:xfrm>
            <a:off x="685800" y="598500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顶部为阶段进度，右侧为推送前检视卡片，列出推送文件，可确认或提出修改意见</a:t>
            </a:r>
            <a:endParaRPr lang="en-US" sz="1000" dirty="0"/>
          </a:p>
        </p:txBody>
      </p:sp>
      <p:sp>
        <p:nvSpPr>
          <p:cNvPr id="36" name="r-h"/>
          <p:cNvSpPr txBox="1"/>
          <p:nvPr/>
        </p:nvSpPr>
        <p:spPr>
          <a:xfrm>
            <a:off x="6675120" y="3200400"/>
            <a:ext cx="4830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三类人工确认</a:t>
            </a:r>
            <a:endParaRPr lang="en-US" sz="1500" dirty="0"/>
          </a:p>
        </p:txBody>
      </p:sp>
      <p:sp>
        <p:nvSpPr>
          <p:cNvPr id="37" name="r-n-0"/>
          <p:cNvSpPr txBox="1"/>
          <p:nvPr/>
        </p:nvSpPr>
        <p:spPr>
          <a:xfrm>
            <a:off x="6675120" y="36576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8" name="r-ph-0"/>
          <p:cNvSpPr txBox="1"/>
          <p:nvPr/>
        </p:nvSpPr>
        <p:spPr>
          <a:xfrm>
            <a:off x="7114032" y="3639312"/>
            <a:ext cx="43918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回答澄清问题</a:t>
            </a:r>
            <a:endParaRPr lang="en-US" sz="1300" dirty="0"/>
          </a:p>
        </p:txBody>
      </p:sp>
      <p:sp>
        <p:nvSpPr>
          <p:cNvPr id="39" name="r-pb-0"/>
          <p:cNvSpPr txBox="1"/>
          <p:nvPr/>
        </p:nvSpPr>
        <p:spPr>
          <a:xfrm>
            <a:off x="7114032" y="3931920"/>
            <a:ext cx="4391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只在需求存在歧义时提问，可以选择选项，也可以直接填写答复</a:t>
            </a:r>
            <a:endParaRPr lang="en-US" sz="1150" dirty="0"/>
          </a:p>
        </p:txBody>
      </p:sp>
      <p:sp>
        <p:nvSpPr>
          <p:cNvPr id="40" name="r-n-1"/>
          <p:cNvSpPr txBox="1"/>
          <p:nvPr/>
        </p:nvSpPr>
        <p:spPr>
          <a:xfrm>
            <a:off x="6675120" y="442569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r-ph-1"/>
          <p:cNvSpPr txBox="1"/>
          <p:nvPr/>
        </p:nvSpPr>
        <p:spPr>
          <a:xfrm>
            <a:off x="7114032" y="4407408"/>
            <a:ext cx="43918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确认拆分方案</a:t>
            </a:r>
            <a:endParaRPr lang="en-US" sz="1300" dirty="0"/>
          </a:p>
        </p:txBody>
      </p:sp>
      <p:sp>
        <p:nvSpPr>
          <p:cNvPr id="42" name="r-pb-1"/>
          <p:cNvSpPr txBox="1"/>
          <p:nvPr/>
        </p:nvSpPr>
        <p:spPr>
          <a:xfrm>
            <a:off x="7114032" y="4700016"/>
            <a:ext cx="4391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较大的需求先给出整体设计和模块拆分，确认后再创建子任务</a:t>
            </a:r>
            <a:endParaRPr lang="en-US" sz="1150" dirty="0"/>
          </a:p>
        </p:txBody>
      </p:sp>
      <p:sp>
        <p:nvSpPr>
          <p:cNvPr id="43" name="r-n-2"/>
          <p:cNvSpPr txBox="1"/>
          <p:nvPr/>
        </p:nvSpPr>
        <p:spPr>
          <a:xfrm>
            <a:off x="6675120" y="519379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4" name="r-ph-2"/>
          <p:cNvSpPr txBox="1"/>
          <p:nvPr/>
        </p:nvSpPr>
        <p:spPr>
          <a:xfrm>
            <a:off x="7114032" y="5175504"/>
            <a:ext cx="43918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推送前检视代码</a:t>
            </a:r>
            <a:endParaRPr lang="en-US" sz="1300" dirty="0"/>
          </a:p>
        </p:txBody>
      </p:sp>
      <p:sp>
        <p:nvSpPr>
          <p:cNvPr id="45" name="r-pb-2"/>
          <p:cNvSpPr txBox="1"/>
          <p:nvPr/>
        </p:nvSpPr>
        <p:spPr>
          <a:xfrm>
            <a:off x="7114032" y="5468112"/>
            <a:ext cx="4391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可以逐行批注，Agent 修改后逐条回复，确认后再推送</a:t>
            </a:r>
            <a:endParaRPr lang="en-US" sz="1150" dirty="0"/>
          </a:p>
        </p:txBody>
      </p:sp>
      <p:sp>
        <p:nvSpPr>
          <p:cNvPr id="46" name="r-foot"/>
          <p:cNvSpPr txBox="1"/>
          <p:nvPr/>
        </p:nvSpPr>
        <p:spPr>
          <a:xfrm>
            <a:off x="6675120" y="5961888"/>
            <a:ext cx="4830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其余环节由 AI 推进，人可随时暂停或接手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全程贯通：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需求开发覆盖整体设计到合入后修改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一张需求单可以跨多个代码仓；检视意见、流水线结果和人工修改都记录在同一个任务中</a:t>
            </a:r>
            <a:endParaRPr lang="en-US" sz="1300" dirty="0"/>
          </a:p>
        </p:txBody>
      </p:sp>
      <p:pic>
        <p:nvPicPr>
          <p:cNvPr id="4" name="diagram-req" descr="流程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541" y="1298448"/>
            <a:ext cx="10584614" cy="3931920"/>
          </a:xfrm>
          <a:prstGeom prst="rect">
            <a:avLst/>
          </a:prstGeom>
        </p:spPr>
      </p:pic>
      <p:sp>
        <p:nvSpPr>
          <p:cNvPr id="5" name="k5-0"/>
          <p:cNvSpPr/>
          <p:nvPr/>
        </p:nvSpPr>
        <p:spPr>
          <a:xfrm>
            <a:off x="685800" y="5440680"/>
            <a:ext cx="2567864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k5-m-0"/>
          <p:cNvSpPr/>
          <p:nvPr/>
        </p:nvSpPr>
        <p:spPr>
          <a:xfrm>
            <a:off x="868680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k5-h-0"/>
          <p:cNvSpPr txBox="1"/>
          <p:nvPr/>
        </p:nvSpPr>
        <p:spPr>
          <a:xfrm>
            <a:off x="1051560" y="5550408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大需求拆分</a:t>
            </a:r>
            <a:endParaRPr lang="en-US" sz="1300" dirty="0"/>
          </a:p>
        </p:txBody>
      </p:sp>
      <p:sp>
        <p:nvSpPr>
          <p:cNvPr id="8" name="k5-b-0"/>
          <p:cNvSpPr txBox="1"/>
          <p:nvPr/>
        </p:nvSpPr>
        <p:spPr>
          <a:xfrm>
            <a:off x="1051560" y="5843016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先出整体设计，再按代码仓拆成子任务</a:t>
            </a:r>
            <a:endParaRPr lang="en-US" sz="1100" dirty="0"/>
          </a:p>
        </p:txBody>
      </p:sp>
      <p:sp>
        <p:nvSpPr>
          <p:cNvPr id="9" name="k5-1"/>
          <p:cNvSpPr/>
          <p:nvPr/>
        </p:nvSpPr>
        <p:spPr>
          <a:xfrm>
            <a:off x="3436544" y="5440680"/>
            <a:ext cx="2567864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5-m-1"/>
          <p:cNvSpPr/>
          <p:nvPr/>
        </p:nvSpPr>
        <p:spPr>
          <a:xfrm>
            <a:off x="3619424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k5-h-1"/>
          <p:cNvSpPr txBox="1"/>
          <p:nvPr/>
        </p:nvSpPr>
        <p:spPr>
          <a:xfrm>
            <a:off x="3802304" y="5550408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检视意见逐条处理</a:t>
            </a:r>
            <a:endParaRPr lang="en-US" sz="1300" dirty="0"/>
          </a:p>
        </p:txBody>
      </p:sp>
      <p:sp>
        <p:nvSpPr>
          <p:cNvPr id="12" name="k5-b-1"/>
          <p:cNvSpPr txBox="1"/>
          <p:nvPr/>
        </p:nvSpPr>
        <p:spPr>
          <a:xfrm>
            <a:off x="3802304" y="5843016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可以逐行批注，Agent 修改后逐条回复</a:t>
            </a:r>
            <a:endParaRPr lang="en-US" sz="1100" dirty="0"/>
          </a:p>
        </p:txBody>
      </p:sp>
      <p:sp>
        <p:nvSpPr>
          <p:cNvPr id="13" name="k5-2"/>
          <p:cNvSpPr/>
          <p:nvPr/>
        </p:nvSpPr>
        <p:spPr>
          <a:xfrm>
            <a:off x="6187288" y="5440680"/>
            <a:ext cx="2567864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5-m-2"/>
          <p:cNvSpPr/>
          <p:nvPr/>
        </p:nvSpPr>
        <p:spPr>
          <a:xfrm>
            <a:off x="6370168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k5-h-2"/>
          <p:cNvSpPr txBox="1"/>
          <p:nvPr/>
        </p:nvSpPr>
        <p:spPr>
          <a:xfrm>
            <a:off x="6553048" y="5550408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流水线结果对应提交</a:t>
            </a:r>
            <a:endParaRPr lang="en-US" sz="1300" dirty="0"/>
          </a:p>
        </p:txBody>
      </p:sp>
      <p:sp>
        <p:nvSpPr>
          <p:cNvPr id="16" name="k5-b-2"/>
          <p:cNvSpPr txBox="1"/>
          <p:nvPr/>
        </p:nvSpPr>
        <p:spPr>
          <a:xfrm>
            <a:off x="6553048" y="5843016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失败时由 AI 修复，修复次数用完则通知人</a:t>
            </a:r>
            <a:endParaRPr lang="en-US" sz="1100" dirty="0"/>
          </a:p>
        </p:txBody>
      </p:sp>
      <p:sp>
        <p:nvSpPr>
          <p:cNvPr id="17" name="k5-3"/>
          <p:cNvSpPr/>
          <p:nvPr/>
        </p:nvSpPr>
        <p:spPr>
          <a:xfrm>
            <a:off x="8938031" y="5440680"/>
            <a:ext cx="2567864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k5-m-3"/>
          <p:cNvSpPr/>
          <p:nvPr/>
        </p:nvSpPr>
        <p:spPr>
          <a:xfrm>
            <a:off x="9120911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k5-h-3"/>
          <p:cNvSpPr txBox="1"/>
          <p:nvPr/>
        </p:nvSpPr>
        <p:spPr>
          <a:xfrm>
            <a:off x="9303791" y="5550408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合入后继续修改</a:t>
            </a:r>
            <a:endParaRPr lang="en-US" sz="1300" dirty="0"/>
          </a:p>
        </p:txBody>
      </p:sp>
      <p:sp>
        <p:nvSpPr>
          <p:cNvPr id="20" name="k5-b-3"/>
          <p:cNvSpPr txBox="1"/>
          <p:nvPr/>
        </p:nvSpPr>
        <p:spPr>
          <a:xfrm>
            <a:off x="9303791" y="5843016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沿用原目录，新建分支提交新的 MR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因单施策：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问题单按分析结果选择后续步骤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问题单不一定需要修改代码，可能只需定位，也可能不是问题；需要修改时，以流水线全部通过作为完成标准</a:t>
            </a:r>
            <a:endParaRPr lang="en-US" sz="1300" dirty="0"/>
          </a:p>
        </p:txBody>
      </p:sp>
      <p:sp>
        <p:nvSpPr>
          <p:cNvPr id="4" name="a-h"/>
          <p:cNvSpPr txBox="1"/>
          <p:nvPr/>
        </p:nvSpPr>
        <p:spPr>
          <a:xfrm>
            <a:off x="685800" y="1435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有问题单：五个阶段</a:t>
            </a:r>
            <a:endParaRPr lang="en-US" sz="1400" dirty="0"/>
          </a:p>
        </p:txBody>
      </p:sp>
      <p:sp>
        <p:nvSpPr>
          <p:cNvPr id="5" name="a-line"/>
          <p:cNvSpPr/>
          <p:nvPr/>
        </p:nvSpPr>
        <p:spPr>
          <a:xfrm>
            <a:off x="1234440" y="2057400"/>
            <a:ext cx="82296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6" name="a-done"/>
          <p:cNvSpPr/>
          <p:nvPr/>
        </p:nvSpPr>
        <p:spPr>
          <a:xfrm>
            <a:off x="1234440" y="2057400"/>
            <a:ext cx="82296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7" name="a-n0"/>
          <p:cNvSpPr/>
          <p:nvPr/>
        </p:nvSpPr>
        <p:spPr>
          <a:xfrm>
            <a:off x="1133856" y="19568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-n1"/>
          <p:cNvSpPr/>
          <p:nvPr/>
        </p:nvSpPr>
        <p:spPr>
          <a:xfrm>
            <a:off x="3191256" y="19568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a-n2"/>
          <p:cNvSpPr/>
          <p:nvPr/>
        </p:nvSpPr>
        <p:spPr>
          <a:xfrm>
            <a:off x="5248656" y="19568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a-n3"/>
          <p:cNvSpPr/>
          <p:nvPr/>
        </p:nvSpPr>
        <p:spPr>
          <a:xfrm>
            <a:off x="7306056" y="19568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a-n4"/>
          <p:cNvSpPr/>
          <p:nvPr/>
        </p:nvSpPr>
        <p:spPr>
          <a:xfrm>
            <a:off x="9363456" y="19568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a-ph-0"/>
          <p:cNvSpPr txBox="1"/>
          <p:nvPr/>
        </p:nvSpPr>
        <p:spPr>
          <a:xfrm>
            <a:off x="32004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获取 DTS 单</a:t>
            </a:r>
            <a:endParaRPr lang="en-US" sz="1300" dirty="0"/>
          </a:p>
        </p:txBody>
      </p:sp>
      <p:sp>
        <p:nvSpPr>
          <p:cNvPr id="13" name="a-pb-0"/>
          <p:cNvSpPr txBox="1"/>
          <p:nvPr/>
        </p:nvSpPr>
        <p:spPr>
          <a:xfrm>
            <a:off x="32004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读取问题单信息</a:t>
            </a:r>
            <a:endParaRPr lang="en-US" sz="1100" dirty="0"/>
          </a:p>
        </p:txBody>
      </p:sp>
      <p:sp>
        <p:nvSpPr>
          <p:cNvPr id="14" name="a-ph-1"/>
          <p:cNvSpPr txBox="1"/>
          <p:nvPr/>
        </p:nvSpPr>
        <p:spPr>
          <a:xfrm>
            <a:off x="237744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拉取代码、建分支</a:t>
            </a:r>
            <a:endParaRPr lang="en-US" sz="1300" dirty="0"/>
          </a:p>
        </p:txBody>
      </p:sp>
      <p:sp>
        <p:nvSpPr>
          <p:cNvPr id="15" name="a-pb-1"/>
          <p:cNvSpPr txBox="1"/>
          <p:nvPr/>
        </p:nvSpPr>
        <p:spPr>
          <a:xfrm>
            <a:off x="237744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平台按单号创建分支</a:t>
            </a:r>
            <a:endParaRPr lang="en-US" sz="1100" dirty="0"/>
          </a:p>
        </p:txBody>
      </p:sp>
      <p:sp>
        <p:nvSpPr>
          <p:cNvPr id="16" name="a-ph-2"/>
          <p:cNvSpPr txBox="1"/>
          <p:nvPr/>
        </p:nvSpPr>
        <p:spPr>
          <a:xfrm>
            <a:off x="443484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问题分析</a:t>
            </a:r>
            <a:endParaRPr lang="en-US" sz="1300" dirty="0"/>
          </a:p>
        </p:txBody>
      </p:sp>
      <p:sp>
        <p:nvSpPr>
          <p:cNvPr id="17" name="a-pb-2"/>
          <p:cNvSpPr txBox="1"/>
          <p:nvPr/>
        </p:nvSpPr>
        <p:spPr>
          <a:xfrm>
            <a:off x="443484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分析日志、复现、定位根因</a:t>
            </a:r>
            <a:endParaRPr lang="en-US" sz="1100" dirty="0"/>
          </a:p>
        </p:txBody>
      </p:sp>
      <p:sp>
        <p:nvSpPr>
          <p:cNvPr id="18" name="a-ph-3"/>
          <p:cNvSpPr txBox="1"/>
          <p:nvPr/>
        </p:nvSpPr>
        <p:spPr>
          <a:xfrm>
            <a:off x="649224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问题修复</a:t>
            </a:r>
            <a:endParaRPr lang="en-US" sz="1300" dirty="0"/>
          </a:p>
        </p:txBody>
      </p:sp>
      <p:sp>
        <p:nvSpPr>
          <p:cNvPr id="19" name="a-pb-3"/>
          <p:cNvSpPr txBox="1"/>
          <p:nvPr/>
        </p:nvSpPr>
        <p:spPr>
          <a:xfrm>
            <a:off x="649224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先写测试用例，再修复</a:t>
            </a:r>
            <a:endParaRPr lang="en-US" sz="1100" dirty="0"/>
          </a:p>
        </p:txBody>
      </p:sp>
      <p:sp>
        <p:nvSpPr>
          <p:cNvPr id="20" name="a-ph-4"/>
          <p:cNvSpPr txBox="1"/>
          <p:nvPr/>
        </p:nvSpPr>
        <p:spPr>
          <a:xfrm>
            <a:off x="854964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提交 MR</a:t>
            </a:r>
            <a:endParaRPr lang="en-US" sz="1300" dirty="0"/>
          </a:p>
        </p:txBody>
      </p:sp>
      <p:sp>
        <p:nvSpPr>
          <p:cNvPr id="21" name="a-pb-4"/>
          <p:cNvSpPr txBox="1"/>
          <p:nvPr/>
        </p:nvSpPr>
        <p:spPr>
          <a:xfrm>
            <a:off x="854964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所有 MR 的流水线通过后结束</a:t>
            </a:r>
            <a:endParaRPr lang="en-US" sz="1100" dirty="0"/>
          </a:p>
        </p:txBody>
      </p:sp>
      <p:sp>
        <p:nvSpPr>
          <p:cNvPr id="22" name="gate-1-bg"/>
          <p:cNvSpPr/>
          <p:nvPr/>
        </p:nvSpPr>
        <p:spPr>
          <a:xfrm>
            <a:off x="5600700" y="1600200"/>
            <a:ext cx="15544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gate-1"/>
          <p:cNvSpPr txBox="1"/>
          <p:nvPr/>
        </p:nvSpPr>
        <p:spPr>
          <a:xfrm>
            <a:off x="5600700" y="1600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人工确认分析报告</a:t>
            </a:r>
            <a:endParaRPr lang="en-US" sz="1050" dirty="0"/>
          </a:p>
        </p:txBody>
      </p:sp>
      <p:sp>
        <p:nvSpPr>
          <p:cNvPr id="24" name="gate-2-bg"/>
          <p:cNvSpPr/>
          <p:nvPr/>
        </p:nvSpPr>
        <p:spPr>
          <a:xfrm>
            <a:off x="8641080" y="1600200"/>
            <a:ext cx="164592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gate-2"/>
          <p:cNvSpPr txBox="1"/>
          <p:nvPr/>
        </p:nvSpPr>
        <p:spPr>
          <a:xfrm>
            <a:off x="864108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平台核对流水线结果</a:t>
            </a:r>
            <a:endParaRPr lang="en-US" sz="1050" dirty="0"/>
          </a:p>
        </p:txBody>
      </p:sp>
      <p:sp>
        <p:nvSpPr>
          <p:cNvPr id="26" name="b-h"/>
          <p:cNvSpPr txBox="1"/>
          <p:nvPr/>
        </p:nvSpPr>
        <p:spPr>
          <a:xfrm>
            <a:off x="685800" y="3172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无问题单：三个阶段，用于自行定位</a:t>
            </a:r>
            <a:endParaRPr lang="en-US" sz="1400" dirty="0"/>
          </a:p>
        </p:txBody>
      </p:sp>
      <p:sp>
        <p:nvSpPr>
          <p:cNvPr id="27" name="b-line"/>
          <p:cNvSpPr/>
          <p:nvPr/>
        </p:nvSpPr>
        <p:spPr>
          <a:xfrm>
            <a:off x="1234440" y="3794760"/>
            <a:ext cx="45720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8" name="b-done"/>
          <p:cNvSpPr/>
          <p:nvPr/>
        </p:nvSpPr>
        <p:spPr>
          <a:xfrm>
            <a:off x="1234440" y="3794760"/>
            <a:ext cx="4572000" cy="0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</a:ln>
        </p:spPr>
      </p:sp>
      <p:sp>
        <p:nvSpPr>
          <p:cNvPr id="29" name="b-n0"/>
          <p:cNvSpPr/>
          <p:nvPr/>
        </p:nvSpPr>
        <p:spPr>
          <a:xfrm>
            <a:off x="1133856" y="3694176"/>
            <a:ext cx="201168" cy="201168"/>
          </a:xfrm>
          <a:prstGeom prst="ellipse">
            <a:avLst/>
          </a:prstGeom>
          <a:solidFill>
            <a:srgbClr val="595959"/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30" name="b-n1"/>
          <p:cNvSpPr/>
          <p:nvPr/>
        </p:nvSpPr>
        <p:spPr>
          <a:xfrm>
            <a:off x="3419856" y="3694176"/>
            <a:ext cx="201168" cy="201168"/>
          </a:xfrm>
          <a:prstGeom prst="ellipse">
            <a:avLst/>
          </a:prstGeom>
          <a:solidFill>
            <a:srgbClr val="595959"/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31" name="b-n2"/>
          <p:cNvSpPr/>
          <p:nvPr/>
        </p:nvSpPr>
        <p:spPr>
          <a:xfrm>
            <a:off x="5705856" y="3694176"/>
            <a:ext cx="201168" cy="201168"/>
          </a:xfrm>
          <a:prstGeom prst="ellipse">
            <a:avLst/>
          </a:prstGeom>
          <a:solidFill>
            <a:srgbClr val="595959"/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32" name="b-ph-0"/>
          <p:cNvSpPr txBox="1"/>
          <p:nvPr/>
        </p:nvSpPr>
        <p:spPr>
          <a:xfrm>
            <a:off x="32004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拉取代码</a:t>
            </a:r>
            <a:endParaRPr lang="en-US" sz="1300" dirty="0"/>
          </a:p>
        </p:txBody>
      </p:sp>
      <p:sp>
        <p:nvSpPr>
          <p:cNvPr id="33" name="b-pb-0"/>
          <p:cNvSpPr txBox="1"/>
          <p:nvPr/>
        </p:nvSpPr>
        <p:spPr>
          <a:xfrm>
            <a:off x="320040" y="4288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不创建分支</a:t>
            </a:r>
            <a:endParaRPr lang="en-US" sz="1100" dirty="0"/>
          </a:p>
        </p:txBody>
      </p:sp>
      <p:sp>
        <p:nvSpPr>
          <p:cNvPr id="34" name="b-ph-1"/>
          <p:cNvSpPr txBox="1"/>
          <p:nvPr/>
        </p:nvSpPr>
        <p:spPr>
          <a:xfrm>
            <a:off x="260604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问题分析</a:t>
            </a:r>
            <a:endParaRPr lang="en-US" sz="1300" dirty="0"/>
          </a:p>
        </p:txBody>
      </p:sp>
      <p:sp>
        <p:nvSpPr>
          <p:cNvPr id="35" name="b-pb-1"/>
          <p:cNvSpPr txBox="1"/>
          <p:nvPr/>
        </p:nvSpPr>
        <p:spPr>
          <a:xfrm>
            <a:off x="2606040" y="4288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同样需要人工确认</a:t>
            </a:r>
            <a:endParaRPr lang="en-US" sz="1100" dirty="0"/>
          </a:p>
        </p:txBody>
      </p:sp>
      <p:sp>
        <p:nvSpPr>
          <p:cNvPr id="36" name="b-ph-2"/>
          <p:cNvSpPr txBox="1"/>
          <p:nvPr/>
        </p:nvSpPr>
        <p:spPr>
          <a:xfrm>
            <a:off x="489204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得出结论</a:t>
            </a:r>
            <a:endParaRPr lang="en-US" sz="1300" dirty="0"/>
          </a:p>
        </p:txBody>
      </p:sp>
      <p:sp>
        <p:nvSpPr>
          <p:cNvPr id="37" name="b-pb-2"/>
          <p:cNvSpPr txBox="1"/>
          <p:nvPr/>
        </p:nvSpPr>
        <p:spPr>
          <a:xfrm>
            <a:off x="4892040" y="4288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是问题则等待提单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不是问题则直接结束</a:t>
            </a:r>
            <a:endParaRPr lang="en-US" sz="1100" dirty="0"/>
          </a:p>
        </p:txBody>
      </p:sp>
      <p:sp>
        <p:nvSpPr>
          <p:cNvPr id="38" name="gates-bg"/>
          <p:cNvSpPr/>
          <p:nvPr/>
        </p:nvSpPr>
        <p:spPr>
          <a:xfrm>
            <a:off x="6583680" y="3154680"/>
            <a:ext cx="4922215" cy="3063240"/>
          </a:xfrm>
          <a:prstGeom prst="roundRect">
            <a:avLst>
              <a:gd name="adj" fmla="val 179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9" name="gates-h"/>
          <p:cNvSpPr txBox="1"/>
          <p:nvPr/>
        </p:nvSpPr>
        <p:spPr>
          <a:xfrm>
            <a:off x="6858000" y="3337560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平台的两道检查</a:t>
            </a:r>
            <a:endParaRPr lang="en-US" sz="1400" dirty="0"/>
          </a:p>
        </p:txBody>
      </p:sp>
      <p:sp>
        <p:nvSpPr>
          <p:cNvPr id="40" name="g-k-0"/>
          <p:cNvSpPr txBox="1"/>
          <p:nvPr/>
        </p:nvSpPr>
        <p:spPr>
          <a:xfrm>
            <a:off x="685800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检查 1</a:t>
            </a:r>
            <a:endParaRPr lang="en-US" sz="1200" dirty="0"/>
          </a:p>
        </p:txBody>
      </p:sp>
      <p:sp>
        <p:nvSpPr>
          <p:cNvPr id="41" name="g-h-0"/>
          <p:cNvSpPr txBox="1"/>
          <p:nvPr/>
        </p:nvSpPr>
        <p:spPr>
          <a:xfrm>
            <a:off x="7452360" y="376732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分析报告确认</a:t>
            </a:r>
            <a:endParaRPr lang="en-US" sz="1250" dirty="0"/>
          </a:p>
        </p:txBody>
      </p:sp>
      <p:sp>
        <p:nvSpPr>
          <p:cNvPr id="42" name="g-b-0"/>
          <p:cNvSpPr txBox="1"/>
          <p:nvPr/>
        </p:nvSpPr>
        <p:spPr>
          <a:xfrm>
            <a:off x="7452360" y="4023360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提交根因分析报告，人确认后才能开始修改代码</a:t>
            </a:r>
            <a:endParaRPr lang="en-US" sz="1100" dirty="0"/>
          </a:p>
        </p:txBody>
      </p:sp>
      <p:sp>
        <p:nvSpPr>
          <p:cNvPr id="43" name="g-k-1"/>
          <p:cNvSpPr txBox="1"/>
          <p:nvPr/>
        </p:nvSpPr>
        <p:spPr>
          <a:xfrm>
            <a:off x="6858000" y="45537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检查 2</a:t>
            </a:r>
            <a:endParaRPr lang="en-US" sz="1200" dirty="0"/>
          </a:p>
        </p:txBody>
      </p:sp>
      <p:sp>
        <p:nvSpPr>
          <p:cNvPr id="44" name="g-h-1"/>
          <p:cNvSpPr txBox="1"/>
          <p:nvPr/>
        </p:nvSpPr>
        <p:spPr>
          <a:xfrm>
            <a:off x="7452360" y="4553712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流水线结果核对</a:t>
            </a:r>
            <a:endParaRPr lang="en-US" sz="1250" dirty="0"/>
          </a:p>
        </p:txBody>
      </p:sp>
      <p:sp>
        <p:nvSpPr>
          <p:cNvPr id="45" name="g-b-1"/>
          <p:cNvSpPr txBox="1"/>
          <p:nvPr/>
        </p:nvSpPr>
        <p:spPr>
          <a:xfrm>
            <a:off x="7452360" y="4809744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提交的 MR 清单需与平台记录一致，且每个 MR 最新提交的流水线全部通过；有失败时退回并附失败项</a:t>
            </a:r>
            <a:endParaRPr lang="en-US" sz="1100" dirty="0"/>
          </a:p>
        </p:txBody>
      </p:sp>
      <p:sp>
        <p:nvSpPr>
          <p:cNvPr id="46" name="g-k-2"/>
          <p:cNvSpPr txBox="1"/>
          <p:nvPr/>
        </p:nvSpPr>
        <p:spPr>
          <a:xfrm>
            <a:off x="6858000" y="53400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其余</a:t>
            </a:r>
            <a:endParaRPr lang="en-US" sz="1200" dirty="0"/>
          </a:p>
        </p:txBody>
      </p:sp>
      <p:sp>
        <p:nvSpPr>
          <p:cNvPr id="47" name="g-h-2"/>
          <p:cNvSpPr txBox="1"/>
          <p:nvPr/>
        </p:nvSpPr>
        <p:spPr>
          <a:xfrm>
            <a:off x="7452360" y="5340096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由 AI 判断</a:t>
            </a:r>
            <a:endParaRPr lang="en-US" sz="1250" dirty="0"/>
          </a:p>
        </p:txBody>
      </p:sp>
      <p:sp>
        <p:nvSpPr>
          <p:cNvPr id="48" name="g-b-2"/>
          <p:cNvSpPr txBox="1"/>
          <p:nvPr/>
        </p:nvSpPr>
        <p:spPr>
          <a:xfrm>
            <a:off x="7452360" y="5596128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拉单、拉代码、修复是否完成由 AI 判断；每个阶段只开放对应的工具</a:t>
            </a:r>
            <a:endParaRPr lang="en-US" sz="1100" dirty="0"/>
          </a:p>
        </p:txBody>
      </p:sp>
      <p:sp>
        <p:nvSpPr>
          <p:cNvPr id="49" name="flow-note"/>
          <p:cNvSpPr/>
          <p:nvPr/>
        </p:nvSpPr>
        <p:spPr>
          <a:xfrm>
            <a:off x="685800" y="5120640"/>
            <a:ext cx="562356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flow-note-t"/>
          <p:cNvSpPr txBox="1"/>
          <p:nvPr/>
        </p:nvSpPr>
        <p:spPr>
          <a:xfrm>
            <a:off x="896112" y="523036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同一个会话完成全部阶段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阶段状态由平台记录。结束后如果用户继续提出问题，会回到提交 MR 阶段继续修改，可以进行多轮。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一线减负：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问题定位中的重复操作由 AI 完成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现场操作已封装成平台技能供 AI 调用；AI 无法解决的情况交给人处理</a:t>
            </a:r>
            <a:endParaRPr lang="en-US" sz="1300" dirty="0"/>
          </a:p>
        </p:txBody>
      </p:sp>
      <p:pic>
        <p:nvPicPr>
          <p:cNvPr id="4" name="diagram-fix" descr="流程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33" y="1298448"/>
            <a:ext cx="10785029" cy="3931920"/>
          </a:xfrm>
          <a:prstGeom prst="rect">
            <a:avLst/>
          </a:prstGeom>
        </p:spPr>
      </p:pic>
      <p:sp>
        <p:nvSpPr>
          <p:cNvPr id="5" name="k7-0"/>
          <p:cNvSpPr/>
          <p:nvPr/>
        </p:nvSpPr>
        <p:spPr>
          <a:xfrm>
            <a:off x="685800" y="5440680"/>
            <a:ext cx="3484778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k7-m-0"/>
          <p:cNvSpPr/>
          <p:nvPr/>
        </p:nvSpPr>
        <p:spPr>
          <a:xfrm>
            <a:off x="868680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k7-h-0"/>
          <p:cNvSpPr txBox="1"/>
          <p:nvPr/>
        </p:nvSpPr>
        <p:spPr>
          <a:xfrm>
            <a:off x="1051560" y="5550408"/>
            <a:ext cx="2981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现场操作封装成技能</a:t>
            </a:r>
            <a:endParaRPr lang="en-US" sz="1300" dirty="0"/>
          </a:p>
        </p:txBody>
      </p:sp>
      <p:sp>
        <p:nvSpPr>
          <p:cNvPr id="8" name="k7-b-0"/>
          <p:cNvSpPr txBox="1"/>
          <p:nvPr/>
        </p:nvSpPr>
        <p:spPr>
          <a:xfrm>
            <a:off x="1051560" y="5843016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拉日志、换库部署做成平台技能，AI 直接调用</a:t>
            </a:r>
            <a:endParaRPr lang="en-US" sz="1100" dirty="0"/>
          </a:p>
        </p:txBody>
      </p:sp>
      <p:sp>
        <p:nvSpPr>
          <p:cNvPr id="9" name="k7-1"/>
          <p:cNvSpPr/>
          <p:nvPr/>
        </p:nvSpPr>
        <p:spPr>
          <a:xfrm>
            <a:off x="4353458" y="5440680"/>
            <a:ext cx="3484778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7-m-1"/>
          <p:cNvSpPr/>
          <p:nvPr/>
        </p:nvSpPr>
        <p:spPr>
          <a:xfrm>
            <a:off x="4536338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k7-h-1"/>
          <p:cNvSpPr txBox="1"/>
          <p:nvPr/>
        </p:nvSpPr>
        <p:spPr>
          <a:xfrm>
            <a:off x="4719218" y="5550408"/>
            <a:ext cx="2981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提前准备编译环境</a:t>
            </a:r>
            <a:endParaRPr lang="en-US" sz="1300" dirty="0"/>
          </a:p>
        </p:txBody>
      </p:sp>
      <p:sp>
        <p:nvSpPr>
          <p:cNvPr id="12" name="k7-b-1"/>
          <p:cNvSpPr txBox="1"/>
          <p:nvPr/>
        </p:nvSpPr>
        <p:spPr>
          <a:xfrm>
            <a:off x="4719218" y="5843016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拉代码后在同一容器后台预编译，修复时直接复用</a:t>
            </a:r>
            <a:endParaRPr lang="en-US" sz="1100" dirty="0"/>
          </a:p>
        </p:txBody>
      </p:sp>
      <p:sp>
        <p:nvSpPr>
          <p:cNvPr id="13" name="k7-2"/>
          <p:cNvSpPr/>
          <p:nvPr/>
        </p:nvSpPr>
        <p:spPr>
          <a:xfrm>
            <a:off x="8021117" y="5440680"/>
            <a:ext cx="3484778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7-m-2"/>
          <p:cNvSpPr/>
          <p:nvPr/>
        </p:nvSpPr>
        <p:spPr>
          <a:xfrm>
            <a:off x="8203997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k7-h-2"/>
          <p:cNvSpPr txBox="1"/>
          <p:nvPr/>
        </p:nvSpPr>
        <p:spPr>
          <a:xfrm>
            <a:off x="8386877" y="5550408"/>
            <a:ext cx="2981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安全与稳定</a:t>
            </a:r>
            <a:endParaRPr lang="en-US" sz="1300" dirty="0"/>
          </a:p>
        </p:txBody>
      </p:sp>
      <p:sp>
        <p:nvSpPr>
          <p:cNvPr id="16" name="k7-b-2"/>
          <p:cNvSpPr txBox="1"/>
          <p:nvPr/>
        </p:nvSpPr>
        <p:spPr>
          <a:xfrm>
            <a:off x="8386877" y="5843016"/>
            <a:ext cx="2981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网管口令加密保存；命令超时只终止该命令，不销毁容器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分类治理：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团队知识分四类，组件知识贯通生产与使用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 不了解团队的业务规则和自研组件；领域知识只负责生产，基础组件知识同时管理生产和使用</a:t>
            </a:r>
            <a:endParaRPr lang="en-US" sz="1300" dirty="0"/>
          </a:p>
        </p:txBody>
      </p:sp>
      <p:pic>
        <p:nvPicPr>
          <p:cNvPr id="4" name="diagram-know" descr="流程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846" y="1298448"/>
            <a:ext cx="10204003" cy="3931920"/>
          </a:xfrm>
          <a:prstGeom prst="rect">
            <a:avLst/>
          </a:prstGeom>
        </p:spPr>
      </p:pic>
      <p:sp>
        <p:nvSpPr>
          <p:cNvPr id="5" name="k8-0"/>
          <p:cNvSpPr/>
          <p:nvPr/>
        </p:nvSpPr>
        <p:spPr>
          <a:xfrm>
            <a:off x="685800" y="5440680"/>
            <a:ext cx="2567864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k8-m-0"/>
          <p:cNvSpPr/>
          <p:nvPr/>
        </p:nvSpPr>
        <p:spPr>
          <a:xfrm>
            <a:off x="868680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k8-h-0"/>
          <p:cNvSpPr txBox="1"/>
          <p:nvPr/>
        </p:nvSpPr>
        <p:spPr>
          <a:xfrm>
            <a:off x="1051560" y="5550408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领域知识</a:t>
            </a:r>
            <a:endParaRPr lang="en-US" sz="1300" dirty="0"/>
          </a:p>
        </p:txBody>
      </p:sp>
      <p:sp>
        <p:nvSpPr>
          <p:cNvPr id="8" name="k8-b-0"/>
          <p:cNvSpPr txBox="1"/>
          <p:nvPr/>
        </p:nvSpPr>
        <p:spPr>
          <a:xfrm>
            <a:off x="1051560" y="5843016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业务规则和背景，归档到业务代码仓</a:t>
            </a:r>
            <a:endParaRPr lang="en-US" sz="1100" dirty="0"/>
          </a:p>
        </p:txBody>
      </p:sp>
      <p:sp>
        <p:nvSpPr>
          <p:cNvPr id="9" name="k8-1"/>
          <p:cNvSpPr/>
          <p:nvPr/>
        </p:nvSpPr>
        <p:spPr>
          <a:xfrm>
            <a:off x="3436544" y="5440680"/>
            <a:ext cx="2567864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8-m-1"/>
          <p:cNvSpPr/>
          <p:nvPr/>
        </p:nvSpPr>
        <p:spPr>
          <a:xfrm>
            <a:off x="3619424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k8-h-1"/>
          <p:cNvSpPr txBox="1"/>
          <p:nvPr/>
        </p:nvSpPr>
        <p:spPr>
          <a:xfrm>
            <a:off x="3802304" y="5550408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基础组件知识</a:t>
            </a:r>
            <a:endParaRPr lang="en-US" sz="1300" dirty="0"/>
          </a:p>
        </p:txBody>
      </p:sp>
      <p:sp>
        <p:nvSpPr>
          <p:cNvPr id="12" name="k8-b-1"/>
          <p:cNvSpPr txBox="1"/>
          <p:nvPr/>
        </p:nvSpPr>
        <p:spPr>
          <a:xfrm>
            <a:off x="3802304" y="5843016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自研组件用法，用于设计选型、改代码和 MR 检查</a:t>
            </a:r>
            <a:endParaRPr lang="en-US" sz="1100" dirty="0"/>
          </a:p>
        </p:txBody>
      </p:sp>
      <p:sp>
        <p:nvSpPr>
          <p:cNvPr id="13" name="k8-2"/>
          <p:cNvSpPr/>
          <p:nvPr/>
        </p:nvSpPr>
        <p:spPr>
          <a:xfrm>
            <a:off x="6187288" y="5440680"/>
            <a:ext cx="2567864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8-m-2"/>
          <p:cNvSpPr/>
          <p:nvPr/>
        </p:nvSpPr>
        <p:spPr>
          <a:xfrm>
            <a:off x="6370168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k8-h-2"/>
          <p:cNvSpPr txBox="1"/>
          <p:nvPr/>
        </p:nvSpPr>
        <p:spPr>
          <a:xfrm>
            <a:off x="6553048" y="5550408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Skill</a:t>
            </a:r>
            <a:endParaRPr lang="en-US" sz="1300" dirty="0"/>
          </a:p>
        </p:txBody>
      </p:sp>
      <p:sp>
        <p:nvSpPr>
          <p:cNvPr id="16" name="k8-b-2"/>
          <p:cNvSpPr txBox="1"/>
          <p:nvPr/>
        </p:nvSpPr>
        <p:spPr>
          <a:xfrm>
            <a:off x="6553048" y="5843016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可直接执行的操作步骤，审查后按模块提供</a:t>
            </a:r>
            <a:endParaRPr lang="en-US" sz="1100" dirty="0"/>
          </a:p>
        </p:txBody>
      </p:sp>
      <p:sp>
        <p:nvSpPr>
          <p:cNvPr id="17" name="k8-3"/>
          <p:cNvSpPr/>
          <p:nvPr/>
        </p:nvSpPr>
        <p:spPr>
          <a:xfrm>
            <a:off x="8938031" y="5440680"/>
            <a:ext cx="2567864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k8-m-3"/>
          <p:cNvSpPr/>
          <p:nvPr/>
        </p:nvSpPr>
        <p:spPr>
          <a:xfrm>
            <a:off x="9120911" y="562356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k8-h-3"/>
          <p:cNvSpPr txBox="1"/>
          <p:nvPr/>
        </p:nvSpPr>
        <p:spPr>
          <a:xfrm>
            <a:off x="9303791" y="5550408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团队经验</a:t>
            </a:r>
            <a:endParaRPr lang="en-US" sz="1300" dirty="0"/>
          </a:p>
        </p:txBody>
      </p:sp>
      <p:sp>
        <p:nvSpPr>
          <p:cNvPr id="20" name="k8-b-3"/>
          <p:cNvSpPr txBox="1"/>
          <p:nvPr/>
        </p:nvSpPr>
        <p:spPr>
          <a:xfrm>
            <a:off x="9303791" y="5843016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交付后自动整理，人工采纳后才使用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标准化生产：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三类知识统一经过研究、审查、发布、归档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所有知识任务集中在「知识任务」页面，需要人处理的任务排在前面，并标明下一步操作</a:t>
            </a:r>
            <a:endParaRPr lang="en-US" sz="1300" dirty="0"/>
          </a:p>
        </p:txBody>
      </p:sp>
      <p:sp>
        <p:nvSpPr>
          <p:cNvPr id="4" name="ks-ic-0-bg"/>
          <p:cNvSpPr/>
          <p:nvPr/>
        </p:nvSpPr>
        <p:spPr>
          <a:xfrm>
            <a:off x="685800" y="146304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ks-ic-0" descr="图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" y="1585935"/>
            <a:ext cx="266273" cy="266273"/>
          </a:xfrm>
          <a:prstGeom prst="rect">
            <a:avLst/>
          </a:prstGeom>
        </p:spPr>
      </p:pic>
      <p:sp>
        <p:nvSpPr>
          <p:cNvPr id="6" name="ks-link-0"/>
          <p:cNvSpPr/>
          <p:nvPr/>
        </p:nvSpPr>
        <p:spPr>
          <a:xfrm>
            <a:off x="941832" y="2029968"/>
            <a:ext cx="0" cy="56692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7" name="ks-h-0"/>
          <p:cNvSpPr txBox="1"/>
          <p:nvPr/>
        </p:nvSpPr>
        <p:spPr>
          <a:xfrm>
            <a:off x="141732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01  发起研究或导入</a:t>
            </a:r>
            <a:endParaRPr lang="en-US" sz="1400" dirty="0"/>
          </a:p>
        </p:txBody>
      </p:sp>
      <p:sp>
        <p:nvSpPr>
          <p:cNvPr id="8" name="ks-b-0"/>
          <p:cNvSpPr txBox="1"/>
          <p:nvPr/>
        </p:nvSpPr>
        <p:spPr>
          <a:xfrm>
            <a:off x="1417320" y="18105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选择业务模块或语言，上传资料，关联单号；创建后直接进入任务页面</a:t>
            </a:r>
            <a:endParaRPr lang="en-US" sz="1200" dirty="0"/>
          </a:p>
        </p:txBody>
      </p:sp>
      <p:sp>
        <p:nvSpPr>
          <p:cNvPr id="9" name="ks-ic-1-bg"/>
          <p:cNvSpPr/>
          <p:nvPr/>
        </p:nvSpPr>
        <p:spPr>
          <a:xfrm>
            <a:off x="685800" y="265176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ks-ic-1" descr="图标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" y="2774655"/>
            <a:ext cx="266273" cy="266273"/>
          </a:xfrm>
          <a:prstGeom prst="rect">
            <a:avLst/>
          </a:prstGeom>
        </p:spPr>
      </p:pic>
      <p:sp>
        <p:nvSpPr>
          <p:cNvPr id="11" name="ks-link-1"/>
          <p:cNvSpPr/>
          <p:nvPr/>
        </p:nvSpPr>
        <p:spPr>
          <a:xfrm>
            <a:off x="941832" y="3218688"/>
            <a:ext cx="0" cy="56692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2" name="ks-h-1"/>
          <p:cNvSpPr txBox="1"/>
          <p:nvPr/>
        </p:nvSpPr>
        <p:spPr>
          <a:xfrm>
            <a:off x="141732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02  审查</a:t>
            </a:r>
            <a:endParaRPr lang="en-US" sz="1400" dirty="0"/>
          </a:p>
        </p:txBody>
      </p:sp>
      <p:sp>
        <p:nvSpPr>
          <p:cNvPr id="13" name="ks-b-1"/>
          <p:cNvSpPr txBox="1"/>
          <p:nvPr/>
        </p:nvSpPr>
        <p:spPr>
          <a:xfrm>
            <a:off x="1417320" y="29992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逐篇阅读，可逐行提意见并交给 Agent 修订；研究进行中也可以提意见</a:t>
            </a:r>
            <a:endParaRPr lang="en-US" sz="1200" dirty="0"/>
          </a:p>
        </p:txBody>
      </p:sp>
      <p:sp>
        <p:nvSpPr>
          <p:cNvPr id="14" name="ks-ic-2-bg"/>
          <p:cNvSpPr/>
          <p:nvPr/>
        </p:nvSpPr>
        <p:spPr>
          <a:xfrm>
            <a:off x="685800" y="384048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ks-ic-2" descr="图标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" y="3963375"/>
            <a:ext cx="266273" cy="266273"/>
          </a:xfrm>
          <a:prstGeom prst="rect">
            <a:avLst/>
          </a:prstGeom>
        </p:spPr>
      </p:pic>
      <p:sp>
        <p:nvSpPr>
          <p:cNvPr id="16" name="ks-link-2"/>
          <p:cNvSpPr/>
          <p:nvPr/>
        </p:nvSpPr>
        <p:spPr>
          <a:xfrm>
            <a:off x="941832" y="4407408"/>
            <a:ext cx="0" cy="56692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7" name="ks-h-2"/>
          <p:cNvSpPr txBox="1"/>
          <p:nvPr/>
        </p:nvSpPr>
        <p:spPr>
          <a:xfrm>
            <a:off x="1417320" y="3858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03  发布</a:t>
            </a:r>
            <a:endParaRPr lang="en-US" sz="1400" dirty="0"/>
          </a:p>
        </p:txBody>
      </p:sp>
      <p:sp>
        <p:nvSpPr>
          <p:cNvPr id="18" name="ks-b-2"/>
          <p:cNvSpPr txBox="1"/>
          <p:nvPr/>
        </p:nvSpPr>
        <p:spPr>
          <a:xfrm>
            <a:off x="1417320" y="41879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选择要发布的文档，发布后即可在平台上阅读；每个版本都保留，可对比和恢复</a:t>
            </a:r>
            <a:endParaRPr lang="en-US" sz="1200" dirty="0"/>
          </a:p>
        </p:txBody>
      </p:sp>
      <p:sp>
        <p:nvSpPr>
          <p:cNvPr id="19" name="ks-ic-3-bg"/>
          <p:cNvSpPr/>
          <p:nvPr/>
        </p:nvSpPr>
        <p:spPr>
          <a:xfrm>
            <a:off x="685800" y="502920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ks-ic-3" descr="图标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" y="5152095"/>
            <a:ext cx="266273" cy="266273"/>
          </a:xfrm>
          <a:prstGeom prst="rect">
            <a:avLst/>
          </a:prstGeom>
        </p:spPr>
      </p:pic>
      <p:sp>
        <p:nvSpPr>
          <p:cNvPr id="21" name="ks-h-3"/>
          <p:cNvSpPr txBox="1"/>
          <p:nvPr/>
        </p:nvSpPr>
        <p:spPr>
          <a:xfrm>
            <a:off x="1417320" y="5047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04  归档</a:t>
            </a:r>
            <a:endParaRPr lang="en-US" sz="1400" dirty="0"/>
          </a:p>
        </p:txBody>
      </p:sp>
      <p:sp>
        <p:nvSpPr>
          <p:cNvPr id="22" name="ks-b-3"/>
          <p:cNvSpPr txBox="1"/>
          <p:nvPr/>
        </p:nvSpPr>
        <p:spPr>
          <a:xfrm>
            <a:off x="1417320" y="53766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填写单号后创建 MR 提交到代码仓；MR 创建后任务结束，是否合入由 CodeHub 审核</a:t>
            </a:r>
            <a:endParaRPr lang="en-US" sz="1200" dirty="0"/>
          </a:p>
        </p:txBody>
      </p:sp>
      <p:sp>
        <p:nvSpPr>
          <p:cNvPr id="23" name="kshot-frame"/>
          <p:cNvSpPr/>
          <p:nvPr/>
        </p:nvSpPr>
        <p:spPr>
          <a:xfrm>
            <a:off x="4956048" y="1344168"/>
            <a:ext cx="6577279" cy="37219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kshot" descr="知识任务中心界面截图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371600"/>
            <a:ext cx="6522415" cy="3667068"/>
          </a:xfrm>
          <a:prstGeom prst="rect">
            <a:avLst/>
          </a:prstGeom>
        </p:spPr>
      </p:pic>
      <p:sp>
        <p:nvSpPr>
          <p:cNvPr id="25" name="kshot-cap"/>
          <p:cNvSpPr txBox="1"/>
          <p:nvPr/>
        </p:nvSpPr>
        <p:spPr>
          <a:xfrm>
            <a:off x="4983480" y="5111820"/>
            <a:ext cx="6522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知识任务中心的状态由后端统一计算，每行右侧为下一步操作</a:t>
            </a:r>
            <a:endParaRPr lang="en-US" sz="1000" dirty="0"/>
          </a:p>
        </p:txBody>
      </p:sp>
      <p:sp>
        <p:nvSpPr>
          <p:cNvPr id="26" name="duty-0"/>
          <p:cNvSpPr/>
          <p:nvPr/>
        </p:nvSpPr>
        <p:spPr>
          <a:xfrm>
            <a:off x="4983480" y="5495868"/>
            <a:ext cx="3169768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duty-k-0"/>
          <p:cNvSpPr txBox="1"/>
          <p:nvPr/>
        </p:nvSpPr>
        <p:spPr>
          <a:xfrm>
            <a:off x="5212080" y="5605596"/>
            <a:ext cx="2712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AI 负责</a:t>
            </a:r>
            <a:endParaRPr lang="en-US" sz="1300" dirty="0"/>
          </a:p>
        </p:txBody>
      </p:sp>
      <p:sp>
        <p:nvSpPr>
          <p:cNvPr id="28" name="duty-v-0"/>
          <p:cNvSpPr txBox="1"/>
          <p:nvPr/>
        </p:nvSpPr>
        <p:spPr>
          <a:xfrm>
            <a:off x="5212080" y="5898204"/>
            <a:ext cx="2712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研究资料和源码，起草并按意见修订</a:t>
            </a:r>
            <a:endParaRPr lang="en-US" sz="1150" dirty="0"/>
          </a:p>
        </p:txBody>
      </p:sp>
      <p:sp>
        <p:nvSpPr>
          <p:cNvPr id="29" name="duty-1"/>
          <p:cNvSpPr/>
          <p:nvPr/>
        </p:nvSpPr>
        <p:spPr>
          <a:xfrm>
            <a:off x="8336128" y="5495868"/>
            <a:ext cx="3169768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0" name="duty-k-1"/>
          <p:cNvSpPr txBox="1"/>
          <p:nvPr/>
        </p:nvSpPr>
        <p:spPr>
          <a:xfrm>
            <a:off x="8564728" y="5605596"/>
            <a:ext cx="2712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人负责</a:t>
            </a:r>
            <a:endParaRPr lang="en-US" sz="1300" dirty="0"/>
          </a:p>
        </p:txBody>
      </p:sp>
      <p:sp>
        <p:nvSpPr>
          <p:cNvPr id="31" name="duty-v-1"/>
          <p:cNvSpPr txBox="1"/>
          <p:nvPr/>
        </p:nvSpPr>
        <p:spPr>
          <a:xfrm>
            <a:off x="8564728" y="5898204"/>
            <a:ext cx="2712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逐篇审查，选定发布内容，填单号归档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可信执行：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四项规则确保 AI 结果可核实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这些规则写在平台的开发规范中，由自动化测试覆盖；每次推送前运行类型检查、构建和测试</a:t>
            </a:r>
            <a:endParaRPr lang="en-US" sz="1300" dirty="0"/>
          </a:p>
        </p:txBody>
      </p:sp>
      <p:pic>
        <p:nvPicPr>
          <p:cNvPr id="4" name="diagram-trust" descr="流程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734" y="1298448"/>
            <a:ext cx="10324228" cy="3794760"/>
          </a:xfrm>
          <a:prstGeom prst="rect">
            <a:avLst/>
          </a:prstGeom>
        </p:spPr>
      </p:pic>
      <p:sp>
        <p:nvSpPr>
          <p:cNvPr id="5" name="stats-bg"/>
          <p:cNvSpPr/>
          <p:nvPr/>
        </p:nvSpPr>
        <p:spPr>
          <a:xfrm>
            <a:off x="685800" y="525780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 w="12700">
            <a:prstDash val="solid"/>
            <a:solidFill>
              <a:srgbClr val="F4F4F5"/>
            </a:solidFill>
          </a:ln>
        </p:spPr>
      </p:sp>
      <p:sp>
        <p:nvSpPr>
          <p:cNvPr id="6" name="st-n-0"/>
          <p:cNvSpPr txBox="1"/>
          <p:nvPr/>
        </p:nvSpPr>
        <p:spPr>
          <a:xfrm>
            <a:off x="777240" y="534924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000B"/>
                </a:solidFill>
              </a:rPr>
              <a:t>3000+</a:t>
            </a:r>
            <a:endParaRPr lang="en-US" sz="2600" dirty="0"/>
          </a:p>
        </p:txBody>
      </p:sp>
      <p:sp>
        <p:nvSpPr>
          <p:cNvPr id="7" name="st-l-0"/>
          <p:cNvSpPr txBox="1"/>
          <p:nvPr/>
        </p:nvSpPr>
        <p:spPr>
          <a:xfrm>
            <a:off x="777240" y="5824728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自动化测试</a:t>
            </a:r>
            <a:endParaRPr lang="en-US" sz="1200" dirty="0">
              <a:solidFill>
                <a:srgbClr val="595959"/>
              </a:solidFill>
            </a:endParaRPr>
          </a:p>
        </p:txBody>
      </p:sp>
      <p:sp>
        <p:nvSpPr>
          <p:cNvPr id="8" name="st-n-1"/>
          <p:cNvSpPr txBox="1"/>
          <p:nvPr/>
        </p:nvSpPr>
        <p:spPr>
          <a:xfrm>
            <a:off x="3482264" y="534924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真实容器和 Git</a:t>
            </a:r>
            <a:endParaRPr lang="en-US" sz="1800" dirty="0">
              <a:solidFill>
                <a:srgbClr val="1F1F1F"/>
              </a:solidFill>
            </a:endParaRPr>
          </a:p>
        </p:txBody>
      </p:sp>
      <p:sp>
        <p:nvSpPr>
          <p:cNvPr id="9" name="st-l-1"/>
          <p:cNvSpPr txBox="1"/>
          <p:nvPr/>
        </p:nvSpPr>
        <p:spPr>
          <a:xfrm>
            <a:off x="3482264" y="5824728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强制终止进程后的重启演练</a:t>
            </a:r>
            <a:endParaRPr lang="en-US" sz="1200" dirty="0">
              <a:solidFill>
                <a:srgbClr val="595959"/>
              </a:solidFill>
            </a:endParaRPr>
          </a:p>
        </p:txBody>
      </p:sp>
      <p:sp>
        <p:nvSpPr>
          <p:cNvPr id="10" name="st-sep-1"/>
          <p:cNvSpPr/>
          <p:nvPr/>
        </p:nvSpPr>
        <p:spPr>
          <a:xfrm>
            <a:off x="3390824" y="5440680"/>
            <a:ext cx="0" cy="594360"/>
          </a:xfrm>
          <a:prstGeom prst="line">
            <a:avLst/>
          </a:prstGeom>
          <a:noFill/>
          <a:ln w="9525">
            <a:prstDash val="solid"/>
            <a:solidFill>
              <a:srgbClr val="DCDCDE"/>
            </a:solidFill>
          </a:ln>
        </p:spPr>
      </p:sp>
      <p:sp>
        <p:nvSpPr>
          <p:cNvPr id="11" name="st-n-2"/>
          <p:cNvSpPr txBox="1"/>
          <p:nvPr/>
        </p:nvSpPr>
        <p:spPr>
          <a:xfrm>
            <a:off x="6187288" y="534924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五种屏幕宽度</a:t>
            </a:r>
            <a:endParaRPr lang="en-US" sz="1800" dirty="0">
              <a:solidFill>
                <a:srgbClr val="1F1F1F"/>
              </a:solidFill>
            </a:endParaRPr>
          </a:p>
        </p:txBody>
      </p:sp>
      <p:sp>
        <p:nvSpPr>
          <p:cNvPr id="12" name="st-l-2"/>
          <p:cNvSpPr txBox="1"/>
          <p:nvPr/>
        </p:nvSpPr>
        <p:spPr>
          <a:xfrm>
            <a:off x="6187288" y="5824728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界面截图逐像素对比</a:t>
            </a:r>
            <a:endParaRPr lang="en-US" sz="1200" dirty="0">
              <a:solidFill>
                <a:srgbClr val="595959"/>
              </a:solidFill>
            </a:endParaRPr>
          </a:p>
        </p:txBody>
      </p:sp>
      <p:sp>
        <p:nvSpPr>
          <p:cNvPr id="13" name="st-sep-2"/>
          <p:cNvSpPr/>
          <p:nvPr/>
        </p:nvSpPr>
        <p:spPr>
          <a:xfrm>
            <a:off x="6095848" y="5440680"/>
            <a:ext cx="0" cy="594360"/>
          </a:xfrm>
          <a:prstGeom prst="line">
            <a:avLst/>
          </a:prstGeom>
          <a:noFill/>
          <a:ln w="9525">
            <a:prstDash val="solid"/>
            <a:solidFill>
              <a:srgbClr val="DCDCDE"/>
            </a:solidFill>
          </a:ln>
        </p:spPr>
      </p:sp>
      <p:sp>
        <p:nvSpPr>
          <p:cNvPr id="14" name="st-n-3"/>
          <p:cNvSpPr txBox="1"/>
          <p:nvPr/>
        </p:nvSpPr>
        <p:spPr>
          <a:xfrm>
            <a:off x="8892311" y="534924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推送前检查</a:t>
            </a:r>
            <a:endParaRPr lang="en-US" sz="1800" dirty="0">
              <a:solidFill>
                <a:srgbClr val="1F1F1F"/>
              </a:solidFill>
            </a:endParaRPr>
          </a:p>
        </p:txBody>
      </p:sp>
      <p:sp>
        <p:nvSpPr>
          <p:cNvPr id="15" name="st-l-3"/>
          <p:cNvSpPr txBox="1"/>
          <p:nvPr/>
        </p:nvSpPr>
        <p:spPr>
          <a:xfrm>
            <a:off x="8892311" y="5824728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类型检查、构建和测试</a:t>
            </a:r>
            <a:endParaRPr lang="en-US" sz="1200" dirty="0">
              <a:solidFill>
                <a:srgbClr val="595959"/>
              </a:solidFill>
            </a:endParaRPr>
          </a:p>
        </p:txBody>
      </p:sp>
      <p:sp>
        <p:nvSpPr>
          <p:cNvPr id="16" name="st-sep-3"/>
          <p:cNvSpPr/>
          <p:nvPr/>
        </p:nvSpPr>
        <p:spPr>
          <a:xfrm>
            <a:off x="8800871" y="5440680"/>
            <a:ext cx="0" cy="594360"/>
          </a:xfrm>
          <a:prstGeom prst="line">
            <a:avLst/>
          </a:prstGeom>
          <a:noFill/>
          <a:ln w="9525">
            <a:prstDash val="solid"/>
            <a:solidFill>
              <a:srgbClr val="DCDCDE"/>
            </a:solidFill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规模化落地：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平台使用规模与推广情况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85800" y="76809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示例内容，提交前替换。统计周期：2026.06 至 2026.09</a:t>
            </a:r>
            <a:endParaRPr lang="en-US" sz="1300" dirty="0"/>
          </a:p>
        </p:txBody>
      </p:sp>
      <p:sp>
        <p:nvSpPr>
          <p:cNvPr id="4" name="u-h"/>
          <p:cNvSpPr txBox="1"/>
          <p:nvPr/>
        </p:nvSpPr>
        <p:spPr>
          <a:xfrm>
            <a:off x="68580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使用规模</a:t>
            </a:r>
            <a:endParaRPr lang="en-US" sz="1500" dirty="0"/>
          </a:p>
        </p:txBody>
      </p:sp>
      <p:sp>
        <p:nvSpPr>
          <p:cNvPr id="5" name="u-0"/>
          <p:cNvSpPr/>
          <p:nvPr/>
        </p:nvSpPr>
        <p:spPr>
          <a:xfrm>
            <a:off x="685800" y="1783080"/>
            <a:ext cx="2567864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6" name="u-n-0"/>
          <p:cNvSpPr txBox="1"/>
          <p:nvPr/>
        </p:nvSpPr>
        <p:spPr>
          <a:xfrm>
            <a:off x="685800" y="192024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128</a:t>
            </a:r>
            <a:endParaRPr lang="en-US" sz="2800" dirty="0"/>
          </a:p>
        </p:txBody>
      </p:sp>
      <p:sp>
        <p:nvSpPr>
          <p:cNvPr id="7" name="u-l-0"/>
          <p:cNvSpPr txBox="1"/>
          <p:nvPr/>
        </p:nvSpPr>
        <p:spPr>
          <a:xfrm>
            <a:off x="685800" y="2606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需求单（个）</a:t>
            </a:r>
            <a:endParaRPr lang="en-US" sz="1200" dirty="0"/>
          </a:p>
        </p:txBody>
      </p:sp>
      <p:sp>
        <p:nvSpPr>
          <p:cNvPr id="8" name="u-1"/>
          <p:cNvSpPr/>
          <p:nvPr/>
        </p:nvSpPr>
        <p:spPr>
          <a:xfrm>
            <a:off x="3436544" y="1783080"/>
            <a:ext cx="2567864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9" name="u-n-1"/>
          <p:cNvSpPr txBox="1"/>
          <p:nvPr/>
        </p:nvSpPr>
        <p:spPr>
          <a:xfrm>
            <a:off x="3436544" y="192024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236</a:t>
            </a:r>
            <a:endParaRPr lang="en-US" sz="2800" dirty="0"/>
          </a:p>
        </p:txBody>
      </p:sp>
      <p:sp>
        <p:nvSpPr>
          <p:cNvPr id="10" name="u-l-1"/>
          <p:cNvSpPr txBox="1"/>
          <p:nvPr/>
        </p:nvSpPr>
        <p:spPr>
          <a:xfrm>
            <a:off x="3436544" y="2606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问题单（个）</a:t>
            </a:r>
            <a:endParaRPr lang="en-US" sz="1200" dirty="0"/>
          </a:p>
        </p:txBody>
      </p:sp>
      <p:sp>
        <p:nvSpPr>
          <p:cNvPr id="11" name="u-2"/>
          <p:cNvSpPr/>
          <p:nvPr/>
        </p:nvSpPr>
        <p:spPr>
          <a:xfrm>
            <a:off x="6187288" y="1783080"/>
            <a:ext cx="2567864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u-n-2"/>
          <p:cNvSpPr txBox="1"/>
          <p:nvPr/>
        </p:nvSpPr>
        <p:spPr>
          <a:xfrm>
            <a:off x="6187288" y="192024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312</a:t>
            </a:r>
            <a:endParaRPr lang="en-US" sz="2800" dirty="0"/>
          </a:p>
        </p:txBody>
      </p:sp>
      <p:sp>
        <p:nvSpPr>
          <p:cNvPr id="13" name="u-l-2"/>
          <p:cNvSpPr txBox="1"/>
          <p:nvPr/>
        </p:nvSpPr>
        <p:spPr>
          <a:xfrm>
            <a:off x="6187288" y="2606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合入 MR（个）</a:t>
            </a:r>
            <a:endParaRPr lang="en-US" sz="1200" dirty="0"/>
          </a:p>
        </p:txBody>
      </p:sp>
      <p:sp>
        <p:nvSpPr>
          <p:cNvPr id="14" name="u-3"/>
          <p:cNvSpPr/>
          <p:nvPr/>
        </p:nvSpPr>
        <p:spPr>
          <a:xfrm>
            <a:off x="8938031" y="1783080"/>
            <a:ext cx="2567864" cy="132588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5" name="u-n-3"/>
          <p:cNvSpPr txBox="1"/>
          <p:nvPr/>
        </p:nvSpPr>
        <p:spPr>
          <a:xfrm>
            <a:off x="8938031" y="192024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 / 96</a:t>
            </a:r>
            <a:endParaRPr lang="en-US" sz="2800" dirty="0"/>
          </a:p>
        </p:txBody>
      </p:sp>
      <p:sp>
        <p:nvSpPr>
          <p:cNvPr id="16" name="u-l-3"/>
          <p:cNvSpPr txBox="1"/>
          <p:nvPr/>
        </p:nvSpPr>
        <p:spPr>
          <a:xfrm>
            <a:off x="8938031" y="2606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使用团队 / 人数</a:t>
            </a:r>
            <a:endParaRPr lang="en-US" sz="1200" dirty="0"/>
          </a:p>
        </p:txBody>
      </p:sp>
      <p:sp>
        <p:nvSpPr>
          <p:cNvPr id="17" name="share-h"/>
          <p:cNvSpPr txBox="1"/>
          <p:nvPr/>
        </p:nvSpPr>
        <p:spPr>
          <a:xfrm>
            <a:off x="68580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分享推广</a:t>
            </a:r>
            <a:endParaRPr lang="en-US" sz="1500" dirty="0"/>
          </a:p>
        </p:txBody>
      </p:sp>
      <p:sp>
        <p:nvSpPr>
          <p:cNvPr id="18" name="sh-0"/>
          <p:cNvSpPr txBox="1"/>
          <p:nvPr/>
        </p:nvSpPr>
        <p:spPr>
          <a:xfrm>
            <a:off x="685800" y="3794760"/>
            <a:ext cx="1005840" cy="365760"/>
          </a:xfrm>
          <a:prstGeom prst="rect">
            <a:avLst/>
          </a:prstGeom>
          <a:solidFill>
            <a:srgbClr val="E3E3E5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时间</a:t>
            </a:r>
            <a:endParaRPr lang="en-US" sz="1150" dirty="0"/>
          </a:p>
        </p:txBody>
      </p:sp>
      <p:sp>
        <p:nvSpPr>
          <p:cNvPr id="19" name="sh-1"/>
          <p:cNvSpPr txBox="1"/>
          <p:nvPr/>
        </p:nvSpPr>
        <p:spPr>
          <a:xfrm>
            <a:off x="1691640" y="3794760"/>
            <a:ext cx="3017520" cy="365760"/>
          </a:xfrm>
          <a:prstGeom prst="rect">
            <a:avLst/>
          </a:prstGeom>
          <a:solidFill>
            <a:srgbClr val="E3E3E5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范围（公司 / 研究所 / 产品线）</a:t>
            </a:r>
            <a:endParaRPr lang="en-US" sz="1150" dirty="0"/>
          </a:p>
        </p:txBody>
      </p:sp>
      <p:sp>
        <p:nvSpPr>
          <p:cNvPr id="20" name="sh-2"/>
          <p:cNvSpPr txBox="1"/>
          <p:nvPr/>
        </p:nvSpPr>
        <p:spPr>
          <a:xfrm>
            <a:off x="4709160" y="3794760"/>
            <a:ext cx="1005840" cy="365760"/>
          </a:xfrm>
          <a:prstGeom prst="rect">
            <a:avLst/>
          </a:prstGeom>
          <a:solidFill>
            <a:srgbClr val="E3E3E5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听众规模</a:t>
            </a:r>
            <a:endParaRPr lang="en-US" sz="1150" dirty="0"/>
          </a:p>
        </p:txBody>
      </p:sp>
      <p:sp>
        <p:nvSpPr>
          <p:cNvPr id="21" name="sh-3"/>
          <p:cNvSpPr txBox="1"/>
          <p:nvPr/>
        </p:nvSpPr>
        <p:spPr>
          <a:xfrm>
            <a:off x="5715000" y="3794760"/>
            <a:ext cx="1920240" cy="365760"/>
          </a:xfrm>
          <a:prstGeom prst="rect">
            <a:avLst/>
          </a:prstGeom>
          <a:solidFill>
            <a:srgbClr val="E3E3E5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主题</a:t>
            </a:r>
            <a:endParaRPr lang="en-US" sz="1150" dirty="0"/>
          </a:p>
        </p:txBody>
      </p:sp>
      <p:sp>
        <p:nvSpPr>
          <p:cNvPr id="22" name="sr-0"/>
          <p:cNvSpPr/>
          <p:nvPr/>
        </p:nvSpPr>
        <p:spPr>
          <a:xfrm>
            <a:off x="685800" y="4224528"/>
            <a:ext cx="69494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23" name="sr-t-0"/>
          <p:cNvSpPr txBox="1"/>
          <p:nvPr/>
        </p:nvSpPr>
        <p:spPr>
          <a:xfrm>
            <a:off x="868680" y="4224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2026.06</a:t>
            </a:r>
            <a:endParaRPr lang="en-US" sz="1200" dirty="0"/>
          </a:p>
        </p:txBody>
      </p:sp>
      <p:sp>
        <p:nvSpPr>
          <p:cNvPr id="24" name="sr-1"/>
          <p:cNvSpPr/>
          <p:nvPr/>
        </p:nvSpPr>
        <p:spPr>
          <a:xfrm>
            <a:off x="685800" y="4882896"/>
            <a:ext cx="69494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25" name="sr-t-1"/>
          <p:cNvSpPr txBox="1"/>
          <p:nvPr/>
        </p:nvSpPr>
        <p:spPr>
          <a:xfrm>
            <a:off x="868680" y="48828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2026.07</a:t>
            </a:r>
            <a:endParaRPr lang="en-US" sz="1200" dirty="0"/>
          </a:p>
        </p:txBody>
      </p:sp>
      <p:sp>
        <p:nvSpPr>
          <p:cNvPr id="26" name="sr-2"/>
          <p:cNvSpPr/>
          <p:nvPr/>
        </p:nvSpPr>
        <p:spPr>
          <a:xfrm>
            <a:off x="685800" y="5541264"/>
            <a:ext cx="69494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27" name="sr-t-2"/>
          <p:cNvSpPr txBox="1"/>
          <p:nvPr/>
        </p:nvSpPr>
        <p:spPr>
          <a:xfrm>
            <a:off x="868680" y="55412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2026.08</a:t>
            </a:r>
            <a:endParaRPr lang="en-US" sz="1200" dirty="0"/>
          </a:p>
        </p:txBody>
      </p:sp>
      <p:sp>
        <p:nvSpPr>
          <p:cNvPr id="28" name="fb-h"/>
          <p:cNvSpPr txBox="1"/>
          <p:nvPr/>
        </p:nvSpPr>
        <p:spPr>
          <a:xfrm>
            <a:off x="7955280" y="3383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用户反馈（示例）</a:t>
            </a:r>
            <a:endParaRPr lang="en-US" sz="1500" dirty="0"/>
          </a:p>
        </p:txBody>
      </p:sp>
      <p:sp>
        <p:nvSpPr>
          <p:cNvPr id="29" name="fb"/>
          <p:cNvSpPr/>
          <p:nvPr/>
        </p:nvSpPr>
        <p:spPr>
          <a:xfrm>
            <a:off x="7955280" y="3794760"/>
            <a:ext cx="3550615" cy="2404872"/>
          </a:xfrm>
          <a:prstGeom prst="roundRect">
            <a:avLst>
              <a:gd name="adj" fmla="val 228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30" name="fb-q" descr="图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977640"/>
            <a:ext cx="365760" cy="365760"/>
          </a:xfrm>
          <a:prstGeom prst="rect">
            <a:avLst/>
          </a:prstGeom>
        </p:spPr>
      </p:pic>
      <p:sp>
        <p:nvSpPr>
          <p:cNvPr id="31" name="fb-t"/>
          <p:cNvSpPr txBox="1"/>
          <p:nvPr/>
        </p:nvSpPr>
        <p:spPr>
          <a:xfrm>
            <a:off x="8183880" y="4480560"/>
            <a:ext cx="3093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</a:rPr>
              <a:t>平台把需求处理、问题修复和代码检视集中在一个入口，任务进展与修改记录更容易查找，也减少了反复切换和人工跟进。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32" name="prefill-share-r0-c1"/>
          <p:cNvSpPr txBox="1"/>
          <p:nvPr/>
        </p:nvSpPr>
        <p:spPr>
          <a:xfrm>
            <a:off x="1874520" y="4224528"/>
            <a:ext cx="266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研发团队内部</a:t>
            </a:r>
            <a:endParaRPr lang="en-US" sz="1200" dirty="0"/>
          </a:p>
        </p:txBody>
      </p:sp>
      <p:sp>
        <p:nvSpPr>
          <p:cNvPr id="33" name="prefill-share-r0-c2"/>
          <p:cNvSpPr txBox="1"/>
          <p:nvPr/>
        </p:nvSpPr>
        <p:spPr>
          <a:xfrm>
            <a:off x="4892040" y="422452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30 人</a:t>
            </a:r>
            <a:endParaRPr lang="en-US" sz="1200" dirty="0"/>
          </a:p>
        </p:txBody>
      </p:sp>
      <p:sp>
        <p:nvSpPr>
          <p:cNvPr id="34" name="prefill-share-r0-c3"/>
          <p:cNvSpPr txBox="1"/>
          <p:nvPr/>
        </p:nvSpPr>
        <p:spPr>
          <a:xfrm>
            <a:off x="5897880" y="42245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需求交付完整演示</a:t>
            </a:r>
            <a:endParaRPr lang="en-US" sz="1200" dirty="0"/>
          </a:p>
        </p:txBody>
      </p:sp>
      <p:sp>
        <p:nvSpPr>
          <p:cNvPr id="35" name="prefill-share-r1-c1"/>
          <p:cNvSpPr txBox="1"/>
          <p:nvPr/>
        </p:nvSpPr>
        <p:spPr>
          <a:xfrm>
            <a:off x="1874520" y="4882896"/>
            <a:ext cx="266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跨团队技术分享</a:t>
            </a:r>
            <a:endParaRPr lang="en-US" sz="1200" dirty="0"/>
          </a:p>
        </p:txBody>
      </p:sp>
      <p:sp>
        <p:nvSpPr>
          <p:cNvPr id="36" name="prefill-share-r1-c2"/>
          <p:cNvSpPr txBox="1"/>
          <p:nvPr/>
        </p:nvSpPr>
        <p:spPr>
          <a:xfrm>
            <a:off x="4892040" y="48828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60 人</a:t>
            </a:r>
            <a:endParaRPr lang="en-US" sz="1200" dirty="0"/>
          </a:p>
        </p:txBody>
      </p:sp>
      <p:sp>
        <p:nvSpPr>
          <p:cNvPr id="37" name="prefill-share-r1-c3"/>
          <p:cNvSpPr txBox="1"/>
          <p:nvPr/>
        </p:nvSpPr>
        <p:spPr>
          <a:xfrm>
            <a:off x="5897880" y="488289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问题定位与修复</a:t>
            </a:r>
            <a:endParaRPr lang="en-US" sz="1200" dirty="0"/>
          </a:p>
        </p:txBody>
      </p:sp>
      <p:sp>
        <p:nvSpPr>
          <p:cNvPr id="38" name="prefill-share-r2-c1"/>
          <p:cNvSpPr txBox="1"/>
          <p:nvPr/>
        </p:nvSpPr>
        <p:spPr>
          <a:xfrm>
            <a:off x="1874520" y="5541264"/>
            <a:ext cx="266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新团队试用培训</a:t>
            </a:r>
            <a:endParaRPr lang="en-US" sz="1200" dirty="0"/>
          </a:p>
        </p:txBody>
      </p:sp>
      <p:sp>
        <p:nvSpPr>
          <p:cNvPr id="39" name="prefill-share-r2-c2"/>
          <p:cNvSpPr txBox="1"/>
          <p:nvPr/>
        </p:nvSpPr>
        <p:spPr>
          <a:xfrm>
            <a:off x="4892040" y="554126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25 人</a:t>
            </a:r>
            <a:endParaRPr lang="en-US" sz="1200" dirty="0"/>
          </a:p>
        </p:txBody>
      </p:sp>
      <p:sp>
        <p:nvSpPr>
          <p:cNvPr id="40" name="prefill-share-r2-c3"/>
          <p:cNvSpPr txBox="1"/>
          <p:nvPr/>
        </p:nvSpPr>
        <p:spPr>
          <a:xfrm>
            <a:off x="5897880" y="554126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平台上手与实践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"/>
          <p:cNvSpPr txBox="1"/>
          <p:nvPr/>
        </p:nvSpPr>
        <p:spPr>
          <a:xfrm>
            <a:off x="68580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000B"/>
                </a:solidFill>
              </a:rPr>
              <a:t>后续计划</a:t>
            </a:r>
            <a:endParaRPr lang="en-US" sz="2400" dirty="0">
              <a:solidFill>
                <a:srgbClr val="C7000B"/>
              </a:solidFill>
            </a:endParaRPr>
          </a:p>
        </p:txBody>
      </p:sp>
      <p:sp>
        <p:nvSpPr>
          <p:cNvPr id="3" name="n-0"/>
          <p:cNvSpPr/>
          <p:nvPr/>
        </p:nvSpPr>
        <p:spPr>
          <a:xfrm>
            <a:off x="731520" y="1828800"/>
            <a:ext cx="3393338" cy="2194560"/>
          </a:xfrm>
          <a:prstGeom prst="roundRect">
            <a:avLst>
              <a:gd name="adj" fmla="val 2500"/>
            </a:avLst>
          </a:prstGeom>
          <a:solidFill>
            <a:srgbClr val="F4F4F5"/>
          </a:solidFill>
          <a:ln w="12700">
            <a:prstDash val="solid"/>
            <a:solidFill>
              <a:srgbClr val="F4F4F5"/>
            </a:solidFill>
          </a:ln>
        </p:spPr>
      </p:sp>
      <p:sp>
        <p:nvSpPr>
          <p:cNvPr id="4" name="n-ic-0-bg"/>
          <p:cNvSpPr/>
          <p:nvPr/>
        </p:nvSpPr>
        <p:spPr>
          <a:xfrm>
            <a:off x="1005840" y="2103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n-ic-0" descr="图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223821"/>
            <a:ext cx="261518" cy="261518"/>
          </a:xfrm>
          <a:prstGeom prst="rect">
            <a:avLst/>
          </a:prstGeom>
        </p:spPr>
      </p:pic>
      <p:sp>
        <p:nvSpPr>
          <p:cNvPr id="6" name="n-h-0"/>
          <p:cNvSpPr txBox="1"/>
          <p:nvPr/>
        </p:nvSpPr>
        <p:spPr>
          <a:xfrm>
            <a:off x="1005840" y="278892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组件知识持续校准</a:t>
            </a:r>
            <a:endParaRPr lang="en-US" sz="1600" dirty="0">
              <a:solidFill>
                <a:srgbClr val="1F1F1F"/>
              </a:solidFill>
            </a:endParaRPr>
          </a:p>
        </p:txBody>
      </p:sp>
      <p:sp>
        <p:nvSpPr>
          <p:cNvPr id="7" name="n-b-0"/>
          <p:cNvSpPr txBox="1"/>
          <p:nvPr/>
        </p:nvSpPr>
        <p:spPr>
          <a:xfrm>
            <a:off x="1005840" y="315468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收集设计选型、改代码提示和 MR 检查的实际效果，用来修正组件规则</a:t>
            </a:r>
            <a:endParaRPr lang="en-US" sz="1200" dirty="0">
              <a:solidFill>
                <a:srgbClr val="595959"/>
              </a:solidFill>
            </a:endParaRPr>
          </a:p>
        </p:txBody>
      </p:sp>
      <p:sp>
        <p:nvSpPr>
          <p:cNvPr id="8" name="n-1"/>
          <p:cNvSpPr/>
          <p:nvPr/>
        </p:nvSpPr>
        <p:spPr>
          <a:xfrm>
            <a:off x="4399178" y="1828800"/>
            <a:ext cx="3393338" cy="2194560"/>
          </a:xfrm>
          <a:prstGeom prst="roundRect">
            <a:avLst>
              <a:gd name="adj" fmla="val 2500"/>
            </a:avLst>
          </a:prstGeom>
          <a:solidFill>
            <a:srgbClr val="F4F4F5"/>
          </a:solidFill>
          <a:ln w="12700">
            <a:prstDash val="solid"/>
            <a:solidFill>
              <a:srgbClr val="F4F4F5"/>
            </a:solidFill>
          </a:ln>
        </p:spPr>
      </p:sp>
      <p:sp>
        <p:nvSpPr>
          <p:cNvPr id="9" name="n-ic-1-bg"/>
          <p:cNvSpPr/>
          <p:nvPr/>
        </p:nvSpPr>
        <p:spPr>
          <a:xfrm>
            <a:off x="4673498" y="2103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n-ic-1" descr="图标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2223821"/>
            <a:ext cx="261518" cy="261518"/>
          </a:xfrm>
          <a:prstGeom prst="rect">
            <a:avLst/>
          </a:prstGeom>
        </p:spPr>
      </p:pic>
      <p:sp>
        <p:nvSpPr>
          <p:cNvPr id="11" name="n-h-1"/>
          <p:cNvSpPr txBox="1"/>
          <p:nvPr/>
        </p:nvSpPr>
        <p:spPr>
          <a:xfrm>
            <a:off x="4673498" y="278892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推广到更多团队</a:t>
            </a:r>
            <a:endParaRPr lang="en-US" sz="1600" dirty="0">
              <a:solidFill>
                <a:srgbClr val="1F1F1F"/>
              </a:solidFill>
            </a:endParaRPr>
          </a:p>
        </p:txBody>
      </p:sp>
      <p:sp>
        <p:nvSpPr>
          <p:cNvPr id="12" name="n-b-1"/>
          <p:cNvSpPr txBox="1"/>
          <p:nvPr/>
        </p:nvSpPr>
        <p:spPr>
          <a:xfrm>
            <a:off x="4673498" y="315468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接入更多业务团队，统一需求和问题单入口，形成团队默认配置</a:t>
            </a:r>
            <a:endParaRPr lang="en-US" sz="1200" dirty="0">
              <a:solidFill>
                <a:srgbClr val="595959"/>
              </a:solidFill>
            </a:endParaRPr>
          </a:p>
        </p:txBody>
      </p:sp>
      <p:sp>
        <p:nvSpPr>
          <p:cNvPr id="13" name="n-2"/>
          <p:cNvSpPr/>
          <p:nvPr/>
        </p:nvSpPr>
        <p:spPr>
          <a:xfrm>
            <a:off x="8066837" y="1828800"/>
            <a:ext cx="3393338" cy="2194560"/>
          </a:xfrm>
          <a:prstGeom prst="roundRect">
            <a:avLst>
              <a:gd name="adj" fmla="val 2500"/>
            </a:avLst>
          </a:prstGeom>
          <a:solidFill>
            <a:srgbClr val="F4F4F5"/>
          </a:solidFill>
          <a:ln w="12700">
            <a:prstDash val="solid"/>
            <a:solidFill>
              <a:srgbClr val="F4F4F5"/>
            </a:solidFill>
          </a:ln>
        </p:spPr>
      </p:sp>
      <p:sp>
        <p:nvSpPr>
          <p:cNvPr id="14" name="n-ic-2-bg"/>
          <p:cNvSpPr/>
          <p:nvPr/>
        </p:nvSpPr>
        <p:spPr>
          <a:xfrm>
            <a:off x="8341157" y="2103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n-ic-2" descr="图标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2223821"/>
            <a:ext cx="261518" cy="261518"/>
          </a:xfrm>
          <a:prstGeom prst="rect">
            <a:avLst/>
          </a:prstGeom>
        </p:spPr>
      </p:pic>
      <p:sp>
        <p:nvSpPr>
          <p:cNvPr id="16" name="n-h-2"/>
          <p:cNvSpPr txBox="1"/>
          <p:nvPr/>
        </p:nvSpPr>
        <p:spPr>
          <a:xfrm>
            <a:off x="8341157" y="278892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经验持续优化</a:t>
            </a:r>
            <a:endParaRPr lang="en-US" sz="1600" dirty="0">
              <a:solidFill>
                <a:srgbClr val="1F1F1F"/>
              </a:solidFill>
            </a:endParaRPr>
          </a:p>
        </p:txBody>
      </p:sp>
      <p:sp>
        <p:nvSpPr>
          <p:cNvPr id="17" name="n-b-2"/>
          <p:cNvSpPr txBox="1"/>
          <p:nvPr/>
        </p:nvSpPr>
        <p:spPr>
          <a:xfrm>
            <a:off x="8341157" y="315468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在已有自动整理基础上，提高经验质量与后续交付的复用效果</a:t>
            </a:r>
            <a:endParaRPr lang="en-US" sz="1200" dirty="0">
              <a:solidFill>
                <a:srgbClr val="595959"/>
              </a:solidFill>
            </a:endParaRPr>
          </a:p>
        </p:txBody>
      </p:sp>
      <p:sp>
        <p:nvSpPr>
          <p:cNvPr id="18" name="close"/>
          <p:cNvSpPr txBox="1"/>
          <p:nvPr/>
        </p:nvSpPr>
        <p:spPr>
          <a:xfrm>
            <a:off x="731520" y="4617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7000B"/>
                </a:solidFill>
              </a:rPr>
              <a:t>AI 推进交付全程，关键决定由人做出</a:t>
            </a:r>
            <a:endParaRPr lang="en-US" sz="2200" dirty="0"/>
          </a:p>
        </p:txBody>
      </p:sp>
      <p:sp>
        <p:nvSpPr>
          <p:cNvPr id="19" name="thanks"/>
          <p:cNvSpPr txBox="1"/>
          <p:nvPr/>
        </p:nvSpPr>
        <p:spPr>
          <a:xfrm>
            <a:off x="73152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</a:rPr>
              <a:t>谢谢</a:t>
            </a:r>
            <a:endParaRPr lang="en-US" sz="1500" dirty="0">
              <a:solidFill>
                <a:srgbClr val="595959"/>
              </a:solidFill>
            </a:endParaRPr>
          </a:p>
        </p:txBody>
      </p:sp>
      <p:sp>
        <p:nvSpPr>
          <p:cNvPr id="20" name="content-title-marker"/>
          <p:cNvSpPr/>
          <p:nvPr/>
        </p:nvSpPr>
        <p:spPr>
          <a:xfrm>
            <a:off x="457200" y="429768"/>
            <a:ext cx="118872" cy="1188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content-footer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l">
              <a:defRPr sz="90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Mae-Flow Cloud ｜ AI 先锋个人参评</a:t>
            </a:r>
          </a:p>
        </p:txBody>
      </p:sp>
      <p:sp>
        <p:nvSpPr>
          <p:cNvPr id="22" name="final-slide-number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e-Flow Pioneer">
  <a:themeElements>
    <a:clrScheme name="Mae-Flow Pioneer">
      <a:dk1>
        <a:srgbClr val="1F1F1F"/>
      </a:dk1>
      <a:lt1>
        <a:srgbClr val="FFFFFF"/>
      </a:lt1>
      <a:dk2>
        <a:srgbClr val="595959"/>
      </a:dk2>
      <a:lt2>
        <a:srgbClr val="F4F4F5"/>
      </a:lt2>
      <a:accent1>
        <a:srgbClr val="C7000B"/>
      </a:accent1>
      <a:accent2>
        <a:srgbClr val="8C8C8C"/>
      </a:accent2>
      <a:accent3>
        <a:srgbClr val="DCDCDE"/>
      </a:accent3>
      <a:accent4>
        <a:srgbClr val="1C1C1E"/>
      </a:accent4>
      <a:accent5>
        <a:srgbClr val="FBEAEA"/>
      </a:accent5>
      <a:accent6>
        <a:srgbClr val="2C2C2E"/>
      </a:accent6>
      <a:hlink>
        <a:srgbClr val="C7000B"/>
      </a:hlink>
      <a:folHlink>
        <a:srgbClr val="595959"/>
      </a:folHlink>
    </a:clrScheme>
    <a:fontScheme name="Mae-Flow Pioneer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Mae-Flow Cloud · AI 先锋个人参评</dc:title>
  <dc:subject>AI 先锋个人参评</dc:subject>
  <dc:creator>廖翔</dc:creator>
  <cp:lastModifiedBy>廖翔</cp:lastModifiedBy>
  <cp:revision>1</cp:revision>
  <dcterms:created xsi:type="dcterms:W3CDTF">2026-10-08T07:43:05Z</dcterms:created>
  <dcterms:modified xsi:type="dcterms:W3CDTF">2026-10-08T07:43:05Z</dcterms:modified>
</cp:coreProperties>
</file>