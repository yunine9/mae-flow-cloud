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8a0a9e0c904013" /><Relationship Type="http://schemas.openxmlformats.org/officeDocument/2006/relationships/extended-properties" Target="/docProps/app.xml" Id="R122a61de29e2416b" /><Relationship Type="http://schemas.openxmlformats.org/officeDocument/2006/relationships/officeDocument" Target="/ppt/presentation.xml" Id="R191b392aa60647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b6cd8f60d54df8"/>
  </p:sldMasterIdLst>
  <p:notesMasterIdLst>
    <p:notesMasterId xmlns:r="http://schemas.openxmlformats.org/officeDocument/2006/relationships" r:id="R87e394847e024835"/>
  </p:notesMasterIdLst>
  <p:sldIdLst>
    <p:sldId xmlns:r="http://schemas.openxmlformats.org/officeDocument/2006/relationships" id="256" r:id="R2d3a1459f20b4573"/>
    <p:sldId xmlns:r="http://schemas.openxmlformats.org/officeDocument/2006/relationships" id="257" r:id="Rf804e85d296a43d1"/>
    <p:sldId xmlns:r="http://schemas.openxmlformats.org/officeDocument/2006/relationships" id="258" r:id="Rc55a61a0e1f64663"/>
    <p:sldId xmlns:r="http://schemas.openxmlformats.org/officeDocument/2006/relationships" id="259" r:id="R9642aa099b9d40c6"/>
    <p:sldId xmlns:r="http://schemas.openxmlformats.org/officeDocument/2006/relationships" id="260" r:id="R7e7753ea62b54a58"/>
    <p:sldId xmlns:r="http://schemas.openxmlformats.org/officeDocument/2006/relationships" id="261" r:id="R752e638c018a4e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214f84df1144ce" /><Relationship Type="http://schemas.openxmlformats.org/officeDocument/2006/relationships/slideMaster" Target="/ppt/slideMasters/slideMaster1.xml" Id="R40b6cd8f60d54df8" /><Relationship Type="http://schemas.openxmlformats.org/officeDocument/2006/relationships/notesMaster" Target="/ppt/notesMasters/notesMaster1.xml" Id="R87e394847e024835" /><Relationship Type="http://schemas.openxmlformats.org/officeDocument/2006/relationships/presProps" Target="/ppt/presProps.xml" Id="Rdd8e72cef2bf4342" /><Relationship Type="http://schemas.openxmlformats.org/officeDocument/2006/relationships/tableStyles" Target="/ppt/tableStyles.xml" Id="Rd6af7207bf604ac2" /><Relationship Type="http://schemas.openxmlformats.org/officeDocument/2006/relationships/slide" Target="/ppt/slides/slide1.xml" Id="R2d3a1459f20b4573" /><Relationship Type="http://schemas.openxmlformats.org/officeDocument/2006/relationships/slide" Target="/ppt/slides/slide2.xml" Id="Rf804e85d296a43d1" /><Relationship Type="http://schemas.openxmlformats.org/officeDocument/2006/relationships/slide" Target="/ppt/slides/slide3.xml" Id="Rc55a61a0e1f64663" /><Relationship Type="http://schemas.openxmlformats.org/officeDocument/2006/relationships/slide" Target="/ppt/slides/slide4.xml" Id="R9642aa099b9d40c6" /><Relationship Type="http://schemas.openxmlformats.org/officeDocument/2006/relationships/slide" Target="/ppt/slides/slide5.xml" Id="R7e7753ea62b54a58" /><Relationship Type="http://schemas.openxmlformats.org/officeDocument/2006/relationships/slide" Target="/ppt/slides/slide6.xml" Id="R752e638c018a4e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9d6dcb89994d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d73f9429c6446c" /><Relationship Type="http://schemas.openxmlformats.org/officeDocument/2006/relationships/notesMaster" Target="/ppt/notesMasters/notesMaster1.xml" Id="R6106f6169a8548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f910d728d146d9" /><Relationship Type="http://schemas.openxmlformats.org/officeDocument/2006/relationships/notesMaster" Target="/ppt/notesMasters/notesMaster1.xml" Id="R4c2f5bc599b34e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35bc6bc9cc46e1" /><Relationship Type="http://schemas.openxmlformats.org/officeDocument/2006/relationships/notesMaster" Target="/ppt/notesMasters/notesMaster1.xml" Id="Rd063d839bff84c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8c4f4bc7ee4aa9" /><Relationship Type="http://schemas.openxmlformats.org/officeDocument/2006/relationships/notesMaster" Target="/ppt/notesMasters/notesMaster1.xml" Id="Ra2dc39a8526a4f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07e42b031f458c" /><Relationship Type="http://schemas.openxmlformats.org/officeDocument/2006/relationships/notesMaster" Target="/ppt/notesMasters/notesMaster1.xml" Id="R86a35086616a4d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1fc894dd5149c4" /><Relationship Type="http://schemas.openxmlformats.org/officeDocument/2006/relationships/notesMaster" Target="/ppt/notesMasters/notesMaster1.xml" Id="R82097f35a81143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35 秒。讲参赛范围：只讲 MAE Flow 的核心 Harness，Cloud 作为落地演示。Harness 指围绕 Agent 的工作方法、工具执行、状态与人工控制。不要把全部 Cloud 能力都称为插件自带。完整讲稿见同目录 talk.md。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75 秒。职责示意图，不是进程部署图。Agent 分析与执行，Prompt/Skill 承载工作方法，宿主与内核协调状态、操作和人的决定。Cloud 承接团队交互和平台集成。来源：kernel/docs/kernel-authority.md；src/sessionDriver.ts；src/taskHostTools.ts；src/platformAdapter.ts；docs/execution-continuity.md。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90 秒。程序读取事实，模型不能凭一句完成替代实际结果。可定位 CI/代码质量失败属于自动修复候选，仍受状态、证据和配置约束。MR 检视意见交责任人，选中后才交 Agent。权限、人的回答、取消与接管保留。来源：src/mergeWatch.ts；src/externalReviewInbox.ts；src/annotationSubmissionView.ts；kernel/docs/kernel-authority.md。不承诺绝对隔离或所有失败都能自动修好。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80 秒。方法更新在 Prompt/Skill，平台差异在适配器，状态及权限事实在宿主/内核。当前仍有大模块和历史耦合，不宣称全面解耦。例子：同样内容 add/commit 不重复作废人工确认，形式检查不替代质量判断。并行需职责与依赖明确，避免多个写入者抢同一工作区。来源：AGENTS.md；kernel/docs/kernel-authority.md；src/platformAdapter.ts。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 秒后切浏览器，演示 4 分钟。选同一个已合入需求：业务目标35秒，设计45秒，人的意见及实际修改65秒，测试/MR结果65秒，交付摘要30秒（如不存在，停在MR结果页）。任务尚未指定，不填造数据。现场只读，不运行长命令或重新触发推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 1 分钟。回到四个评选导向：可靠是结果有依据；易改是规则有归属；够快是减少无意义等待；安全是保留人的决定和真实权限。Cloud 是落地现场，不展开全平台。不要以规模或提交数量比较其他作品。完整答辩口径见 talk.md。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d87a2745944e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dcdccbcac343a6" /><Relationship Type="http://schemas.openxmlformats.org/officeDocument/2006/relationships/slideLayout" Target="/ppt/slideLayouts/slideLayout1.xml" Id="R40c0e3e4cfdb4c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c0e3e4cfdb4c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fcf6582baa4270" /><Relationship Type="http://schemas.openxmlformats.org/officeDocument/2006/relationships/notesSlide" Target="/ppt/notesSlides/notesSlide1.xml" Id="R79b32129c81640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877e7fb9347f2" /><Relationship Type="http://schemas.openxmlformats.org/officeDocument/2006/relationships/notesSlide" Target="/ppt/notesSlides/notesSlide2.xml" Id="R6e599b4bb7fc45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f94f7c13b944c1" /><Relationship Type="http://schemas.openxmlformats.org/officeDocument/2006/relationships/notesSlide" Target="/ppt/notesSlides/notesSlide3.xml" Id="R00cbe11eb11343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334dbc3fda4bb6" /><Relationship Type="http://schemas.openxmlformats.org/officeDocument/2006/relationships/notesSlide" Target="/ppt/notesSlides/notesSlide4.xml" Id="R95dcf8188ef941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8d74d6fa1b4e5d" /><Relationship Type="http://schemas.openxmlformats.org/officeDocument/2006/relationships/notesSlide" Target="/ppt/notesSlides/notesSlide5.xml" Id="R1f19c937f36d4f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9c6ecb957445ab" /><Relationship Type="http://schemas.openxmlformats.org/officeDocument/2006/relationships/notesSlide" Target="/ppt/notesSlides/notesSlide6.xml" Id="R645437927a9346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0CBD78-4CC8-47D0-975B-CFF39DFD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E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D6E82"/>
                </a:solidFill>
                <a:latin typeface="Arial Unicode MS"/>
                <a:ea typeface="Arial Unicode MS"/>
                <a:cs typeface="Arial Unicode MS"/>
              </a:rPr>
              <a:t>MAE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82FF15-6BD2-445D-85F6-E60DB3EA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D6E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D6E82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8393FE-D3BD-4358-B4F9-9CA327C8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057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057D5"/>
                </a:solidFill>
                <a:latin typeface="Arial Unicode MS"/>
                <a:ea typeface="Arial Unicode MS"/>
                <a:cs typeface="Arial Unicode MS"/>
              </a:rPr>
              <a:t>万马奔腾 · 工程工具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5E2750-A24E-46F7-826E-DA9736F2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150" b="1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rPr>
              <a:t>MAE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5AEF2F-4C05-4EF6-BA55-CB76AF3A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0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rPr>
              <a:t>面向需求交付的 Agent Harness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A565C5-EB8F-4B4D-B249-8E29B645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5767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D6E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D6E82"/>
                </a:solidFill>
                <a:latin typeface="Arial Unicode MS"/>
                <a:ea typeface="Arial Unicode MS"/>
                <a:cs typeface="Arial Unicode MS"/>
              </a:rPr>
              <a:t>用可靠、易改、够快的代码，打造真正好用的工程工具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4A974C-1804-4320-A7B5-67D31AC7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057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3057D5"/>
                </a:solidFill>
                <a:latin typeface="Arial Unicode MS"/>
                <a:ea typeface="Arial Unicode MS"/>
                <a:cs typeface="Arial Unicode MS"/>
              </a:rPr>
              <a:t>可靠性          可维护性          高效          安全</a:t>
            </a:r>
          </a:p>
        </p:txBody>
      </p:sp>
    </p:spTree>
    <p:extLst>
      <p:ext uri="{BB962C8B-B14F-4D97-AF65-F5344CB8AC3E}">
        <p14:creationId xmlns:p14="http://schemas.microsoft.com/office/powerpoint/2010/main" val="7281077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8C41A7-49B6-4101-AA35-1C5C5D0F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rPr>
              <a:t>核心 Harness 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F8E8DC-4448-492F-890F-A02764AF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E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D6E82"/>
                </a:solidFill>
                <a:latin typeface="Arial Unicode MS"/>
                <a:ea typeface="Arial Unicode MS"/>
                <a:cs typeface="Arial Unicode MS"/>
              </a:rPr>
              <a:t>MAE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6AE3C9-8F11-4CA6-892A-34CD7DD7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D6E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D6E82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02B837-839C-4DF1-987C-D5B5A6D9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09700"/>
            <a:ext cx="4191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3"/>
          </a:solidFill>
          <a:ln xmlns:a="http://schemas.openxmlformats.org/drawingml/2006/main" w="9525">
            <a:solidFill>
              <a:srgbClr val="B8C5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CBD875-E182-4A16-90DA-B71D6416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24000"/>
            <a:ext cx="3848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rPr>
              <a:t>人：目标、检视与交付决定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44897D-49A4-4566-961F-D04A4895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2714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F"/>
          </a:solidFill>
          <a:ln xmlns:a="http://schemas.openxmlformats.org/drawingml/2006/main" w="9525">
            <a:solidFill>
              <a:srgbClr val="B8C5D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BD0C78-1BD1-4802-A9AA-C9E3424C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2371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rPr>
              <a:t>工作方法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9928EF-EF55-43E2-8FCA-24F6DFD2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23717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rPr>
              <a:t>Prompt / Skill</a:t>
            </a:r>
          </a:p>
          <a:p xmlns:a="http://schemas.openxmlformats.org/drawingml/2006/main">
            <a:pPr algn="ctr">
              <a:defRPr sz="1725" b="0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rPr>
              <a:t>分析、编码、验证约定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183DC0-F829-4092-97B0-1017D200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43"/>
          </a:solidFill>
          <a:ln xmlns:a="http://schemas.openxmlformats.org/drawingml/2006/main" w="9525">
            <a:solidFill>
              <a:srgbClr val="B8C5D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032565-6F06-4B4A-9198-620493BF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028950"/>
            <a:ext cx="2419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094087-A4C1-4B0F-9658-F38CD86E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524250"/>
            <a:ext cx="2419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理解需求</a:t>
            </a:r>
          </a:p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分析、实现与修复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583D2B-D3B3-454A-B42A-AFFD3B76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14650"/>
            <a:ext cx="2743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F"/>
          </a:solidFill>
          <a:ln xmlns:a="http://schemas.openxmlformats.org/drawingml/2006/main" w="9525">
            <a:solidFill>
              <a:srgbClr val="B8C5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7BF16F-C628-48BE-8647-A51462D9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2895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rPr>
              <a:t>宿主与内核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4C336B-1AA8-46C8-9430-D537E870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24250"/>
            <a:ext cx="2400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rPr>
              <a:t>执行协调与状态恢复</a:t>
            </a:r>
          </a:p>
          <a:p xmlns:a="http://schemas.openxmlformats.org/drawingml/2006/main">
            <a:pPr algn="ctr">
              <a:defRPr sz="1725" b="0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rPr>
              <a:t>记录人工决定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FAFF5B-1607-418F-9B78-2064FD8F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095875"/>
            <a:ext cx="67913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3"/>
          </a:solidFill>
          <a:ln xmlns:a="http://schemas.openxmlformats.org/drawingml/2006/main" w="9525">
            <a:solidFill>
              <a:srgbClr val="B8C5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F0ED8C-D3EB-48EF-BD79-718BE858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5210175"/>
            <a:ext cx="64484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rPr>
              <a:t>Git、编译测试、MR 与流水线</a:t>
            </a:r>
          </a:p>
        </p:txBody>
      </p:sp>
      <p:cxnSp>
        <p:nvCxnSpPr>
          <p:cNvPr id="39" name=""/>
          <p:cNvCxnSpPr>
            <a:stCxn xmlns:a="http://schemas.openxmlformats.org/drawingml/2006/main" id="4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6096000" y="2209800"/>
            <a:ext cx="0" cy="704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D6E82"/>
            </a:solidFill>
            <a:headEnd type="arrow" w="med" len="med"/>
            <a:tailEnd type="arrow" w="med" len="med"/>
          </a:ln>
        </p:spPr>
      </p:cxnSp>
      <p:cxnSp>
        <p:nvCxnSpPr>
          <p:cNvPr id="40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400425" y="3629025"/>
            <a:ext cx="1314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D6E82"/>
            </a:solidFill>
            <a:tailEnd type="arrow" w="med" len="med"/>
          </a:ln>
        </p:spPr>
      </p:cxnSp>
      <p:cxnSp>
        <p:nvCxnSpPr>
          <p:cNvPr id="41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477125" y="3629025"/>
            <a:ext cx="1285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D6E82"/>
            </a:solidFill>
            <a:headEnd type="arrow" w="med" len="med"/>
            <a:tailEnd type="arrow" w="med" len="med"/>
          </a:ln>
        </p:spPr>
      </p:cxnSp>
      <p:cxnSp>
        <p:nvCxnSpPr>
          <p:cNvPr id="42" name=""/>
          <p:cNvCxnSpPr>
            <a:stCxn xmlns:a="http://schemas.openxmlformats.org/drawingml/2006/main" id="12" idx="2"/>
            <a:endCxn xmlns:a="http://schemas.openxmlformats.org/drawingml/2006/main" id="15" idx="3"/>
          </p:cNvCxnSpPr>
          <p:nvPr/>
        </p:nvCxnSpPr>
        <p:spPr>
          <a:xfrm xmlns:a="http://schemas.openxmlformats.org/drawingml/2006/main">
            <a:off x="10134600" y="4343400"/>
            <a:ext cx="1600200" cy="12001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5D6E82"/>
            </a:solidFill>
            <a:headEnd type="arrow" w="med" len="med"/>
            <a:tailEnd type="arrow" w="med" len="med"/>
          </a:ln>
        </p:spPr>
      </p:cxnSp>
      <p:cxnSp>
        <p:nvCxnSpPr>
          <p:cNvPr id="43" name=""/>
          <p:cNvCxnSpPr>
            <a:stCxn xmlns:a="http://schemas.openxmlformats.org/drawingml/2006/main" id="15" idx="0"/>
            <a:endCxn xmlns:a="http://schemas.openxmlformats.org/drawingml/2006/main" id="9" idx="2"/>
          </p:cNvCxnSpPr>
          <p:nvPr/>
        </p:nvCxnSpPr>
        <p:spPr>
          <a:xfrm xmlns:a="http://schemas.openxmlformats.org/drawingml/2006/main" flipH="1" flipV="1">
            <a:off x="6096000" y="4343400"/>
            <a:ext cx="2014538" cy="7524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D6E82"/>
            </a:solidFill>
            <a:headEnd type="arrow" w="med" len="med"/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F8861F-B2AF-4EE0-8526-1512E0C7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E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D6E82"/>
                </a:solidFill>
                <a:latin typeface="Arial Unicode MS"/>
                <a:ea typeface="Arial Unicode MS"/>
                <a:cs typeface="Arial Unicode MS"/>
              </a:rPr>
              <a:t>Cloud 提供团队工作台</a:t>
            </a:r>
          </a:p>
          <a:p xmlns:a="http://schemas.openxmlformats.org/drawingml/2006/main">
            <a:pPr algn="l">
              <a:defRPr sz="1800" b="0">
                <a:solidFill>
                  <a:srgbClr val="5D6E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D6E82"/>
                </a:solidFill>
                <a:latin typeface="Arial Unicode MS"/>
                <a:ea typeface="Arial Unicode MS"/>
                <a:cs typeface="Arial Unicode MS"/>
              </a:rPr>
              <a:t>与宿主集成</a:t>
            </a:r>
          </a:p>
        </p:txBody>
      </p:sp>
    </p:spTree>
    <p:extLst>
      <p:ext uri="{BB962C8B-B14F-4D97-AF65-F5344CB8AC3E}">
        <p14:creationId xmlns:p14="http://schemas.microsoft.com/office/powerpoint/2010/main" val="7948439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DBDEBE-65F3-4A60-B813-0C054438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rPr>
              <a:t>可靠与安全：真实结果，明确决定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9BDE0D-5F7D-4A09-8DEA-CC471ABC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E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D6E82"/>
                </a:solidFill>
                <a:latin typeface="Arial Unicode MS"/>
                <a:ea typeface="Arial Unicode MS"/>
                <a:cs typeface="Arial Unicode MS"/>
              </a:rPr>
              <a:t>MAE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BE1276-DA0C-4A0B-82E8-CFDCA223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D6E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D6E82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BEAC05-93A5-4A0E-BF42-0EF16E1A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D6E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D6E82"/>
                </a:solidFill>
                <a:latin typeface="Arial Unicode MS"/>
                <a:ea typeface="Arial Unicode MS"/>
                <a:cs typeface="Arial Unicode MS"/>
              </a:rPr>
              <a:t>同样是反馈，处理权不同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CC5896-7CFC-4DA2-8F41-271227F1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905125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43"/>
          </a:solidFill>
          <a:ln xmlns:a="http://schemas.openxmlformats.org/drawingml/2006/main" w="9525">
            <a:solidFill>
              <a:srgbClr val="B8C5D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74A7CB-E405-4D3D-ADA2-60508A23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2562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平台与工具结果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AB7F64-2F4D-41BE-91A0-F39C22F5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67100"/>
            <a:ext cx="25622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执行记录、真实状态</a:t>
            </a:r>
          </a:p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保存后可追溯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3BCE32-095F-41C2-ABE9-5DD3ED7E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143125"/>
            <a:ext cx="2800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F"/>
          </a:solidFill>
          <a:ln xmlns:a="http://schemas.openxmlformats.org/drawingml/2006/main" w="9525">
            <a:solidFill>
              <a:srgbClr val="B8C5D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25584F-DE32-4D34-BF6E-B2952C7E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257425"/>
            <a:ext cx="2457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rPr>
              <a:t>CI / 扫描失败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B18C9E-7E1E-487D-B877-F8548915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752725"/>
            <a:ext cx="2457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rPr>
              <a:t>可定位、可修复的问题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A5B6D8-437F-4D9D-9434-FE32BC3D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143125"/>
            <a:ext cx="27527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F"/>
          </a:solidFill>
          <a:ln xmlns:a="http://schemas.openxmlformats.org/drawingml/2006/main" w="9525">
            <a:solidFill>
              <a:srgbClr val="B8C5D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03615A-2292-4A47-8C3D-3D02C61C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257425"/>
            <a:ext cx="24098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rPr>
              <a:t>Agent 修复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3FC668-5946-4ADD-8730-7C101316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752725"/>
            <a:ext cx="2409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rPr>
              <a:t>执行后重新验证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0F94B9-E71E-4701-837C-985D3D98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067175"/>
            <a:ext cx="2800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3"/>
          </a:solidFill>
          <a:ln xmlns:a="http://schemas.openxmlformats.org/drawingml/2006/main" w="9525">
            <a:solidFill>
              <a:srgbClr val="B8C5D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4C9BD2-F050-4862-889A-566E3045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181475"/>
            <a:ext cx="2457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rPr>
              <a:t>MR 检视意见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66DC6E-A74F-46A3-A3AC-265AA91D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676775"/>
            <a:ext cx="2457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rPr>
              <a:t>涉及取舍与质量判断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43103B-B069-43CA-BAF8-69253A08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067175"/>
            <a:ext cx="27527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3"/>
          </a:solidFill>
          <a:ln xmlns:a="http://schemas.openxmlformats.org/drawingml/2006/main" w="9525">
            <a:solidFill>
              <a:srgbClr val="B8C5D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06CCEE-612D-4CEF-80D1-6CE012B1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181475"/>
            <a:ext cx="24098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rPr>
              <a:t>责任人决定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39F920-D406-4DC6-98DA-468CADF6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676775"/>
            <a:ext cx="2409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rPr>
              <a:t>选中的意见交给 Agent</a:t>
            </a:r>
          </a:p>
        </p:txBody>
      </p:sp>
      <p:cxnSp>
        <p:nvCxnSpPr>
          <p:cNvPr id="44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590925" y="2676525"/>
            <a:ext cx="1200150" cy="9096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D6E82"/>
            </a:solidFill>
            <a:tailEnd type="arrow" w="med" len="med"/>
          </a:ln>
        </p:spPr>
      </p:cxnSp>
      <p:cxnSp>
        <p:nvCxnSpPr>
          <p:cNvPr id="45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591425" y="2676525"/>
            <a:ext cx="1162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D6E82"/>
            </a:solidFill>
            <a:tailEnd type="arrow" w="med" len="med"/>
          </a:ln>
        </p:spPr>
      </p:cxnSp>
      <p:cxnSp>
        <p:nvCxnSpPr>
          <p:cNvPr id="46" name=""/>
          <p:cNvCxnSpPr>
            <a:stCxn xmlns:a="http://schemas.openxmlformats.org/drawingml/2006/main" id="5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590925" y="3586163"/>
            <a:ext cx="1200150" cy="10144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D6E82"/>
            </a:solidFill>
            <a:tailEnd type="arrow" w="med" len="med"/>
          </a:ln>
        </p:spPr>
      </p:cxnSp>
      <p:cxnSp>
        <p:nvCxnSpPr>
          <p:cNvPr id="47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591425" y="4600575"/>
            <a:ext cx="1162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D6E82"/>
            </a:solidFill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45291B-43D5-4EBD-B352-C2E246D9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7690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47A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47A82"/>
                </a:solidFill>
                <a:latin typeface="Arial Unicode MS"/>
                <a:ea typeface="Arial Unicode MS"/>
                <a:cs typeface="Arial Unicode MS"/>
              </a:rPr>
              <a:t>权限、人的回答、取消与接管，由实际执行链保留</a:t>
            </a:r>
          </a:p>
        </p:txBody>
      </p:sp>
    </p:spTree>
    <p:extLst>
      <p:ext uri="{BB962C8B-B14F-4D97-AF65-F5344CB8AC3E}">
        <p14:creationId xmlns:p14="http://schemas.microsoft.com/office/powerpoint/2010/main" val="15510112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9AC4B4-E9B2-411F-802B-318F29F6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rPr>
              <a:t>易改与够快：规则各有归属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DBAC08-10CA-43A0-AE3A-D2E88F38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E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D6E82"/>
                </a:solidFill>
                <a:latin typeface="Arial Unicode MS"/>
                <a:ea typeface="Arial Unicode MS"/>
                <a:cs typeface="Arial Unicode MS"/>
              </a:rPr>
              <a:t>MAE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4323F0-F803-46B1-B774-57334861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D6E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D6E82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04850" y="1504950"/>
          <a:ext xmlns:a="http://schemas.openxmlformats.org/drawingml/2006/main" cx="1080135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24300"/>
                <a:gridCol w="3657600"/>
                <a:gridCol w="3219450"/>
              </a:tblGrid>
              <a:tr h="869156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D6E8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变化发生在哪里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D6E8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修改落点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D6E8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维护范围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69156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142A43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工作方法变了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3057D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Prompt / Skill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D6E8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更新方法与示例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69156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142A43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平台接口变了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3057D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平台适配器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D6E8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收敛命令与返回差异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69156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142A43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执行控制变了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3057D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宿主 / 内核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D6E8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核对状态、决定与事实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22F6C6-3B1F-4986-BB69-5E28F78E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62575"/>
            <a:ext cx="10801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47A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47A82"/>
                </a:solidFill>
                <a:latin typeface="Arial Unicode MS"/>
                <a:ea typeface="Arial Unicode MS"/>
                <a:cs typeface="Arial Unicode MS"/>
              </a:rPr>
              <a:t>重复确认与形式检查，会消耗真正交付的时间</a:t>
            </a:r>
          </a:p>
        </p:txBody>
      </p:sp>
    </p:spTree>
    <p:extLst>
      <p:ext uri="{BB962C8B-B14F-4D97-AF65-F5344CB8AC3E}">
        <p14:creationId xmlns:p14="http://schemas.microsoft.com/office/powerpoint/2010/main" val="18421893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65B31A-14E6-4628-9FBA-EDCC76D2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rPr>
              <a:t>一个已完成需求的交付过程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6E05CB-10BA-49D9-9F67-34439735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E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D6E82"/>
                </a:solidFill>
                <a:latin typeface="Arial Unicode MS"/>
                <a:ea typeface="Arial Unicode MS"/>
                <a:cs typeface="Arial Unicode MS"/>
              </a:rPr>
              <a:t>MAE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F8BDC2-4624-49A1-A301-321B2346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D6E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D6E82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6AF39A-DC6B-4B65-8526-95D91C60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4302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D6E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5D6E82"/>
                </a:solidFill>
                <a:latin typeface="Arial Unicode MS"/>
                <a:ea typeface="Arial Unicode MS"/>
                <a:cs typeface="Arial Unicode MS"/>
              </a:rPr>
              <a:t>在 MAE Flow Cloud 中看一次真实落地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5923CF-F7B4-4740-B908-DF655AA4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3057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75" b="1">
                <a:solidFill>
                  <a:srgbClr val="3057D5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054EAC-BCFA-4627-B44C-AB7A7E0B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4810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rPr>
              <a:t>需求与设计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4C857C-69C5-4357-84D2-145A823B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91050"/>
            <a:ext cx="2628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E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D6E82"/>
                </a:solidFill>
                <a:latin typeface="Arial Unicode MS"/>
                <a:ea typeface="Arial Unicode MS"/>
                <a:cs typeface="Arial Unicode MS"/>
              </a:rPr>
              <a:t>要解决什么问题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A3F4E6-6DC9-4645-B2EA-03D2088B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956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3057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75" b="1">
                <a:solidFill>
                  <a:srgbClr val="3057D5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268142-732C-44F3-8D01-00102D3B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4810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rPr>
              <a:t>人的介入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16DA9A-23E0-43B5-97A3-B931FB88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591050"/>
            <a:ext cx="2628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E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D6E82"/>
                </a:solidFill>
                <a:latin typeface="Arial Unicode MS"/>
                <a:ea typeface="Arial Unicode MS"/>
                <a:cs typeface="Arial Unicode MS"/>
              </a:rPr>
              <a:t>意见怎样进入执行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C87B48-28BD-48FB-9822-7CC26347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956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3057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75" b="1">
                <a:solidFill>
                  <a:srgbClr val="3057D5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7F95D5-3C93-46AF-8C8B-B73C9B78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4810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rPr>
              <a:t>实际改动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620813-4A66-4099-BD5D-4B78206E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91050"/>
            <a:ext cx="2628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E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D6E82"/>
                </a:solidFill>
                <a:latin typeface="Arial Unicode MS"/>
                <a:ea typeface="Arial Unicode MS"/>
                <a:cs typeface="Arial Unicode MS"/>
              </a:rPr>
              <a:t>具体修改了什么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2F54BF-E481-4885-A809-54EDF243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956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3057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75" b="1">
                <a:solidFill>
                  <a:srgbClr val="3057D5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7FF88A-3C62-4750-8E35-1B47C92C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84810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rPr>
              <a:t>交付证据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E859AF-64C4-4B49-AF26-9C0BD2C4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591050"/>
            <a:ext cx="2628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E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D6E82"/>
                </a:solidFill>
                <a:latin typeface="Arial Unicode MS"/>
                <a:ea typeface="Arial Unicode MS"/>
                <a:cs typeface="Arial Unicode MS"/>
              </a:rPr>
              <a:t>测试结果与 MR 合入</a:t>
            </a:r>
          </a:p>
        </p:txBody>
      </p:sp>
    </p:spTree>
    <p:extLst>
      <p:ext uri="{BB962C8B-B14F-4D97-AF65-F5344CB8AC3E}">
        <p14:creationId xmlns:p14="http://schemas.microsoft.com/office/powerpoint/2010/main" val="8422208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6F6B79-699E-4819-AABB-6527ACB0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rPr>
              <a:t>MAE Flow 的核心取舍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96591A-3891-40FD-A072-EDDCE81A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E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D6E82"/>
                </a:solidFill>
                <a:latin typeface="Arial Unicode MS"/>
                <a:ea typeface="Arial Unicode MS"/>
                <a:cs typeface="Arial Unicode MS"/>
              </a:rPr>
              <a:t>MAE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D65C1F-1361-4974-A677-2A01EFA5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D6E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D6E82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E7189B-3073-4527-9D3F-D98D9B02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0497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75" b="1">
                <a:solidFill>
                  <a:srgbClr val="142A43"/>
                </a:solidFill>
                <a:latin typeface="Arial Unicode MS"/>
                <a:ea typeface="Arial Unicode MS"/>
                <a:cs typeface="Arial Unicode MS"/>
              </a:rPr>
              <a:t>人决定目标与取舍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53439C-B08C-4EC4-B938-60FC17F3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7652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3057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75" b="1">
                <a:solidFill>
                  <a:srgbClr val="3057D5"/>
                </a:solidFill>
                <a:latin typeface="Arial Unicode MS"/>
                <a:ea typeface="Arial Unicode MS"/>
                <a:cs typeface="Arial Unicode MS"/>
              </a:rPr>
              <a:t>Agent 承担分析与执行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2FE0C5-53D0-45B8-9FC0-B619DB4B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4807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47A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75" b="1">
                <a:solidFill>
                  <a:srgbClr val="047A82"/>
                </a:solidFill>
                <a:latin typeface="Arial Unicode MS"/>
                <a:ea typeface="Arial Unicode MS"/>
                <a:cs typeface="Arial Unicode MS"/>
              </a:rPr>
              <a:t>工具提供真实结果依据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A526E6-C607-4CA7-BC53-B5D66E7B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292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D6E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5D6E82"/>
                </a:solidFill>
                <a:latin typeface="Arial Unicode MS"/>
                <a:ea typeface="Arial Unicode MS"/>
                <a:cs typeface="Arial Unicode MS"/>
              </a:rPr>
              <a:t>流程要带来质量收益，也要让交付更快</a:t>
            </a:r>
          </a:p>
        </p:txBody>
      </p:sp>
    </p:spTree>
    <p:extLst>
      <p:ext uri="{BB962C8B-B14F-4D97-AF65-F5344CB8AC3E}">
        <p14:creationId xmlns:p14="http://schemas.microsoft.com/office/powerpoint/2010/main" val="17196880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2026-09-20T14:29:04.4940000Z</dcterms:created>
  <dcterms:modified xsi:type="dcterms:W3CDTF">2026-09-20T14:29:04.4940000Z</dcterms:modified>
</coreProperties>
</file>