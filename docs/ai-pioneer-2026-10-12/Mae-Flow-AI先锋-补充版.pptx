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0019b5f0884a92" /><Relationship Type="http://schemas.openxmlformats.org/officeDocument/2006/relationships/extended-properties" Target="/docProps/app.xml" Id="Rdbe44923b88f44b4" /><Relationship Type="http://schemas.openxmlformats.org/officeDocument/2006/relationships/officeDocument" Target="/ppt/presentation.xml" Id="R2322fcb4f1614b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71583c2db0472b"/>
  </p:sldMasterIdLst>
  <p:notesMasterIdLst>
    <p:notesMasterId xmlns:r="http://schemas.openxmlformats.org/officeDocument/2006/relationships" r:id="R2dc370e983bf4a70"/>
  </p:notesMasterIdLst>
  <p:sldIdLst>
    <p:sldId xmlns:r="http://schemas.openxmlformats.org/officeDocument/2006/relationships" id="256" r:id="R7f75999e0cc3476b"/>
    <p:sldId xmlns:r="http://schemas.openxmlformats.org/officeDocument/2006/relationships" id="257" r:id="R63dd27107c7b4002"/>
    <p:sldId xmlns:r="http://schemas.openxmlformats.org/officeDocument/2006/relationships" id="258" r:id="R6581d9504a014919"/>
    <p:sldId xmlns:r="http://schemas.openxmlformats.org/officeDocument/2006/relationships" id="259" r:id="R604b4e7a2ce84179"/>
    <p:sldId xmlns:r="http://schemas.openxmlformats.org/officeDocument/2006/relationships" id="260" r:id="Rff799790a4914e3a"/>
    <p:sldId xmlns:r="http://schemas.openxmlformats.org/officeDocument/2006/relationships" id="261" r:id="R8c030a537d044999"/>
    <p:sldId xmlns:r="http://schemas.openxmlformats.org/officeDocument/2006/relationships" id="262" r:id="R9e33f646b13c4633"/>
    <p:sldId xmlns:r="http://schemas.openxmlformats.org/officeDocument/2006/relationships" id="263" r:id="R0251bd596077474a"/>
    <p:sldId xmlns:r="http://schemas.openxmlformats.org/officeDocument/2006/relationships" id="264" r:id="Rce72586b86134fc4"/>
    <p:sldId xmlns:r="http://schemas.openxmlformats.org/officeDocument/2006/relationships" id="265" r:id="R8dd872fc68ec447d"/>
    <p:sldId xmlns:r="http://schemas.openxmlformats.org/officeDocument/2006/relationships" id="266" r:id="Re064ba26c0e54225"/>
    <p:sldId xmlns:r="http://schemas.openxmlformats.org/officeDocument/2006/relationships" id="267" r:id="Rc386ccc231034381"/>
    <p:sldId xmlns:r="http://schemas.openxmlformats.org/officeDocument/2006/relationships" id="268" r:id="R6e50e329ab994242"/>
    <p:sldId xmlns:r="http://schemas.openxmlformats.org/officeDocument/2006/relationships" id="269" r:id="R0fa6c9fe55654a81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b73c7efa4c40aa" /><Relationship Type="http://schemas.openxmlformats.org/officeDocument/2006/relationships/slideMaster" Target="/ppt/slideMasters/slideMaster1.xml" Id="R9471583c2db0472b" /><Relationship Type="http://schemas.openxmlformats.org/officeDocument/2006/relationships/notesMaster" Target="/ppt/notesMasters/notesMaster1.xml" Id="R2dc370e983bf4a70" /><Relationship Type="http://schemas.openxmlformats.org/officeDocument/2006/relationships/presProps" Target="/ppt/presProps.xml" Id="R82afb172dc2a402f" /><Relationship Type="http://schemas.openxmlformats.org/officeDocument/2006/relationships/viewProps" Target="/ppt/viewProps.xml" Id="Re5b2b9dbd8d7453f" /><Relationship Type="http://schemas.openxmlformats.org/officeDocument/2006/relationships/tableStyles" Target="/ppt/tableStyles.xml" Id="R7f8da38494eb4492" /><Relationship Type="http://schemas.openxmlformats.org/officeDocument/2006/relationships/slide" Target="/ppt/slides/slide1.xml" Id="R7f75999e0cc3476b" /><Relationship Type="http://schemas.openxmlformats.org/officeDocument/2006/relationships/slide" Target="/ppt/slides/slide2.xml" Id="R63dd27107c7b4002" /><Relationship Type="http://schemas.openxmlformats.org/officeDocument/2006/relationships/slide" Target="/ppt/slides/slide3.xml" Id="R6581d9504a014919" /><Relationship Type="http://schemas.openxmlformats.org/officeDocument/2006/relationships/slide" Target="/ppt/slides/slide4.xml" Id="R604b4e7a2ce84179" /><Relationship Type="http://schemas.openxmlformats.org/officeDocument/2006/relationships/slide" Target="/ppt/slides/slide5.xml" Id="Rff799790a4914e3a" /><Relationship Type="http://schemas.openxmlformats.org/officeDocument/2006/relationships/slide" Target="/ppt/slides/slide6.xml" Id="R8c030a537d044999" /><Relationship Type="http://schemas.openxmlformats.org/officeDocument/2006/relationships/slide" Target="/ppt/slides/slide7.xml" Id="R9e33f646b13c4633" /><Relationship Type="http://schemas.openxmlformats.org/officeDocument/2006/relationships/slide" Target="/ppt/slides/slide8.xml" Id="R0251bd596077474a" /><Relationship Type="http://schemas.openxmlformats.org/officeDocument/2006/relationships/slide" Target="/ppt/slides/slide9.xml" Id="Rce72586b86134fc4" /><Relationship Type="http://schemas.openxmlformats.org/officeDocument/2006/relationships/slide" Target="/ppt/slides/slide10.xml" Id="R8dd872fc68ec447d" /><Relationship Type="http://schemas.openxmlformats.org/officeDocument/2006/relationships/slide" Target="/ppt/slides/slide11.xml" Id="Re064ba26c0e54225" /><Relationship Type="http://schemas.openxmlformats.org/officeDocument/2006/relationships/slide" Target="/ppt/slides/slide12.xml" Id="Rc386ccc231034381" /><Relationship Type="http://schemas.openxmlformats.org/officeDocument/2006/relationships/slide" Target="/ppt/slides/slide13.xml" Id="R6e50e329ab994242" /><Relationship Type="http://schemas.openxmlformats.org/officeDocument/2006/relationships/slide" Target="/ppt/slides/slide14.xml" Id="R0fa6c9fe5565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68411cd6be41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Mae-Flow Pioneer">
  <a:themeElements>
    <a:clrScheme name="Mae-Flow Pioneer">
      <a:dk1>
        <a:srgbClr val="1F1F1F"/>
      </a:dk1>
      <a:lt1>
        <a:srgbClr val="FFFFFF"/>
      </a:lt1>
      <a:dk2>
        <a:srgbClr val="595959"/>
      </a:dk2>
      <a:lt2>
        <a:srgbClr val="F4F4F5"/>
      </a:lt2>
      <a:accent1>
        <a:srgbClr val="C7000B"/>
      </a:accent1>
      <a:accent2>
        <a:srgbClr val="8C8C8C"/>
      </a:accent2>
      <a:accent3>
        <a:srgbClr val="DCDCDE"/>
      </a:accent3>
      <a:accent4>
        <a:srgbClr val="1C1C1E"/>
      </a:accent4>
      <a:accent5>
        <a:srgbClr val="FBEAEA"/>
      </a:accent5>
      <a:accent6>
        <a:srgbClr val="2C2C2E"/>
      </a:accent6>
      <a:hlink>
        <a:srgbClr val="C7000B"/>
      </a:hlink>
      <a:folHlink>
        <a:srgbClr val="595959"/>
      </a:folHlink>
    </a:clrScheme>
    <a:fontScheme name="Mae-Flow Pioneer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ae-Flow Pione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f92831b5894ebf" /><Relationship Type="http://schemas.openxmlformats.org/officeDocument/2006/relationships/notesMaster" Target="/ppt/notesMasters/notesMaster1.xml" Id="R67bb6e7539b944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dd5ab41eaf4476" /><Relationship Type="http://schemas.openxmlformats.org/officeDocument/2006/relationships/notesMaster" Target="/ppt/notesMasters/notesMaster1.xml" Id="Ra1a69a3b36744e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3aeac6c3884e60" /><Relationship Type="http://schemas.openxmlformats.org/officeDocument/2006/relationships/notesMaster" Target="/ppt/notesMasters/notesMaster1.xml" Id="R20e8f636da724a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5e424bcb0b4955" /><Relationship Type="http://schemas.openxmlformats.org/officeDocument/2006/relationships/notesMaster" Target="/ppt/notesMasters/notesMaster1.xml" Id="R3db366c2d3cb45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72db15de5042ea" /><Relationship Type="http://schemas.openxmlformats.org/officeDocument/2006/relationships/notesMaster" Target="/ppt/notesMasters/notesMaster1.xml" Id="R7218a97e441044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0fea3adf5d40c6" /><Relationship Type="http://schemas.openxmlformats.org/officeDocument/2006/relationships/notesMaster" Target="/ppt/notesMasters/notesMaster1.xml" Id="R92b669c62f4448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c709ee2b28404a" /><Relationship Type="http://schemas.openxmlformats.org/officeDocument/2006/relationships/notesMaster" Target="/ppt/notesMasters/notesMaster1.xml" Id="Rc5a5fe2f39384c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1dfeddfd504bf9" /><Relationship Type="http://schemas.openxmlformats.org/officeDocument/2006/relationships/notesMaster" Target="/ppt/notesMasters/notesMaster1.xml" Id="R8d4ba7b9c0a448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b3f9e453024ca6" /><Relationship Type="http://schemas.openxmlformats.org/officeDocument/2006/relationships/notesMaster" Target="/ppt/notesMasters/notesMaster1.xml" Id="R9cb7870bb45b4e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66e25789af4c10" /><Relationship Type="http://schemas.openxmlformats.org/officeDocument/2006/relationships/notesMaster" Target="/ppt/notesMasters/notesMaster1.xml" Id="R57ea6fec4b744b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3fa9fda2ce49cb" /><Relationship Type="http://schemas.openxmlformats.org/officeDocument/2006/relationships/notesMaster" Target="/ppt/notesMasters/notesMaster1.xml" Id="Rb389d3021ea648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6e6b3a5cf0472f" /><Relationship Type="http://schemas.openxmlformats.org/officeDocument/2006/relationships/notesMaster" Target="/ppt/notesMasters/notesMaster1.xml" Id="R503ee21f4b6048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cec3d03db54925" /><Relationship Type="http://schemas.openxmlformats.org/officeDocument/2006/relationships/notesMaster" Target="/ppt/notesMasters/notesMaster1.xml" Id="R1c320f6d132043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a280505a484d21" /><Relationship Type="http://schemas.openxmlformats.org/officeDocument/2006/relationships/notesMaster" Target="/ppt/notesMasters/notesMaster1.xml" Id="Reb273f3f89ac4a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内容依据：原始 PPT 与 Issue 467。https://github.com/yunine9/mae-flow-cloud/issues/467</a:t>
            </a:r>
            <a:endParaRPr/>
          </a:p>
          <a:p xmlns:a="http://schemas.openxmlformats.org/drawingml/2006/main">
            <a:r>
              <a:t>三部分结构：个人研发产出与质量表现、AI 研发平台建设与应用价值、跨组织实践分享与推广。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数据来源：Issue 467「PPT 补充材料」。https://github.com/yunine9/mae-flow-cloud/issues/467</a:t>
            </a:r>
            <a:endParaRPr/>
          </a:p>
          <a:p xmlns:a="http://schemas.openxmlformats.org/drawingml/2006/main">
            <a:r>
              <a:t>原文：2026 年主导交付 ZTD 水汽检测、网络锁频拨测等大颗粒需求。代码交付量约 2.25 万行与约 4.37 万行，接近翻倍。月均需求交付工作量约 1.3K 与约 1.7K，增长约 32%。新需求缺陷密度 0.3 个/KLOC。</a:t>
            </a:r>
            <a:endParaRPr/>
          </a:p>
          <a:p xmlns:a="http://schemas.openxmlformats.org/drawingml/2006/main">
            <a:r>
              <a:t>Issue 未提供具体起止日期，故使用“2026 年与去年同期”。1.3K 和 1.7K 为约数，保留原文增长约 32% 的口径。个人商用代码数据与平台代码、测试数量分开陈述。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30 秒）</a:t>
            </a:r>
            <a:br/>
            <a:r>
              <a:t>各位评委好，我是廖翔。今天介绍我主导开发的 Mae-Flow Cloud。这是一个基于 AI Agent 的研发交付平台，覆盖需求开发、问题单处理和知识管理三类工作。AI 负责从分析到提交 MR 的主要工作，人在关键节点确认。</a:t>
            </a:r>
            <a:endParaRPr/>
          </a:p>
          <a:p xmlns:a="http://schemas.openxmlformats.org/drawingml/2006/main">
            <a:br/>
            <a:r>
              <a:t>第二部分：AI 研发平台建设与应用价值。以原始 PPT 的需求交付、问题单处理、知识建设内容为依据。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1 分 20 秒）</a:t>
            </a:r>
            <a:br/>
            <a:r>
              <a:t>目前团队使用 AI 主要是在编码环节，需求澄清、设计、检视、流水线修复和问题定位仍以人工为主。AI 给出的结果需要人逐项核对；AI 也不了解团队的自研组件和业务规则。平台的做法有四点。一是按阶段推进，每个阶段有明确的完成条件；二是关键节点由人确认；三是推送和流水线结果以 CodeHub 为准；四是团队知识经过审查后提供给 AI 使用。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1 分钟）</a:t>
            </a:r>
            <a:br/>
            <a:r>
              <a:t>平台有三条业务线。需求开发按固定阶段交付；问题单处理要先分析，再决定是否修改代码；知识管理负责研究、审查和发布团队知识。每条线里 AI 负责的部分和人负责的部分是分开的，红色标出的是人负责的环节。三条线共用五项能力，分别是容器隔离、阶段管理、以 CodeHub 的实际状态为准、等待设置时限和过程留痕。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1 分 30 秒）</a:t>
            </a:r>
            <a:br/>
            <a:r>
              <a:t>需求开发分为启动、澄清需求、定规格、写设计、写代码、检视与验证、已合入七个阶段。每个阶段有完成条件，AI 自行调用工具推进。图上红色标出的是需要人确认的三个节点，分别是回答澄清问题、确认拆分方案和推送前检视代码。左边是推送前检视的界面，列出本次推送的文件，人可以确认推送，也可以写修改意见。其他阶段由 AI 推进，人可以随时暂停并接手。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1 分 20 秒）</a:t>
            </a:r>
            <a:br/>
            <a:r>
              <a:t>第一是大需求拆分。主任务先生成整体设计，再按代码仓和功能模块拆分子任务，按依赖关系调度。第二是检视意见处理。任意代码行都可以批注，Agent 修改后逐条回复，负责人对每条意见给出处理结论并记录理由。第三是 MR 和流水线跟踪。流水线结果对应到具体提交；失败时由 AI 修复，修复次数用完就停止并通知人。第四是人工接手和继续修改，已合入的任务也可以继续修改并提交新的 MR。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1 分 30 秒）</a:t>
            </a:r>
            <a:br/>
            <a:r>
              <a:t>问题单和需求不同，不一定需要改代码，可能只需要定位，也可能不是问题，所以单独设计了处理流程。有问题单时分五个阶段，依次是获取问题单、拉取代码并创建分支、问题分析、先写用例再修复、提交 MR。没有问题单时用于自行定位，分三个阶段，结论是问题就等待提单，不是问题就直接结束。平台负责两项检查。一是分析报告必须由人确认后才能修改代码；二是 AI 提交的 MR 清单要和平台记录一致，并且每个 MR 最新提交的流水线全部通过，才算完成。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1 分钟）</a:t>
            </a:r>
            <a:br/>
            <a:r>
              <a:t>拉日志和换库部署已经做成平台技能，AI 直接调用，日志保存在工作区供 AI 分析。代码拉取后会在后台提前编译，修复时直接使用。流水线失败时，平台把失败信息发给 AI，由 AI 判断修复还是请人处理。平台侧的问题和报错信息不足这两种情况 AI 处理不了，会通过卡片交给人。另外，网管口令加密保存；命令超时只终止该命令，不销毁容器，这是一次 2940 次失控循环之后做的改进。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1 分 20 秒）</a:t>
            </a:r>
            <a:br/>
            <a:r>
              <a:t>AI 不了解团队的业务规则和自研组件，写出的代码容易不符合团队规范。平台把团队知识分为四类。领域知识是业务规则和背景，平台负责研究和审查，交付到业务代码仓后由业务团队决定如何使用。基础组件知识是自研组件的用法，平台同时管理生产和使用，设计阶段要求 AI 制定组件选用计划，改代码时给出规则提示，提交 MR 时再检查。Skill 审查通过后上架，按模块提供给需求开发任务。团队经验来自交付后的整理，人工采纳后才会使用。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1 分钟）</a:t>
            </a:r>
            <a:br/>
            <a:r>
              <a:t>三类知识使用同一个流程，依次是发起研究或导入、审查、发布、归档。审查时可以逐行提意见，交给 Agent 修订。发布后平台上即可阅读，每个版本都保留。需要提交到代码仓时，填写单号创建 MR。右边是知识任务页面，需要人处理的任务排在前面，每行右侧是下一步操作。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1 分钟）</a:t>
            </a:r>
            <a:br/>
            <a:r>
              <a:t>为了让 AI 的执行结果可以核实，平台有四项规则。第一，AI 执行的命令都在容器中运行，容器起不来任务就失败，不会改在宿主机执行。第二，推送、MR 和流水线结果以 CodeHub 为准，并对应到具体提交。第三，所有等待都设置时限，失败后停止并通知人。第四，如实记录哪些已经验证、哪些没有验证。这些规则由三千多条自动化测试、真实容器和 Git 环境下的重启演练、界面截图对比来持续验证。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分享记录来源：Issue 467。https://github.com/yunine9/mae-flow-cloud/issues/467</a:t>
            </a:r>
            <a:endParaRPr/>
          </a:p>
          <a:p xmlns:a="http://schemas.openxmlformats.org/drawingml/2006/main">
            <a:r>
              <a:t>公司级（研发能力参联会）：MAE-M AI 超级团队 E2E 实践与 AI 产品自动化工厂探索。</a:t>
            </a:r>
            <a:endParaRPr/>
          </a:p>
          <a:p xmlns:a="http://schemas.openxmlformats.org/drawingml/2006/main">
            <a:r>
              <a:t>产品线（无线大讲堂）：组织级交付工作流实践。</a:t>
            </a:r>
            <a:endParaRPr/>
          </a:p>
          <a:p xmlns:a="http://schemas.openxmlformats.org/drawingml/2006/main">
            <a:r>
              <a:t>西研所（智荟西北狼 · 小龙门阵第43期）：AI for 开发 &amp; 问题单处理交流。</a:t>
            </a:r>
            <a:endParaRPr/>
          </a:p>
          <a:p xmlns:a="http://schemas.openxmlformats.org/drawingml/2006/main">
            <a:r>
              <a:t>PDU（MAE-M 产品部AI技术沙龙）：从需求到MR：MAE-FLOW的SDD实践。</a:t>
            </a:r>
            <a:endParaRPr/>
          </a:p>
          <a:p xmlns:a="http://schemas.openxmlformats.org/drawingml/2006/main">
            <a:r>
              <a:t>原文未提供分享日期、听众人数、反馈原话或其他团队采用效果，故不陈述这些数据。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40 秒）</a:t>
            </a:r>
            <a:br/>
            <a:r>
              <a:t>接下来有三项工作。一是根据实际使用结果修正组件规则；二是推广到更多业务团队；三是每次交付后自动整理经验。AI 推进交付全程，关键决定由人做出。谢谢。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6f10034384d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a13c6e18e46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2dd33d45d430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3B8CEA-9CAC-4568-BB7B-C3C45BBA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6BB91B-A019-4661-8AB6-B0506CCE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chemeClr val="accent2"/>
                </a:solidFill>
              </a:rPr>
              <a:t>Mae-Flow Cloud ｜ AI 先锋个人参评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CA33009-EFB1-4701-866A-76EFD0F38BDD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85800" y="27432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2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48B35DD-1E0B-4612-92C7-9FB587F97497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685800" y="768096"/>
            <a:ext cx="10881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13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385DF4B-2212-4E94-AF04-293F3159D6F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cf957175ac496f" /><Relationship Type="http://schemas.openxmlformats.org/officeDocument/2006/relationships/slideLayout" Target="/ppt/slideLayouts/slideLayout1.xml" Id="Ra56118b505d7449a" /><Relationship Type="http://schemas.openxmlformats.org/officeDocument/2006/relationships/slideLayout" Target="/ppt/slideLayouts/slideLayout2.xml" Id="Rf8bf942778ec4a04" /><Relationship Type="http://schemas.openxmlformats.org/officeDocument/2006/relationships/slideLayout" Target="/ppt/slideLayouts/slideLayout3.xml" Id="Rc9c74026ab064f0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FDDCD9E-2D7F-4EE8-80AF-36C6D37F3C0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6118b505d7449a"/>
    <p:sldLayoutId xmlns:r="http://schemas.openxmlformats.org/officeDocument/2006/relationships" id="2147483650" r:id="Rf8bf942778ec4a04"/>
    <p:sldLayoutId xmlns:r="http://schemas.openxmlformats.org/officeDocument/2006/relationships" id="2147483651" r:id="Rc9c74026ab064f0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Mae-Flow Pioneer">
  <a:themeElements>
    <a:clrScheme name="Mae-Flow Pioneer">
      <a:dk1>
        <a:srgbClr val="1F1F1F"/>
      </a:dk1>
      <a:lt1>
        <a:srgbClr val="FFFFFF"/>
      </a:lt1>
      <a:dk2>
        <a:srgbClr val="595959"/>
      </a:dk2>
      <a:lt2>
        <a:srgbClr val="F4F4F5"/>
      </a:lt2>
      <a:accent1>
        <a:srgbClr val="C7000B"/>
      </a:accent1>
      <a:accent2>
        <a:srgbClr val="8C8C8C"/>
      </a:accent2>
      <a:accent3>
        <a:srgbClr val="DCDCDE"/>
      </a:accent3>
      <a:accent4>
        <a:srgbClr val="1C1C1E"/>
      </a:accent4>
      <a:accent5>
        <a:srgbClr val="FBEAEA"/>
      </a:accent5>
      <a:accent6>
        <a:srgbClr val="2C2C2E"/>
      </a:accent6>
      <a:hlink>
        <a:srgbClr val="C7000B"/>
      </a:hlink>
      <a:folHlink>
        <a:srgbClr val="595959"/>
      </a:folHlink>
    </a:clrScheme>
    <a:fontScheme name="Mae-Flow Pioneer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ae-Flow Pione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731c481de94082" /><Relationship Type="http://schemas.openxmlformats.org/officeDocument/2006/relationships/image" Target="/ppt/media/image.png" Id="Rc26754a1c0c94064" /><Relationship Type="http://schemas.openxmlformats.org/officeDocument/2006/relationships/notesSlide" Target="/ppt/notesSlides/notesSlide1.xml" Id="Rb65b393c287d42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64aef57719448d" /><Relationship Type="http://schemas.openxmlformats.org/officeDocument/2006/relationships/chart" Target="/ppt/slides/charts/chart1.xml" Id="R58d986c6e71f46ed" /><Relationship Type="http://schemas.openxmlformats.org/officeDocument/2006/relationships/chart" Target="/ppt/slides/charts/chart2.xml" Id="R932e7d69827449f8" /><Relationship Type="http://schemas.openxmlformats.org/officeDocument/2006/relationships/notesSlide" Target="/ppt/notesSlides/notesSlide2.xml" Id="Rc11e239849c14e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8e163957d7483b" /><Relationship Type="http://schemas.openxmlformats.org/officeDocument/2006/relationships/image" Target="/ppt/media/image.png" Id="R0748599ee6e74900" /><Relationship Type="http://schemas.openxmlformats.org/officeDocument/2006/relationships/notesSlide" Target="/ppt/notesSlides/notesSlide3.xml" Id="R0720f3a903b54c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61c88888334f54" /><Relationship Type="http://schemas.openxmlformats.org/officeDocument/2006/relationships/image" Target="/ppt/media/image2.png" Id="R55cf2ad5dbe7445f" /><Relationship Type="http://schemas.openxmlformats.org/officeDocument/2006/relationships/image" Target="/ppt/media/image3.png" Id="R0c13ad2f23264b2e" /><Relationship Type="http://schemas.openxmlformats.org/officeDocument/2006/relationships/image" Target="/ppt/media/image4.png" Id="Recc1649174ad48e2" /><Relationship Type="http://schemas.openxmlformats.org/officeDocument/2006/relationships/image" Target="/ppt/media/image5.png" Id="R7dc87f5e3f8a4089" /><Relationship Type="http://schemas.openxmlformats.org/officeDocument/2006/relationships/notesSlide" Target="/ppt/notesSlides/notesSlide4.xml" Id="R7d0a4c8344be4c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2ad8ea4fbd4ae6" /><Relationship Type="http://schemas.openxmlformats.org/officeDocument/2006/relationships/image" Target="/ppt/media/image.gif" Id="R78604e72928f4d74" /><Relationship Type="http://schemas.openxmlformats.org/officeDocument/2006/relationships/notesSlide" Target="/ppt/notesSlides/notesSlide5.xml" Id="R94473bc830e146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a00cb8ffaa4aa6" /><Relationship Type="http://schemas.openxmlformats.org/officeDocument/2006/relationships/image" Target="/ppt/media/image6.png" Id="Rf00d7cd0f97f476c" /><Relationship Type="http://schemas.openxmlformats.org/officeDocument/2006/relationships/notesSlide" Target="/ppt/notesSlides/notesSlide6.xml" Id="R8d050960f2a74f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107771b80c404d" /><Relationship Type="http://schemas.openxmlformats.org/officeDocument/2006/relationships/image" Target="/ppt/media/image2.gif" Id="R480ef78f0a5245c8" /><Relationship Type="http://schemas.openxmlformats.org/officeDocument/2006/relationships/notesSlide" Target="/ppt/notesSlides/notesSlide7.xml" Id="R07e47e28707a44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77a68f95d74bed" /><Relationship Type="http://schemas.openxmlformats.org/officeDocument/2006/relationships/notesSlide" Target="/ppt/notesSlides/notesSlide8.xml" Id="R3c347bbddc1349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716553acb84dfe" /><Relationship Type="http://schemas.openxmlformats.org/officeDocument/2006/relationships/image" Target="/ppt/media/image3.gif" Id="Ra3eacb7651c84e03" /><Relationship Type="http://schemas.openxmlformats.org/officeDocument/2006/relationships/notesSlide" Target="/ppt/notesSlides/notesSlide9.xml" Id="Rb841c043c49f42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62368f0f4c43fc" /><Relationship Type="http://schemas.openxmlformats.org/officeDocument/2006/relationships/image" Target="/ppt/media/image4.gif" Id="Rc694ed9e28bb4220" /><Relationship Type="http://schemas.openxmlformats.org/officeDocument/2006/relationships/notesSlide" Target="/ppt/notesSlides/notesSlide10.xml" Id="R0d86398c4cee48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9aaa7ba56542be" /><Relationship Type="http://schemas.openxmlformats.org/officeDocument/2006/relationships/image" Target="/ppt/media/image7.png" Id="R18a956ef57ea46e6" /><Relationship Type="http://schemas.openxmlformats.org/officeDocument/2006/relationships/image" Target="/ppt/media/image8.png" Id="R44f686f534e34a10" /><Relationship Type="http://schemas.openxmlformats.org/officeDocument/2006/relationships/image" Target="/ppt/media/image9.png" Id="R607b86db9374473b" /><Relationship Type="http://schemas.openxmlformats.org/officeDocument/2006/relationships/image" Target="/ppt/media/image10.png" Id="R33504ef58194484f" /><Relationship Type="http://schemas.openxmlformats.org/officeDocument/2006/relationships/image" Target="/ppt/media/image11.png" Id="R6ad2018c70704e77" /><Relationship Type="http://schemas.openxmlformats.org/officeDocument/2006/relationships/notesSlide" Target="/ppt/notesSlides/notesSlide11.xml" Id="R7d143c5b34514d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d890c4fe8a4432" /><Relationship Type="http://schemas.openxmlformats.org/officeDocument/2006/relationships/image" Target="/ppt/media/image5.gif" Id="R6648b27a1c0e46f0" /><Relationship Type="http://schemas.openxmlformats.org/officeDocument/2006/relationships/notesSlide" Target="/ppt/notesSlides/notesSlide12.xml" Id="R70d8a4c30c9a46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8f790897eb45ce" /><Relationship Type="http://schemas.openxmlformats.org/officeDocument/2006/relationships/notesSlide" Target="/ppt/notesSlides/notesSlide13.xml" Id="R2d0d0da0a2d847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7b6f90bf7346f5" /><Relationship Type="http://schemas.openxmlformats.org/officeDocument/2006/relationships/image" Target="/ppt/media/image12.png" Id="R59b16b31c6844cb6" /><Relationship Type="http://schemas.openxmlformats.org/officeDocument/2006/relationships/image" Target="/ppt/media/image13.png" Id="Rffcc84f39c304fec" /><Relationship Type="http://schemas.openxmlformats.org/officeDocument/2006/relationships/image" Target="/ppt/media/image14.png" Id="R19b334e2dfb34236" /><Relationship Type="http://schemas.openxmlformats.org/officeDocument/2006/relationships/notesSlide" Target="/ppt/notesSlides/notesSlide14.xml" Id="R94855d89824f476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代码交付量（万行）</c:v>
          </c:tx>
          <c:spPr>
            <a:solidFill xmlns:a="http://schemas.openxmlformats.org/drawingml/2006/main">
              <a:srgbClr val="C7000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DBDC2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C7000B"/>
              </a:solidFill>
              <a:ln xmlns:a="http://schemas.openxmlformats.org/drawingml/2006/main" w="0">
                <a:noFill/>
                <a:prstDash val="solid"/>
              </a:ln>
            </c:spPr>
          </c:dPt>
          <c:cat>
            <c:strRef>
              <c:f>'Chart Data'!$A$2:$A$3</c:f>
              <c:strCache>
                <c:ptCount val="2"/>
                <c:pt idx="0">
                  <c:v>去年同期</c:v>
                </c:pt>
                <c:pt idx="1">
                  <c:v>2026 年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2.25</c:v>
                </c:pt>
                <c:pt idx="1">
                  <c:v>4.37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.8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月均需求交付工作量（K）</c:v>
          </c:tx>
          <c:spPr>
            <a:solidFill xmlns:a="http://schemas.openxmlformats.org/drawingml/2006/main">
              <a:srgbClr val="C7000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DBDC2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C7000B"/>
              </a:solidFill>
              <a:ln xmlns:a="http://schemas.openxmlformats.org/drawingml/2006/main" w="0">
                <a:noFill/>
                <a:prstDash val="solid"/>
              </a:ln>
            </c:spPr>
          </c:dPt>
          <c:cat>
            <c:strRef>
              <c:f>'Chart Data'!$A$2:$A$3</c:f>
              <c:strCache>
                <c:ptCount val="2"/>
                <c:pt idx="0">
                  <c:v>去年同期</c:v>
                </c:pt>
                <c:pt idx="1">
                  <c:v>2026 年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1.3</c:v>
                </c:pt>
                <c:pt idx="1">
                  <c:v>1.7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.2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cover-bg">
            <a:extLst xmlns:a="http://schemas.openxmlformats.org/drawingml/2006/main">
              <a:ext uri="{FF2B5EF4-FFF2-40B4-BE49-F238E27FC236}">
                <a16:creationId xmlns:a16="http://schemas.microsoft.com/office/drawing/2014/main" id="{80111F9D-1348-4586-9627-A0C0CDB66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754a1c0c940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badge-bar">
            <a:extLst xmlns:a="http://schemas.openxmlformats.org/drawingml/2006/main">
              <a:ext uri="{FF2B5EF4-FFF2-40B4-BE49-F238E27FC236}">
                <a16:creationId xmlns:a16="http://schemas.microsoft.com/office/drawing/2014/main" id="{7191B510-9666-4757-8831-BBB55E0F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868680"/>
            <a:ext cx="54864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12700">
            <a:solidFill>
              <a:srgbClr val="C7000B"/>
            </a:solidFill>
            <a:prstDash val="solid"/>
          </a:ln>
        </p:spPr>
      </p:sp>
      <p:sp>
        <p:nvSpPr>
          <p:cNvPr id="6" name="title-bar">
            <a:extLst xmlns:a="http://schemas.openxmlformats.org/drawingml/2006/main">
              <a:ext uri="{FF2B5EF4-FFF2-40B4-BE49-F238E27FC236}">
                <a16:creationId xmlns:a16="http://schemas.microsoft.com/office/drawing/2014/main" id="{DE72DE74-FAC1-4C8E-A8F5-0C2963C5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10025"/>
            <a:ext cx="64008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12700">
            <a:solidFill>
              <a:srgbClr val="C7000B"/>
            </a:solidFill>
            <a:prstDash val="solid"/>
          </a:ln>
        </p:spPr>
      </p:sp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B639E8F-A4F5-4342-9EC8-8B7D2004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667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E6E6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E6E6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6E6E6"/>
                </a:solidFill>
                <a:latin typeface="Microsoft YaHei"/>
                <a:ea typeface="Microsoft YaHei"/>
                <a:cs typeface="Microsoft YaHei"/>
              </a:rPr>
              <a:t>AI 先锋个人参评</a:t>
            </a:r>
          </a:p>
        </p:txBody>
      </p:sp>
      <p:sp>
        <p:nvSpPr>
          <p:cNvPr id="8" name="cover-title-first">
            <a:extLst xmlns:a="http://schemas.openxmlformats.org/drawingml/2006/main">
              <a:ext uri="{FF2B5EF4-FFF2-40B4-BE49-F238E27FC236}">
                <a16:creationId xmlns:a16="http://schemas.microsoft.com/office/drawing/2014/main" id="{2B03E568-C03D-4DDB-AF44-0BF72FBE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38350"/>
            <a:ext cx="5619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研发成果</a:t>
            </a:r>
          </a:p>
        </p:txBody>
      </p:sp>
      <p:sp>
        <p:nvSpPr>
          <p:cNvPr id="9" name="cover-title-second">
            <a:extLst xmlns:a="http://schemas.openxmlformats.org/drawingml/2006/main">
              <a:ext uri="{FF2B5EF4-FFF2-40B4-BE49-F238E27FC236}">
                <a16:creationId xmlns:a16="http://schemas.microsoft.com/office/drawing/2014/main" id="{E9B6B52A-6F13-4A43-A44E-3E1376A1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05125"/>
            <a:ext cx="5619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 AI 实践</a:t>
            </a:r>
          </a:p>
        </p:txBody>
      </p:sp>
      <p:sp>
        <p:nvSpPr>
          <p:cNvPr id="10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DC55B8D-4D3F-488F-B903-F0F81184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0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FBF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BFBF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FBFBF"/>
                </a:solidFill>
                <a:latin typeface="Microsoft YaHei"/>
                <a:ea typeface="Microsoft YaHei"/>
                <a:cs typeface="Microsoft YaHei"/>
              </a:rPr>
              <a:t>研发产出、平台建设与跨组织实践</a:t>
            </a:r>
          </a:p>
        </p:txBody>
      </p:sp>
      <p:sp>
        <p:nvSpPr>
          <p:cNvPr id="11" name="cover-presenter">
            <a:extLst xmlns:a="http://schemas.openxmlformats.org/drawingml/2006/main">
              <a:ext uri="{FF2B5EF4-FFF2-40B4-BE49-F238E27FC236}">
                <a16:creationId xmlns:a16="http://schemas.microsoft.com/office/drawing/2014/main" id="{823F634B-123A-4362-A74E-97327A70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721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廖翔</a:t>
            </a:r>
          </a:p>
        </p:txBody>
      </p:sp>
      <p:sp>
        <p:nvSpPr>
          <p:cNvPr id="12" name="cover-date">
            <a:extLst xmlns:a="http://schemas.openxmlformats.org/drawingml/2006/main">
              <a:ext uri="{FF2B5EF4-FFF2-40B4-BE49-F238E27FC236}">
                <a16:creationId xmlns:a16="http://schemas.microsoft.com/office/drawing/2014/main" id="{5F5A3049-F44D-4F55-AA6E-E226C56B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57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  <p:sp>
        <p:nvSpPr>
          <p:cNvPr id="13" name="cover-role">
            <a:extLst xmlns:a="http://schemas.openxmlformats.org/drawingml/2006/main">
              <a:ext uri="{FF2B5EF4-FFF2-40B4-BE49-F238E27FC236}">
                <a16:creationId xmlns:a16="http://schemas.microsoft.com/office/drawing/2014/main" id="{493B4A8E-640A-49C9-8E7B-758B050D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57900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MAE-M C++ 后台开发</a:t>
            </a:r>
          </a:p>
        </p:txBody>
      </p:sp>
    </p:spTree>
    <p:extLst>
      <p:ext uri="{BB962C8B-B14F-4D97-AF65-F5344CB8AC3E}">
        <p14:creationId xmlns:p14="http://schemas.microsoft.com/office/powerpoint/2010/main" val="13598902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ersonal-title">
            <a:extLst xmlns:a="http://schemas.openxmlformats.org/drawingml/2006/main">
              <a:ext uri="{FF2B5EF4-FFF2-40B4-BE49-F238E27FC236}">
                <a16:creationId xmlns:a16="http://schemas.microsoft.com/office/drawing/2014/main" id="{DEA1C953-0DC1-42E7-AB2B-FAE8E6EE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一、</a:t>
            </a:r>
            <a:r>
              <a:rPr sz="2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个人研发产出与质量表现</a:t>
            </a:r>
          </a:p>
        </p:txBody>
      </p:sp>
      <p:sp>
        <p:nvSpPr>
          <p:cNvPr id="2" name="personal-context">
            <a:extLst xmlns:a="http://schemas.openxmlformats.org/drawingml/2006/main">
              <a:ext uri="{FF2B5EF4-FFF2-40B4-BE49-F238E27FC236}">
                <a16:creationId xmlns:a16="http://schemas.microsoft.com/office/drawing/2014/main" id="{4BC7FFF7-9BE4-45A2-A869-A6DEE852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77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MAE-M C++ 后台开发，承担无线网管 DSON 与感知管理模块开发维护</a:t>
            </a:r>
          </a:p>
        </p:txBody>
      </p:sp>
      <p:sp>
        <p:nvSpPr>
          <p:cNvPr id="3" name="code-heading">
            <a:extLst xmlns:a="http://schemas.openxmlformats.org/drawingml/2006/main">
              <a:ext uri="{FF2B5EF4-FFF2-40B4-BE49-F238E27FC236}">
                <a16:creationId xmlns:a16="http://schemas.microsoft.com/office/drawing/2014/main" id="{4911B94A-0E98-4A3E-ABF2-7537BCDE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476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代码交付量（万行）</a:t>
            </a:r>
          </a:p>
        </p:txBody>
      </p:sp>
      <p:sp>
        <p:nvSpPr>
          <p:cNvPr id="4" name="code-growth">
            <a:extLst xmlns:a="http://schemas.openxmlformats.org/drawingml/2006/main">
              <a:ext uri="{FF2B5EF4-FFF2-40B4-BE49-F238E27FC236}">
                <a16:creationId xmlns:a16="http://schemas.microsoft.com/office/drawing/2014/main" id="{A35C1DAC-A40D-4D8A-BCB8-043E5570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80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接近翻倍</a:t>
            </a:r>
          </a:p>
        </p:txBody>
      </p:sp>
      <p:sp>
        <p:nvSpPr>
          <p:cNvPr id="5" name="work-heading">
            <a:extLst xmlns:a="http://schemas.openxmlformats.org/drawingml/2006/main">
              <a:ext uri="{FF2B5EF4-FFF2-40B4-BE49-F238E27FC236}">
                <a16:creationId xmlns:a16="http://schemas.microsoft.com/office/drawing/2014/main" id="{5088730C-D93A-40DF-BB12-83166F4D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476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月均需求交付工作量（K）</a:t>
            </a:r>
          </a:p>
        </p:txBody>
      </p:sp>
      <p:sp>
        <p:nvSpPr>
          <p:cNvPr id="6" name="work-growth">
            <a:extLst xmlns:a="http://schemas.openxmlformats.org/drawingml/2006/main">
              <a:ext uri="{FF2B5EF4-FFF2-40B4-BE49-F238E27FC236}">
                <a16:creationId xmlns:a16="http://schemas.microsoft.com/office/drawing/2014/main" id="{ED89D611-1EA9-4F58-AE66-810A746C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67075"/>
            <a:ext cx="2038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增长约 32%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E20BC8C-B571-4C5C-818D-88BB7DD711E2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7143750" cy="1371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d986c6e71f46ed"/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4CF529A2-2BB4-4445-93BD-553021686AA6}"/>
              </a:ext>
            </a:extLst>
          </p:cNvPr>
          <p:cNvGraphicFramePr/>
          <p:nvPr/>
        </p:nvGraphicFramePr>
        <p:xfrm>
          <a:off xmlns:a="http://schemas.openxmlformats.org/drawingml/2006/main" x="685800" y="3695700"/>
          <a:ext xmlns:a="http://schemas.openxmlformats.org/drawingml/2006/main" cx="7143750" cy="1371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2e7d69827449f8"/>
          </a:graphicData>
        </a:graphic>
      </p:graphicFrame>
      <p:sp>
        <p:nvSpPr>
          <p:cNvPr id="9" name="quality-panel">
            <a:extLst xmlns:a="http://schemas.openxmlformats.org/drawingml/2006/main">
              <a:ext uri="{FF2B5EF4-FFF2-40B4-BE49-F238E27FC236}">
                <a16:creationId xmlns:a16="http://schemas.microsoft.com/office/drawing/2014/main" id="{A3AF744F-8FF5-4A00-9A1E-958161B5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32575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quality-label">
            <a:extLst xmlns:a="http://schemas.openxmlformats.org/drawingml/2006/main">
              <a:ext uri="{FF2B5EF4-FFF2-40B4-BE49-F238E27FC236}">
                <a16:creationId xmlns:a16="http://schemas.microsoft.com/office/drawing/2014/main" id="{4D4A7876-DF2B-41B7-99EB-A47E81C5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14500"/>
            <a:ext cx="2800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新需求缺陷密度</a:t>
            </a:r>
          </a:p>
        </p:txBody>
      </p:sp>
      <p:sp>
        <p:nvSpPr>
          <p:cNvPr id="11" name="quality-value">
            <a:extLst xmlns:a="http://schemas.openxmlformats.org/drawingml/2006/main">
              <a:ext uri="{FF2B5EF4-FFF2-40B4-BE49-F238E27FC236}">
                <a16:creationId xmlns:a16="http://schemas.microsoft.com/office/drawing/2014/main" id="{5B3E0425-D90F-48F2-B457-EC0E3BDF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38375"/>
            <a:ext cx="28003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7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7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12" name="quality-unit">
            <a:extLst xmlns:a="http://schemas.openxmlformats.org/drawingml/2006/main">
              <a:ext uri="{FF2B5EF4-FFF2-40B4-BE49-F238E27FC236}">
                <a16:creationId xmlns:a16="http://schemas.microsoft.com/office/drawing/2014/main" id="{67D43EB0-7EAE-4AAB-9352-D864637C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86150"/>
            <a:ext cx="2800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个 / KLOC</a:t>
            </a:r>
          </a:p>
        </p:txBody>
      </p:sp>
      <p:sp>
        <p:nvSpPr>
          <p:cNvPr id="13" name="quality-summary">
            <a:extLst xmlns:a="http://schemas.openxmlformats.org/drawingml/2006/main">
              <a:ext uri="{FF2B5EF4-FFF2-40B4-BE49-F238E27FC236}">
                <a16:creationId xmlns:a16="http://schemas.microsoft.com/office/drawing/2014/main" id="{2CFF276F-1573-4B9D-B55F-D9F74EA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交付规模扩大</a:t>
            </a:r>
          </a:p>
          <a:p xmlns:a="http://schemas.openxmlformats.org/drawingml/2006/main">
            <a:pPr algn="ctr">
              <a:def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质量保持稳定</a:t>
            </a:r>
          </a:p>
        </p:txBody>
      </p:sp>
      <p:sp>
        <p:nvSpPr>
          <p:cNvPr id="14" name="delivery-panel">
            <a:extLst xmlns:a="http://schemas.openxmlformats.org/drawingml/2006/main">
              <a:ext uri="{FF2B5EF4-FFF2-40B4-BE49-F238E27FC236}">
                <a16:creationId xmlns:a16="http://schemas.microsoft.com/office/drawing/2014/main" id="{0BA1A8D8-5521-40D0-A966-88FF0164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58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delivery-label">
            <a:extLst xmlns:a="http://schemas.openxmlformats.org/drawingml/2006/main">
              <a:ext uri="{FF2B5EF4-FFF2-40B4-BE49-F238E27FC236}">
                <a16:creationId xmlns:a16="http://schemas.microsoft.com/office/drawing/2014/main" id="{5F7E706F-191F-417C-86F3-C1946BD2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主导需求交付</a:t>
            </a:r>
          </a:p>
        </p:txBody>
      </p:sp>
      <p:sp>
        <p:nvSpPr>
          <p:cNvPr id="16" name="delivery-ztd">
            <a:extLst xmlns:a="http://schemas.openxmlformats.org/drawingml/2006/main">
              <a:ext uri="{FF2B5EF4-FFF2-40B4-BE49-F238E27FC236}">
                <a16:creationId xmlns:a16="http://schemas.microsoft.com/office/drawing/2014/main" id="{AD132829-8636-4AA3-B415-7FECB0C8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0072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ZTD 水汽检测</a:t>
            </a:r>
          </a:p>
        </p:txBody>
      </p:sp>
      <p:sp>
        <p:nvSpPr>
          <p:cNvPr id="17" name="delivery-lock">
            <a:extLst xmlns:a="http://schemas.openxmlformats.org/drawingml/2006/main">
              <a:ext uri="{FF2B5EF4-FFF2-40B4-BE49-F238E27FC236}">
                <a16:creationId xmlns:a16="http://schemas.microsoft.com/office/drawing/2014/main" id="{19E55376-2C22-42D8-9DD2-D1CF2805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8007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网络锁频拨测</a:t>
            </a:r>
          </a:p>
        </p:txBody>
      </p:sp>
      <p:sp>
        <p:nvSpPr>
          <p:cNvPr id="18" name="commercial-label">
            <a:extLst xmlns:a="http://schemas.openxmlformats.org/drawingml/2006/main">
              <a:ext uri="{FF2B5EF4-FFF2-40B4-BE49-F238E27FC236}">
                <a16:creationId xmlns:a16="http://schemas.microsoft.com/office/drawing/2014/main" id="{F2FE31EE-948C-4363-A012-7E82591D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483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商用研发场景</a:t>
            </a:r>
          </a:p>
        </p:txBody>
      </p:sp>
      <p:sp>
        <p:nvSpPr>
          <p:cNvPr id="19" name="commercial-context">
            <a:extLst xmlns:a="http://schemas.openxmlformats.org/drawingml/2006/main">
              <a:ext uri="{FF2B5EF4-FFF2-40B4-BE49-F238E27FC236}">
                <a16:creationId xmlns:a16="http://schemas.microsoft.com/office/drawing/2014/main" id="{4163E004-691E-426A-89C4-907684C1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81025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黄区开发，随产品商用交付</a:t>
            </a:r>
          </a:p>
        </p:txBody>
      </p:sp>
      <p:sp>
        <p:nvSpPr>
          <p:cNvPr id="20" name="comparison-period">
            <a:extLst xmlns:a="http://schemas.openxmlformats.org/drawingml/2006/main">
              <a:ext uri="{FF2B5EF4-FFF2-40B4-BE49-F238E27FC236}">
                <a16:creationId xmlns:a16="http://schemas.microsoft.com/office/drawing/2014/main" id="{79AC5143-648A-479E-A3CE-F7F5CE0C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2026 年与去年同期对比，交付量及工作量采用约数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A527F1-7102-44E0-ACD0-A791D0E3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4484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60154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cover-bg">
            <a:extLst xmlns:a="http://schemas.openxmlformats.org/drawingml/2006/main">
              <a:ext uri="{FF2B5EF4-FFF2-40B4-BE49-F238E27FC236}">
                <a16:creationId xmlns:a16="http://schemas.microsoft.com/office/drawing/2014/main" id="{BC5F2E62-8F16-4E22-AC2D-277D013556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8599ee6e749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badge-bar">
            <a:extLst xmlns:a="http://schemas.openxmlformats.org/drawingml/2006/main">
              <a:ext uri="{FF2B5EF4-FFF2-40B4-BE49-F238E27FC236}">
                <a16:creationId xmlns:a16="http://schemas.microsoft.com/office/drawing/2014/main" id="{7191B510-9666-4757-8831-BBB55E0F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868680"/>
            <a:ext cx="54864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12700">
            <a:solidFill>
              <a:srgbClr val="C7000B"/>
            </a:solidFill>
            <a:prstDash val="solid"/>
          </a:ln>
        </p:spPr>
      </p:sp>
      <p:sp>
        <p:nvSpPr>
          <p:cNvPr id="4" name="badge">
            <a:extLst xmlns:a="http://schemas.openxmlformats.org/drawingml/2006/main">
              <a:ext uri="{FF2B5EF4-FFF2-40B4-BE49-F238E27FC236}">
                <a16:creationId xmlns:a16="http://schemas.microsoft.com/office/drawing/2014/main" id="{9596FE17-5348-4727-AA67-CB0E3345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86868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E6E6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0" indent="0">
              <a:buNone/>
              <a:defRPr sz="1725" b="1">
                <a:solidFill>
                  <a:srgbClr val="E6E6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6E6E6"/>
                </a:solidFill>
                <a:latin typeface="Microsoft YaHei"/>
                <a:ea typeface="Microsoft YaHei"/>
                <a:cs typeface="Microsoft YaHei"/>
              </a:rPr>
              <a:t>二、AI 研发平台建设与应用价值</a:t>
            </a:r>
            <a:endParaRPr sz="1300"/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420D97-2CDD-41C7-AF45-A5712F7D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6035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000" b="1">
                <a:solidFill>
                  <a:schemeClr val="bg1"/>
                </a:solidFill>
              </a:rPr>
              <a:t>Mae-Flow Cloud</a:t>
            </a:r>
            <a:endParaRPr sz="5000"/>
          </a:p>
        </p:txBody>
      </p:sp>
      <p:sp>
        <p:nvSpPr>
          <p:cNvPr id="6" name="title-bar">
            <a:extLst xmlns:a="http://schemas.openxmlformats.org/drawingml/2006/main">
              <a:ext uri="{FF2B5EF4-FFF2-40B4-BE49-F238E27FC236}">
                <a16:creationId xmlns:a16="http://schemas.microsoft.com/office/drawing/2014/main" id="{DE72DE74-FAC1-4C8E-A8F5-0C2963C5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127248"/>
            <a:ext cx="64008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12700">
            <a:solidFill>
              <a:srgbClr val="C7000B"/>
            </a:solidFill>
            <a:prstDash val="solid"/>
          </a:ln>
        </p:spPr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7BCA0E18-0432-4D63-AF82-EE593DF4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035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>
                <a:solidFill>
                  <a:schemeClr val="bg1"/>
                </a:solidFill>
              </a:rPr>
              <a:t>AI Agent 研发交付平台</a:t>
            </a:r>
            <a:endParaRPr sz="2600"/>
          </a:p>
        </p:txBody>
      </p:sp>
      <p:sp>
        <p:nvSpPr>
          <p:cNvPr id="8" name="tagline">
            <a:extLst xmlns:a="http://schemas.openxmlformats.org/drawingml/2006/main">
              <a:ext uri="{FF2B5EF4-FFF2-40B4-BE49-F238E27FC236}">
                <a16:creationId xmlns:a16="http://schemas.microsoft.com/office/drawing/2014/main" id="{C0017592-8653-40EB-BB2A-A2702CC9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77640"/>
            <a:ext cx="6035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A6A6A6"/>
                </a:solidFill>
              </a:rPr>
              <a:t>覆盖需求开发、问题单处理与知识管理</a:t>
            </a:r>
            <a:endParaRPr sz="1600"/>
          </a:p>
        </p:txBody>
      </p:sp>
      <p:sp>
        <p:nvSpPr>
          <p:cNvPr id="9" name="lane-0">
            <a:extLst xmlns:a="http://schemas.openxmlformats.org/drawingml/2006/main">
              <a:ext uri="{FF2B5EF4-FFF2-40B4-BE49-F238E27FC236}">
                <a16:creationId xmlns:a16="http://schemas.microsoft.com/office/drawing/2014/main" id="{AB4936FF-667A-4103-98DE-4BBE6DF5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572768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>
                <a:solidFill>
                  <a:srgbClr val="D9D9D9"/>
                </a:solidFill>
              </a:rPr>
              <a:t>需求</a:t>
            </a:r>
            <a:endParaRPr sz="1300"/>
          </a:p>
        </p:txBody>
      </p:sp>
      <p:sp>
        <p:nvSpPr>
          <p:cNvPr id="10" name="lane-1">
            <a:extLst xmlns:a="http://schemas.openxmlformats.org/drawingml/2006/main">
              <a:ext uri="{FF2B5EF4-FFF2-40B4-BE49-F238E27FC236}">
                <a16:creationId xmlns:a16="http://schemas.microsoft.com/office/drawing/2014/main" id="{0819CFAA-B785-43BE-BDC5-261817F0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310128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>
                <a:solidFill>
                  <a:srgbClr val="D9D9D9"/>
                </a:solidFill>
              </a:rPr>
              <a:t>问题单</a:t>
            </a:r>
            <a:endParaRPr sz="1300"/>
          </a:p>
        </p:txBody>
      </p:sp>
      <p:sp>
        <p:nvSpPr>
          <p:cNvPr id="11" name="lane-2">
            <a:extLst xmlns:a="http://schemas.openxmlformats.org/drawingml/2006/main">
              <a:ext uri="{FF2B5EF4-FFF2-40B4-BE49-F238E27FC236}">
                <a16:creationId xmlns:a16="http://schemas.microsoft.com/office/drawing/2014/main" id="{BDD20000-BDC8-43AF-8BEA-20987AA0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5047488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>
                <a:solidFill>
                  <a:srgbClr val="D9D9D9"/>
                </a:solidFill>
              </a:rPr>
              <a:t>知识</a:t>
            </a:r>
            <a:endParaRPr sz="1300"/>
          </a:p>
        </p:txBody>
      </p:sp>
      <p:sp>
        <p:nvSpPr>
          <p:cNvPr id="12" name="lane-end">
            <a:extLst xmlns:a="http://schemas.openxmlformats.org/drawingml/2006/main">
              <a:ext uri="{FF2B5EF4-FFF2-40B4-BE49-F238E27FC236}">
                <a16:creationId xmlns:a16="http://schemas.microsoft.com/office/drawing/2014/main" id="{B2BD73FA-5E21-4EFA-BBBF-B5AC680B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6908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交付</a:t>
            </a:r>
            <a:endParaRPr sz="1400"/>
          </a:p>
        </p:txBody>
      </p:sp>
      <p:sp>
        <p:nvSpPr>
          <p:cNvPr id="13" name="who">
            <a:extLst xmlns:a="http://schemas.openxmlformats.org/drawingml/2006/main">
              <a:ext uri="{FF2B5EF4-FFF2-40B4-BE49-F238E27FC236}">
                <a16:creationId xmlns:a16="http://schemas.microsoft.com/office/drawing/2014/main" id="{02CEFC37-AD99-42DA-88E7-095DEE3E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978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6A6A6"/>
                </a:solidFill>
              </a:rPr>
              <a:t>廖翔 ｜ 2026 年 10 月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3598902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5A72BA01-A124-4F85-A5CB-A3E772523FC0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85800" y="27432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chemeClr val="accent1"/>
                </a:solidFill>
              </a:rPr>
              <a:t>提效瓶颈：</a:t>
            </a:r>
            <a:r>
              <a:rPr sz="2400" b="1">
                <a:solidFill>
                  <a:schemeClr val="tx1"/>
                </a:solidFill>
              </a:rPr>
              <a:t>编码之外的交付环节仍靠人工</a:t>
            </a:r>
            <a:endParaRPr sz="2400"/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968CEE32-E741-4DFA-8873-7C7D67183100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685800" y="768096"/>
            <a:ext cx="10881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chemeClr val="tx2"/>
                </a:solidFill>
              </a:rPr>
              <a:t>需求澄清、设计、检视、流水线修复和问题定位仍以人工为主，AI 给出的结果也需要逐项核对</a:t>
            </a:r>
            <a:endParaRPr sz="1300"/>
          </a:p>
        </p:txBody>
      </p:sp>
      <p:sp>
        <p:nvSpPr>
          <p:cNvPr id="4" name="left-h">
            <a:extLst xmlns:a="http://schemas.openxmlformats.org/drawingml/2006/main">
              <a:ext uri="{FF2B5EF4-FFF2-40B4-BE49-F238E27FC236}">
                <a16:creationId xmlns:a16="http://schemas.microsoft.com/office/drawing/2014/main" id="{ECFC056E-57D6-4E82-AB00-DDDD8247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2"/>
                </a:solidFill>
              </a:rPr>
              <a:t>现状与问题</a:t>
            </a:r>
            <a:endParaRPr sz="1500"/>
          </a:p>
        </p:txBody>
      </p:sp>
      <p:sp>
        <p:nvSpPr>
          <p:cNvPr id="5" name="pain-0">
            <a:extLst xmlns:a="http://schemas.openxmlformats.org/drawingml/2006/main">
              <a:ext uri="{FF2B5EF4-FFF2-40B4-BE49-F238E27FC236}">
                <a16:creationId xmlns:a16="http://schemas.microsoft.com/office/drawing/2014/main" id="{7190BD4F-83BE-4076-9844-84309090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5120640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6" name="pain-ic-0-bg">
            <a:extLst xmlns:a="http://schemas.openxmlformats.org/drawingml/2006/main">
              <a:ext uri="{FF2B5EF4-FFF2-40B4-BE49-F238E27FC236}">
                <a16:creationId xmlns:a16="http://schemas.microsoft.com/office/drawing/2014/main" id="{FD60575A-2730-458B-B406-4D31C994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2140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3E5"/>
          </a:solidFill>
          <a:ln xmlns:a="http://schemas.openxmlformats.org/drawingml/2006/main" w="12700">
            <a:solidFill>
              <a:srgbClr val="E3E3E5"/>
            </a:solidFill>
            <a:prstDash val="solid"/>
          </a:ln>
        </p:spPr>
      </p:sp>
      <p:pic>
        <p:nvPicPr>
          <p:cNvPr id="7" name="pain-ic-0">
            <a:extLst xmlns:a="http://schemas.openxmlformats.org/drawingml/2006/main">
              <a:ext uri="{FF2B5EF4-FFF2-40B4-BE49-F238E27FC236}">
                <a16:creationId xmlns:a16="http://schemas.microsoft.com/office/drawing/2014/main" id="{1044FF48-C7C7-472C-869E-63F9ECBAB0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f2ad5dbe744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019" y="2226747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8" name="pain-h-0">
            <a:extLst xmlns:a="http://schemas.openxmlformats.org/drawingml/2006/main">
              <a:ext uri="{FF2B5EF4-FFF2-40B4-BE49-F238E27FC236}">
                <a16:creationId xmlns:a16="http://schemas.microsoft.com/office/drawing/2014/main" id="{CE19BCBA-5071-40F7-A1E8-5CFACE02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01168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覆盖范围有限</a:t>
            </a:r>
            <a:endParaRPr sz="1400"/>
          </a:p>
        </p:txBody>
      </p:sp>
      <p:sp>
        <p:nvSpPr>
          <p:cNvPr id="9" name="pain-b-0">
            <a:extLst xmlns:a="http://schemas.openxmlformats.org/drawingml/2006/main">
              <a:ext uri="{FF2B5EF4-FFF2-40B4-BE49-F238E27FC236}">
                <a16:creationId xmlns:a16="http://schemas.microsoft.com/office/drawing/2014/main" id="{245E3B40-1C0F-4B91-B76D-108B9E9B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04288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代码补全和对话只用于编码，澄清、设计、检视、流水线修复仍需人工衔接</a:t>
            </a:r>
            <a:endParaRPr sz="1200"/>
          </a:p>
        </p:txBody>
      </p:sp>
      <p:sp>
        <p:nvSpPr>
          <p:cNvPr id="10" name="pain-1">
            <a:extLst xmlns:a="http://schemas.openxmlformats.org/drawingml/2006/main">
              <a:ext uri="{FF2B5EF4-FFF2-40B4-BE49-F238E27FC236}">
                <a16:creationId xmlns:a16="http://schemas.microsoft.com/office/drawing/2014/main" id="{31D3D2C9-3D79-40D7-A643-D4EDB4C3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3512"/>
            <a:ext cx="5120640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11" name="pain-ic-1-bg">
            <a:extLst xmlns:a="http://schemas.openxmlformats.org/drawingml/2006/main">
              <a:ext uri="{FF2B5EF4-FFF2-40B4-BE49-F238E27FC236}">
                <a16:creationId xmlns:a16="http://schemas.microsoft.com/office/drawing/2014/main" id="{B3350D43-5236-418E-A639-58251F03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0040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3E5"/>
          </a:solidFill>
          <a:ln xmlns:a="http://schemas.openxmlformats.org/drawingml/2006/main" w="12700">
            <a:solidFill>
              <a:srgbClr val="E3E3E5"/>
            </a:solidFill>
            <a:prstDash val="solid"/>
          </a:ln>
        </p:spPr>
      </p:sp>
      <p:pic>
        <p:nvPicPr>
          <p:cNvPr id="12" name="pain-ic-1">
            <a:extLst xmlns:a="http://schemas.openxmlformats.org/drawingml/2006/main">
              <a:ext uri="{FF2B5EF4-FFF2-40B4-BE49-F238E27FC236}">
                <a16:creationId xmlns:a16="http://schemas.microsoft.com/office/drawing/2014/main" id="{72BC53DA-B8D8-411B-97B7-D5C1804A27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3ad2f23264b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019" y="330573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3" name="pain-h-1">
            <a:extLst xmlns:a="http://schemas.openxmlformats.org/drawingml/2006/main">
              <a:ext uri="{FF2B5EF4-FFF2-40B4-BE49-F238E27FC236}">
                <a16:creationId xmlns:a16="http://schemas.microsoft.com/office/drawing/2014/main" id="{F78552DA-3F26-45B4-819F-EAF8E208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09067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结果需要复核</a:t>
            </a:r>
            <a:endParaRPr sz="1400"/>
          </a:p>
        </p:txBody>
      </p:sp>
      <p:sp>
        <p:nvSpPr>
          <p:cNvPr id="14" name="pain-b-1">
            <a:extLst xmlns:a="http://schemas.openxmlformats.org/drawingml/2006/main">
              <a:ext uri="{FF2B5EF4-FFF2-40B4-BE49-F238E27FC236}">
                <a16:creationId xmlns:a16="http://schemas.microsoft.com/office/drawing/2014/main" id="{565A16CF-CEF3-4CC3-8A21-E1501EEA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38328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AI 报告已完成的工作常与实际情况不符，需要人逐项核对</a:t>
            </a:r>
            <a:endParaRPr sz="1200"/>
          </a:p>
        </p:txBody>
      </p:sp>
      <p:sp>
        <p:nvSpPr>
          <p:cNvPr id="15" name="pain-2">
            <a:extLst xmlns:a="http://schemas.openxmlformats.org/drawingml/2006/main">
              <a:ext uri="{FF2B5EF4-FFF2-40B4-BE49-F238E27FC236}">
                <a16:creationId xmlns:a16="http://schemas.microsoft.com/office/drawing/2014/main" id="{37BB7474-A17E-4549-A6CB-6AB2EAB9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2504"/>
            <a:ext cx="5120640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16" name="pain-ic-2-bg">
            <a:extLst xmlns:a="http://schemas.openxmlformats.org/drawingml/2006/main">
              <a:ext uri="{FF2B5EF4-FFF2-40B4-BE49-F238E27FC236}">
                <a16:creationId xmlns:a16="http://schemas.microsoft.com/office/drawing/2014/main" id="{6087B26E-F6C9-4EE5-A993-7D1F9C15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3E5"/>
          </a:solidFill>
          <a:ln xmlns:a="http://schemas.openxmlformats.org/drawingml/2006/main" w="12700">
            <a:solidFill>
              <a:srgbClr val="E3E3E5"/>
            </a:solidFill>
            <a:prstDash val="solid"/>
          </a:ln>
        </p:spPr>
      </p:sp>
      <p:pic>
        <p:nvPicPr>
          <p:cNvPr id="17" name="pain-ic-2">
            <a:extLst xmlns:a="http://schemas.openxmlformats.org/drawingml/2006/main">
              <a:ext uri="{FF2B5EF4-FFF2-40B4-BE49-F238E27FC236}">
                <a16:creationId xmlns:a16="http://schemas.microsoft.com/office/drawing/2014/main" id="{244A6F2F-69B3-4274-9DC7-236C0A1D8D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1649174ad48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019" y="438473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8" name="pain-h-2">
            <a:extLst xmlns:a="http://schemas.openxmlformats.org/drawingml/2006/main">
              <a:ext uri="{FF2B5EF4-FFF2-40B4-BE49-F238E27FC236}">
                <a16:creationId xmlns:a16="http://schemas.microsoft.com/office/drawing/2014/main" id="{A1EB234D-FBFC-4043-9DCE-CD5D60C1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169664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缺少团队知识</a:t>
            </a:r>
            <a:endParaRPr sz="1400"/>
          </a:p>
        </p:txBody>
      </p:sp>
      <p:sp>
        <p:nvSpPr>
          <p:cNvPr id="19" name="pain-b-2">
            <a:extLst xmlns:a="http://schemas.openxmlformats.org/drawingml/2006/main">
              <a:ext uri="{FF2B5EF4-FFF2-40B4-BE49-F238E27FC236}">
                <a16:creationId xmlns:a16="http://schemas.microsoft.com/office/drawing/2014/main" id="{5658A71F-FA32-4ADD-9070-1F6B147D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462272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AI 不了解自研组件、业务规则和团队经验，容易用错组件或重复实现</a:t>
            </a:r>
            <a:endParaRPr sz="1200"/>
          </a:p>
        </p:txBody>
      </p:sp>
      <p:sp>
        <p:nvSpPr>
          <p:cNvPr id="20" name="pain-3">
            <a:extLst xmlns:a="http://schemas.openxmlformats.org/drawingml/2006/main">
              <a:ext uri="{FF2B5EF4-FFF2-40B4-BE49-F238E27FC236}">
                <a16:creationId xmlns:a16="http://schemas.microsoft.com/office/drawing/2014/main" id="{77B3F71E-A303-4735-A1BF-56BA316D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1496"/>
            <a:ext cx="5120640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21" name="pain-ic-3-bg">
            <a:extLst xmlns:a="http://schemas.openxmlformats.org/drawingml/2006/main">
              <a:ext uri="{FF2B5EF4-FFF2-40B4-BE49-F238E27FC236}">
                <a16:creationId xmlns:a16="http://schemas.microsoft.com/office/drawing/2014/main" id="{6A54B57D-FB22-4690-8969-22340B57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5838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3E5"/>
          </a:solidFill>
          <a:ln xmlns:a="http://schemas.openxmlformats.org/drawingml/2006/main" w="12700">
            <a:solidFill>
              <a:srgbClr val="E3E3E5"/>
            </a:solidFill>
            <a:prstDash val="solid"/>
          </a:ln>
        </p:spPr>
      </p:sp>
      <p:pic>
        <p:nvPicPr>
          <p:cNvPr id="22" name="pain-ic-3">
            <a:extLst xmlns:a="http://schemas.openxmlformats.org/drawingml/2006/main">
              <a:ext uri="{FF2B5EF4-FFF2-40B4-BE49-F238E27FC236}">
                <a16:creationId xmlns:a16="http://schemas.microsoft.com/office/drawing/2014/main" id="{C2DD40AE-1731-4A64-B8E3-A052CB3789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87f5e3f8a40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019" y="546372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3" name="pain-h-3">
            <a:extLst xmlns:a="http://schemas.openxmlformats.org/drawingml/2006/main">
              <a:ext uri="{FF2B5EF4-FFF2-40B4-BE49-F238E27FC236}">
                <a16:creationId xmlns:a16="http://schemas.microsoft.com/office/drawing/2014/main" id="{A9382E5D-D5A8-433A-8DA3-58A11132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248656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问题定位耗时</a:t>
            </a:r>
            <a:endParaRPr sz="1400"/>
          </a:p>
        </p:txBody>
      </p:sp>
      <p:sp>
        <p:nvSpPr>
          <p:cNvPr id="24" name="pain-b-3">
            <a:extLst xmlns:a="http://schemas.openxmlformats.org/drawingml/2006/main">
              <a:ext uri="{FF2B5EF4-FFF2-40B4-BE49-F238E27FC236}">
                <a16:creationId xmlns:a16="http://schemas.microsoft.com/office/drawing/2014/main" id="{3FD9CB02-4CCC-49C8-99AD-E3DEE923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541264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拉日志、换库、复现、建分支等操作占用大量人工时间</a:t>
            </a:r>
            <a:endParaRPr sz="1200"/>
          </a:p>
        </p:txBody>
      </p:sp>
      <p:sp>
        <p:nvSpPr>
          <p:cNvPr id="25" name="arrow">
            <a:extLst xmlns:a="http://schemas.openxmlformats.org/drawingml/2006/main">
              <a:ext uri="{FF2B5EF4-FFF2-40B4-BE49-F238E27FC236}">
                <a16:creationId xmlns:a16="http://schemas.microsoft.com/office/drawing/2014/main" id="{9297881B-779C-41C1-BE4B-6788D0A4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20440"/>
            <a:ext cx="4572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26" name="right-h">
            <a:extLst xmlns:a="http://schemas.openxmlformats.org/drawingml/2006/main">
              <a:ext uri="{FF2B5EF4-FFF2-40B4-BE49-F238E27FC236}">
                <a16:creationId xmlns:a16="http://schemas.microsoft.com/office/drawing/2014/main" id="{C74EFF3B-4B91-441B-B40B-CDAEABFC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17320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accent1"/>
                </a:solidFill>
              </a:rPr>
              <a:t>平台思路</a:t>
            </a:r>
            <a:endParaRPr sz="1500"/>
          </a:p>
        </p:txBody>
      </p:sp>
      <p:sp>
        <p:nvSpPr>
          <p:cNvPr id="27" name="idea-bg">
            <a:extLst xmlns:a="http://schemas.openxmlformats.org/drawingml/2006/main">
              <a:ext uri="{FF2B5EF4-FFF2-40B4-BE49-F238E27FC236}">
                <a16:creationId xmlns:a16="http://schemas.microsoft.com/office/drawing/2014/main" id="{EE310AF6-0F46-440D-A66E-042AE8B3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74520"/>
            <a:ext cx="4892040" cy="4169664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2700">
            <a:solidFill>
              <a:srgbClr val="FBEAEA"/>
            </a:solidFill>
            <a:prstDash val="solid"/>
          </a:ln>
        </p:spPr>
      </p:sp>
      <p:sp>
        <p:nvSpPr>
          <p:cNvPr id="28" name="idea-m-0">
            <a:extLst xmlns:a="http://schemas.openxmlformats.org/drawingml/2006/main">
              <a:ext uri="{FF2B5EF4-FFF2-40B4-BE49-F238E27FC236}">
                <a16:creationId xmlns:a16="http://schemas.microsoft.com/office/drawing/2014/main" id="{AD1312F5-CF99-4825-B7CA-D306B026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1671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29" name="idea-h-0">
            <a:extLst xmlns:a="http://schemas.openxmlformats.org/drawingml/2006/main">
              <a:ext uri="{FF2B5EF4-FFF2-40B4-BE49-F238E27FC236}">
                <a16:creationId xmlns:a16="http://schemas.microsoft.com/office/drawing/2014/main" id="{536C6457-3147-40F1-9368-5AF8E7C8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093976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按阶段推进</a:t>
            </a:r>
            <a:endParaRPr sz="1400"/>
          </a:p>
        </p:txBody>
      </p:sp>
      <p:sp>
        <p:nvSpPr>
          <p:cNvPr id="30" name="idea-b-0">
            <a:extLst xmlns:a="http://schemas.openxmlformats.org/drawingml/2006/main">
              <a:ext uri="{FF2B5EF4-FFF2-40B4-BE49-F238E27FC236}">
                <a16:creationId xmlns:a16="http://schemas.microsoft.com/office/drawing/2014/main" id="{6769F1DA-32C9-4B21-BDC6-A7DB4379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404872"/>
            <a:ext cx="4160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每个阶段规定目标和完成条件，由 AI 调用工具完成</a:t>
            </a:r>
            <a:endParaRPr sz="1200"/>
          </a:p>
        </p:txBody>
      </p:sp>
      <p:sp>
        <p:nvSpPr>
          <p:cNvPr id="31" name="idea-m-1">
            <a:extLst xmlns:a="http://schemas.openxmlformats.org/drawingml/2006/main">
              <a:ext uri="{FF2B5EF4-FFF2-40B4-BE49-F238E27FC236}">
                <a16:creationId xmlns:a16="http://schemas.microsoft.com/office/drawing/2014/main" id="{A54C5F29-98A1-492A-A10C-A2F74BEA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154680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32" name="idea-h-1">
            <a:extLst xmlns:a="http://schemas.openxmlformats.org/drawingml/2006/main">
              <a:ext uri="{FF2B5EF4-FFF2-40B4-BE49-F238E27FC236}">
                <a16:creationId xmlns:a16="http://schemas.microsoft.com/office/drawing/2014/main" id="{16DBD48C-4026-4F27-868A-F3402718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081528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关键节点由人确认</a:t>
            </a:r>
            <a:endParaRPr sz="1400"/>
          </a:p>
        </p:txBody>
      </p:sp>
      <p:sp>
        <p:nvSpPr>
          <p:cNvPr id="33" name="idea-b-1">
            <a:extLst xmlns:a="http://schemas.openxmlformats.org/drawingml/2006/main">
              <a:ext uri="{FF2B5EF4-FFF2-40B4-BE49-F238E27FC236}">
                <a16:creationId xmlns:a16="http://schemas.microsoft.com/office/drawing/2014/main" id="{91F01449-9C91-4721-B344-15E0F1DD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392424"/>
            <a:ext cx="4160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澄清问题、拆分方案、推送前检视以卡片形式交给人确认；人可以随时接手</a:t>
            </a:r>
            <a:endParaRPr sz="1200"/>
          </a:p>
        </p:txBody>
      </p:sp>
      <p:sp>
        <p:nvSpPr>
          <p:cNvPr id="34" name="idea-m-2">
            <a:extLst xmlns:a="http://schemas.openxmlformats.org/drawingml/2006/main">
              <a:ext uri="{FF2B5EF4-FFF2-40B4-BE49-F238E27FC236}">
                <a16:creationId xmlns:a16="http://schemas.microsoft.com/office/drawing/2014/main" id="{31D394DC-04DF-4E2B-96B5-C0817512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142232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35" name="idea-h-2">
            <a:extLst xmlns:a="http://schemas.openxmlformats.org/drawingml/2006/main">
              <a:ext uri="{FF2B5EF4-FFF2-40B4-BE49-F238E27FC236}">
                <a16:creationId xmlns:a16="http://schemas.microsoft.com/office/drawing/2014/main" id="{898B5803-83FC-4324-8015-0DF1A5EC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069080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以 CodeHub 的实际状态为准</a:t>
            </a:r>
            <a:endParaRPr sz="1400"/>
          </a:p>
        </p:txBody>
      </p:sp>
      <p:sp>
        <p:nvSpPr>
          <p:cNvPr id="36" name="idea-b-2">
            <a:extLst xmlns:a="http://schemas.openxmlformats.org/drawingml/2006/main">
              <a:ext uri="{FF2B5EF4-FFF2-40B4-BE49-F238E27FC236}">
                <a16:creationId xmlns:a16="http://schemas.microsoft.com/office/drawing/2014/main" id="{686F133E-FA10-4553-8162-6CBE429B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379976"/>
            <a:ext cx="4160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推送、MR 和流水线结果以 CodeHub 为准，并对应到具体提交</a:t>
            </a:r>
            <a:endParaRPr sz="1200"/>
          </a:p>
        </p:txBody>
      </p:sp>
      <p:sp>
        <p:nvSpPr>
          <p:cNvPr id="37" name="idea-m-3">
            <a:extLst xmlns:a="http://schemas.openxmlformats.org/drawingml/2006/main">
              <a:ext uri="{FF2B5EF4-FFF2-40B4-BE49-F238E27FC236}">
                <a16:creationId xmlns:a16="http://schemas.microsoft.com/office/drawing/2014/main" id="{A1797E50-C42D-4D64-BDFB-28912052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129784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38" name="idea-h-3">
            <a:extLst xmlns:a="http://schemas.openxmlformats.org/drawingml/2006/main">
              <a:ext uri="{FF2B5EF4-FFF2-40B4-BE49-F238E27FC236}">
                <a16:creationId xmlns:a16="http://schemas.microsoft.com/office/drawing/2014/main" id="{D4289C7C-F26B-46C3-8F20-47653ED5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056632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团队知识纳入流程</a:t>
            </a:r>
            <a:endParaRPr sz="1400"/>
          </a:p>
        </p:txBody>
      </p:sp>
      <p:sp>
        <p:nvSpPr>
          <p:cNvPr id="39" name="idea-b-3">
            <a:extLst xmlns:a="http://schemas.openxmlformats.org/drawingml/2006/main">
              <a:ext uri="{FF2B5EF4-FFF2-40B4-BE49-F238E27FC236}">
                <a16:creationId xmlns:a16="http://schemas.microsoft.com/office/drawing/2014/main" id="{27D13A6C-9D26-4E16-80D1-263C1451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367528"/>
            <a:ext cx="4160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团队知识经研究和审查后入库，在需求开发中按需提供给 AI</a:t>
            </a:r>
            <a:endParaRPr sz="1200"/>
          </a:p>
        </p:txBody>
      </p:sp>
      <p:sp>
        <p:nvSpPr>
          <p:cNvPr id="4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3E1FB0F-E1BD-4DCC-9041-F49221DDC01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9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fld id="{EFD6AB9A-5F9E-5F59-51AB-3C8734130965}" type="slidenum"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58190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0A1A9DDA-50FC-4C29-A4E9-FAF861788007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85800" y="27432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chemeClr val="accent1"/>
                </a:solidFill>
              </a:rPr>
              <a:t>统一底座：</a:t>
            </a:r>
            <a:r>
              <a:rPr sz="2400" b="1">
                <a:solidFill>
                  <a:schemeClr val="tx1"/>
                </a:solidFill>
              </a:rPr>
              <a:t>需求、问题单、知识共用执行与管控能力</a:t>
            </a:r>
            <a:endParaRPr sz="2400"/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5803F281-0836-45AE-B32E-5D9451A13AA9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685800" y="768096"/>
            <a:ext cx="10881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chemeClr val="tx2"/>
                </a:solidFill>
              </a:rPr>
              <a:t>三类工作的处理方式不同，但都在隔离容器中执行，都由人在关键节点确认</a:t>
            </a:r>
            <a:endParaRPr sz="1300"/>
          </a:p>
        </p:txBody>
      </p:sp>
      <p:pic>
        <p:nvPicPr>
          <p:cNvPr id="4" name="diagram-platform">
            <a:extLst xmlns:a="http://schemas.openxmlformats.org/drawingml/2006/main">
              <a:ext uri="{FF2B5EF4-FFF2-40B4-BE49-F238E27FC236}">
                <a16:creationId xmlns:a16="http://schemas.microsoft.com/office/drawing/2014/main" id="{7A07210D-EC64-4C4D-847C-B1112664A8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04e72928f4d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483" y="1261872"/>
            <a:ext cx="10358730" cy="4160520"/>
          </a:xfrm>
          <a:prstGeom xmlns:a="http://schemas.openxmlformats.org/drawingml/2006/main" prst="rect">
            <a:avLst/>
          </a:prstGeom>
        </p:spPr>
      </p:pic>
      <p:sp>
        <p:nvSpPr>
          <p:cNvPr id="5" name="base-h">
            <a:extLst xmlns:a="http://schemas.openxmlformats.org/drawingml/2006/main">
              <a:ext uri="{FF2B5EF4-FFF2-40B4-BE49-F238E27FC236}">
                <a16:creationId xmlns:a16="http://schemas.microsoft.com/office/drawing/2014/main" id="{96CBF86A-58F9-4313-82E6-0FB1DAD2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972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chemeClr val="bg1"/>
                </a:solidFill>
              </a:rPr>
              <a:t>共用能力</a:t>
            </a:r>
            <a:endParaRPr sz="1500"/>
          </a:p>
        </p:txBody>
      </p:sp>
      <p:sp>
        <p:nvSpPr>
          <p:cNvPr id="6" name="base-0">
            <a:extLst xmlns:a="http://schemas.openxmlformats.org/drawingml/2006/main">
              <a:ext uri="{FF2B5EF4-FFF2-40B4-BE49-F238E27FC236}">
                <a16:creationId xmlns:a16="http://schemas.microsoft.com/office/drawing/2014/main" id="{EF448E32-F6D5-47FA-BEB5-852D3D8B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486400"/>
            <a:ext cx="1829349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EDEF"/>
          </a:solidFill>
          <a:ln xmlns:a="http://schemas.openxmlformats.org/drawingml/2006/main" w="12700">
            <a:solidFill>
              <a:srgbClr val="EDEDEF"/>
            </a:solidFill>
            <a:prstDash val="solid"/>
          </a:ln>
        </p:spPr>
      </p:sp>
      <p:sp>
        <p:nvSpPr>
          <p:cNvPr id="7" name="base-h-0">
            <a:extLst xmlns:a="http://schemas.openxmlformats.org/drawingml/2006/main">
              <a:ext uri="{FF2B5EF4-FFF2-40B4-BE49-F238E27FC236}">
                <a16:creationId xmlns:a16="http://schemas.microsoft.com/office/drawing/2014/main" id="{2DB336D9-F499-4E0B-BDE4-BB87C16E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5559552"/>
            <a:ext cx="168304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容器隔离</a:t>
            </a:r>
            <a:endParaRPr sz="1300"/>
          </a:p>
        </p:txBody>
      </p:sp>
      <p:sp>
        <p:nvSpPr>
          <p:cNvPr id="8" name="base-b-0">
            <a:extLst xmlns:a="http://schemas.openxmlformats.org/drawingml/2006/main">
              <a:ext uri="{FF2B5EF4-FFF2-40B4-BE49-F238E27FC236}">
                <a16:creationId xmlns:a16="http://schemas.microsoft.com/office/drawing/2014/main" id="{3FAA1B8F-2ED8-453C-B2CC-8B67D483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70448"/>
            <a:ext cx="155502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chemeClr val="tx2"/>
                </a:solidFill>
              </a:rPr>
              <a:t>AI 执行的命令全部在任务容器中运行</a:t>
            </a:r>
            <a:endParaRPr sz="1150"/>
          </a:p>
        </p:txBody>
      </p:sp>
      <p:sp>
        <p:nvSpPr>
          <p:cNvPr id="9" name="base-1">
            <a:extLst xmlns:a="http://schemas.openxmlformats.org/drawingml/2006/main">
              <a:ext uri="{FF2B5EF4-FFF2-40B4-BE49-F238E27FC236}">
                <a16:creationId xmlns:a16="http://schemas.microsoft.com/office/drawing/2014/main" id="{00A9F90A-9051-4C9F-A9CD-226DE484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317" y="5486400"/>
            <a:ext cx="1829349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EDEF"/>
          </a:solidFill>
          <a:ln xmlns:a="http://schemas.openxmlformats.org/drawingml/2006/main" w="12700">
            <a:solidFill>
              <a:srgbClr val="EDEDEF"/>
            </a:solidFill>
            <a:prstDash val="solid"/>
          </a:ln>
        </p:spPr>
      </p:sp>
      <p:sp>
        <p:nvSpPr>
          <p:cNvPr id="10" name="base-h-1">
            <a:extLst xmlns:a="http://schemas.openxmlformats.org/drawingml/2006/main">
              <a:ext uri="{FF2B5EF4-FFF2-40B4-BE49-F238E27FC236}">
                <a16:creationId xmlns:a16="http://schemas.microsoft.com/office/drawing/2014/main" id="{A712E0A5-F875-47C5-B31E-8BBF87B8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469" y="5559552"/>
            <a:ext cx="168304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阶段管理</a:t>
            </a:r>
            <a:endParaRPr sz="1300"/>
          </a:p>
        </p:txBody>
      </p:sp>
      <p:sp>
        <p:nvSpPr>
          <p:cNvPr id="11" name="base-b-1">
            <a:extLst xmlns:a="http://schemas.openxmlformats.org/drawingml/2006/main">
              <a:ext uri="{FF2B5EF4-FFF2-40B4-BE49-F238E27FC236}">
                <a16:creationId xmlns:a16="http://schemas.microsoft.com/office/drawing/2014/main" id="{FCA628D5-ADB3-4ABE-9932-292A4804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477" y="5870448"/>
            <a:ext cx="155502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chemeClr val="tx2"/>
                </a:solidFill>
              </a:rPr>
              <a:t>每个阶段有完成条件和人工确认点</a:t>
            </a:r>
            <a:endParaRPr sz="1150"/>
          </a:p>
        </p:txBody>
      </p:sp>
      <p:sp>
        <p:nvSpPr>
          <p:cNvPr id="12" name="base-2">
            <a:extLst xmlns:a="http://schemas.openxmlformats.org/drawingml/2006/main">
              <a:ext uri="{FF2B5EF4-FFF2-40B4-BE49-F238E27FC236}">
                <a16:creationId xmlns:a16="http://schemas.microsoft.com/office/drawing/2014/main" id="{F8E2256E-569C-4E13-B8F8-55BA35D3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393" y="5486400"/>
            <a:ext cx="1829349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EDEF"/>
          </a:solidFill>
          <a:ln xmlns:a="http://schemas.openxmlformats.org/drawingml/2006/main" w="12700">
            <a:solidFill>
              <a:srgbClr val="EDEDEF"/>
            </a:solidFill>
            <a:prstDash val="solid"/>
          </a:ln>
        </p:spPr>
      </p:sp>
      <p:sp>
        <p:nvSpPr>
          <p:cNvPr id="13" name="base-h-2">
            <a:extLst xmlns:a="http://schemas.openxmlformats.org/drawingml/2006/main">
              <a:ext uri="{FF2B5EF4-FFF2-40B4-BE49-F238E27FC236}">
                <a16:creationId xmlns:a16="http://schemas.microsoft.com/office/drawing/2014/main" id="{885C5C16-A960-46AA-B74A-B7BB9694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545" y="5559552"/>
            <a:ext cx="168304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以 CodeHub 为准</a:t>
            </a:r>
            <a:endParaRPr sz="1300"/>
          </a:p>
        </p:txBody>
      </p:sp>
      <p:sp>
        <p:nvSpPr>
          <p:cNvPr id="14" name="base-b-2">
            <a:extLst xmlns:a="http://schemas.openxmlformats.org/drawingml/2006/main">
              <a:ext uri="{FF2B5EF4-FFF2-40B4-BE49-F238E27FC236}">
                <a16:creationId xmlns:a16="http://schemas.microsoft.com/office/drawing/2014/main" id="{CF49DC53-CAF0-469E-823D-11E3BBFB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553" y="5870448"/>
            <a:ext cx="155502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chemeClr val="tx2"/>
                </a:solidFill>
              </a:rPr>
              <a:t>推送、MR、流水线结果对应到具体提交</a:t>
            </a:r>
            <a:endParaRPr sz="1150"/>
          </a:p>
        </p:txBody>
      </p:sp>
      <p:sp>
        <p:nvSpPr>
          <p:cNvPr id="15" name="base-3">
            <a:extLst xmlns:a="http://schemas.openxmlformats.org/drawingml/2006/main">
              <a:ext uri="{FF2B5EF4-FFF2-40B4-BE49-F238E27FC236}">
                <a16:creationId xmlns:a16="http://schemas.microsoft.com/office/drawing/2014/main" id="{84DF0910-5570-4016-93AE-1471EF79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7470" y="5486400"/>
            <a:ext cx="1829349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EDEF"/>
          </a:solidFill>
          <a:ln xmlns:a="http://schemas.openxmlformats.org/drawingml/2006/main" w="12700">
            <a:solidFill>
              <a:srgbClr val="EDEDEF"/>
            </a:solidFill>
            <a:prstDash val="solid"/>
          </a:ln>
        </p:spPr>
      </p:sp>
      <p:sp>
        <p:nvSpPr>
          <p:cNvPr id="16" name="base-h-3">
            <a:extLst xmlns:a="http://schemas.openxmlformats.org/drawingml/2006/main">
              <a:ext uri="{FF2B5EF4-FFF2-40B4-BE49-F238E27FC236}">
                <a16:creationId xmlns:a16="http://schemas.microsoft.com/office/drawing/2014/main" id="{19BC5F5E-B558-4228-8F48-533F3B0B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622" y="5559552"/>
            <a:ext cx="168304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等待有时限</a:t>
            </a:r>
            <a:endParaRPr sz="1300"/>
          </a:p>
        </p:txBody>
      </p:sp>
      <p:sp>
        <p:nvSpPr>
          <p:cNvPr id="17" name="base-b-3">
            <a:extLst xmlns:a="http://schemas.openxmlformats.org/drawingml/2006/main">
              <a:ext uri="{FF2B5EF4-FFF2-40B4-BE49-F238E27FC236}">
                <a16:creationId xmlns:a16="http://schemas.microsoft.com/office/drawing/2014/main" id="{5789716F-0D31-493E-96D3-ECEB15DA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630" y="5870448"/>
            <a:ext cx="155502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chemeClr val="tx2"/>
                </a:solidFill>
              </a:rPr>
              <a:t>所有等待都设时限，超时交给人处理</a:t>
            </a:r>
            <a:endParaRPr sz="1150"/>
          </a:p>
        </p:txBody>
      </p:sp>
      <p:sp>
        <p:nvSpPr>
          <p:cNvPr id="18" name="base-4">
            <a:extLst xmlns:a="http://schemas.openxmlformats.org/drawingml/2006/main">
              <a:ext uri="{FF2B5EF4-FFF2-40B4-BE49-F238E27FC236}">
                <a16:creationId xmlns:a16="http://schemas.microsoft.com/office/drawing/2014/main" id="{C6629581-3D42-4B99-9DF2-A6222400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547" y="5486400"/>
            <a:ext cx="1829349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EDEF"/>
          </a:solidFill>
          <a:ln xmlns:a="http://schemas.openxmlformats.org/drawingml/2006/main" w="12700">
            <a:solidFill>
              <a:srgbClr val="EDEDEF"/>
            </a:solidFill>
            <a:prstDash val="solid"/>
          </a:ln>
        </p:spPr>
      </p:sp>
      <p:sp>
        <p:nvSpPr>
          <p:cNvPr id="19" name="base-h-4">
            <a:extLst xmlns:a="http://schemas.openxmlformats.org/drawingml/2006/main">
              <a:ext uri="{FF2B5EF4-FFF2-40B4-BE49-F238E27FC236}">
                <a16:creationId xmlns:a16="http://schemas.microsoft.com/office/drawing/2014/main" id="{9194970F-942E-42FB-BB9F-55FA67B3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699" y="5559552"/>
            <a:ext cx="168304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过程留痕</a:t>
            </a:r>
            <a:endParaRPr sz="1300"/>
          </a:p>
        </p:txBody>
      </p:sp>
      <p:sp>
        <p:nvSpPr>
          <p:cNvPr id="20" name="base-b-4">
            <a:extLst xmlns:a="http://schemas.openxmlformats.org/drawingml/2006/main">
              <a:ext uri="{FF2B5EF4-FFF2-40B4-BE49-F238E27FC236}">
                <a16:creationId xmlns:a16="http://schemas.microsoft.com/office/drawing/2014/main" id="{DDA142F4-5438-48EB-BCD0-2EDBD1DA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07" y="5870448"/>
            <a:ext cx="155502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chemeClr val="tx2"/>
                </a:solidFill>
              </a:rPr>
              <a:t>批注、决定和执行日志均可查询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2141881-3AC5-4133-B14B-0F2F9322C27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9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fld id="{EE5B3003-2C54-13C6-9832-7637201064DE}" type="slidenum"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310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0F166215-843F-4135-8107-84D0DC2557F7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85800" y="27432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chemeClr val="accent1"/>
                </a:solidFill>
              </a:rPr>
              <a:t>人机协同：</a:t>
            </a:r>
            <a:r>
              <a:rPr sz="2400" b="1">
                <a:solidFill>
                  <a:schemeClr val="tx1"/>
                </a:solidFill>
              </a:rPr>
              <a:t>七个阶段由 AI 推进，人在三处确认</a:t>
            </a:r>
            <a:endParaRPr sz="2400"/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B274239A-9E41-4994-BCF1-FFC2B78E9793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685800" y="768096"/>
            <a:ext cx="10881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chemeClr val="tx2"/>
                </a:solidFill>
              </a:rPr>
              <a:t>每个阶段有明确的完成条件，AI 自行调用工具推进；需要人确认时在页面上以卡片形式提出，确认后继续执行</a:t>
            </a:r>
            <a:endParaRPr sz="1300"/>
          </a:p>
        </p:txBody>
      </p:sp>
      <p:sp>
        <p:nvSpPr>
          <p:cNvPr id="4" name="phase-line">
            <a:extLst xmlns:a="http://schemas.openxmlformats.org/drawingml/2006/main">
              <a:ext uri="{FF2B5EF4-FFF2-40B4-BE49-F238E27FC236}">
                <a16:creationId xmlns:a16="http://schemas.microsoft.com/office/drawing/2014/main" id="{82F342D8-4CB7-4DB4-B2A8-D05FBB3E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28800"/>
            <a:ext cx="10104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3"/>
            </a:solidFill>
            <a:prstDash val="solid"/>
          </a:ln>
        </p:spPr>
      </p:sp>
      <p:sp>
        <p:nvSpPr>
          <p:cNvPr id="5" name="phase-done">
            <a:extLst xmlns:a="http://schemas.openxmlformats.org/drawingml/2006/main">
              <a:ext uri="{FF2B5EF4-FFF2-40B4-BE49-F238E27FC236}">
                <a16:creationId xmlns:a16="http://schemas.microsoft.com/office/drawing/2014/main" id="{71B94F31-6EE8-42C9-B0FA-C837C5B3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28800"/>
            <a:ext cx="10104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chemeClr val="accent1"/>
            </a:solidFill>
            <a:prstDash val="solid"/>
          </a:ln>
        </p:spPr>
      </p:sp>
      <p:sp>
        <p:nvSpPr>
          <p:cNvPr id="6" name="phase-n0">
            <a:extLst xmlns:a="http://schemas.openxmlformats.org/drawingml/2006/main">
              <a:ext uri="{FF2B5EF4-FFF2-40B4-BE49-F238E27FC236}">
                <a16:creationId xmlns:a16="http://schemas.microsoft.com/office/drawing/2014/main" id="{73B434A1-951A-4B35-A8BA-3BD671FD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17282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accent1"/>
            </a:solidFill>
            <a:prstDash val="solid"/>
          </a:ln>
        </p:spPr>
      </p:sp>
      <p:sp>
        <p:nvSpPr>
          <p:cNvPr id="7" name="phase-n1">
            <a:extLst xmlns:a="http://schemas.openxmlformats.org/drawingml/2006/main">
              <a:ext uri="{FF2B5EF4-FFF2-40B4-BE49-F238E27FC236}">
                <a16:creationId xmlns:a16="http://schemas.microsoft.com/office/drawing/2014/main" id="{CC758BB5-877E-46BA-A9DA-16514CEB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996" y="17282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accent1"/>
            </a:solidFill>
            <a:prstDash val="solid"/>
          </a:ln>
        </p:spPr>
      </p:sp>
      <p:sp>
        <p:nvSpPr>
          <p:cNvPr id="8" name="phase-n2">
            <a:extLst xmlns:a="http://schemas.openxmlformats.org/drawingml/2006/main">
              <a:ext uri="{FF2B5EF4-FFF2-40B4-BE49-F238E27FC236}">
                <a16:creationId xmlns:a16="http://schemas.microsoft.com/office/drawing/2014/main" id="{9E773A6C-42CC-4261-A0E4-3A661F84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282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accent1"/>
            </a:solidFill>
            <a:prstDash val="solid"/>
          </a:ln>
        </p:spPr>
      </p:sp>
      <p:sp>
        <p:nvSpPr>
          <p:cNvPr id="9" name="phase-n3">
            <a:extLst xmlns:a="http://schemas.openxmlformats.org/drawingml/2006/main">
              <a:ext uri="{FF2B5EF4-FFF2-40B4-BE49-F238E27FC236}">
                <a16:creationId xmlns:a16="http://schemas.microsoft.com/office/drawing/2014/main" id="{926871C3-772A-4AB4-BA51-E30846E5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17282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accent1"/>
            </a:solidFill>
            <a:prstDash val="solid"/>
          </a:ln>
        </p:spPr>
      </p:sp>
      <p:sp>
        <p:nvSpPr>
          <p:cNvPr id="10" name="phase-n4">
            <a:extLst xmlns:a="http://schemas.openxmlformats.org/drawingml/2006/main">
              <a:ext uri="{FF2B5EF4-FFF2-40B4-BE49-F238E27FC236}">
                <a16:creationId xmlns:a16="http://schemas.microsoft.com/office/drawing/2014/main" id="{75B93527-D739-4EC9-BF32-7B252CA1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056" y="17282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accent1"/>
            </a:solidFill>
            <a:prstDash val="solid"/>
          </a:ln>
        </p:spPr>
      </p:sp>
      <p:sp>
        <p:nvSpPr>
          <p:cNvPr id="11" name="phase-n5">
            <a:extLst xmlns:a="http://schemas.openxmlformats.org/drawingml/2006/main">
              <a:ext uri="{FF2B5EF4-FFF2-40B4-BE49-F238E27FC236}">
                <a16:creationId xmlns:a16="http://schemas.microsoft.com/office/drawing/2014/main" id="{257C596C-8F44-4244-BE9E-372A4581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76" y="17282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accent1"/>
            </a:solidFill>
            <a:prstDash val="solid"/>
          </a:ln>
        </p:spPr>
      </p:sp>
      <p:sp>
        <p:nvSpPr>
          <p:cNvPr id="12" name="phase-n6">
            <a:extLst xmlns:a="http://schemas.openxmlformats.org/drawingml/2006/main">
              <a:ext uri="{FF2B5EF4-FFF2-40B4-BE49-F238E27FC236}">
                <a16:creationId xmlns:a16="http://schemas.microsoft.com/office/drawing/2014/main" id="{5925A61E-DE1C-4CB2-BABC-AB6B0FD5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5096" y="17282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accent1"/>
            </a:solidFill>
            <a:prstDash val="solid"/>
          </a:ln>
        </p:spPr>
      </p:sp>
      <p:sp>
        <p:nvSpPr>
          <p:cNvPr id="13" name="ph-h-0">
            <a:extLst xmlns:a="http://schemas.openxmlformats.org/drawingml/2006/main">
              <a:ext uri="{FF2B5EF4-FFF2-40B4-BE49-F238E27FC236}">
                <a16:creationId xmlns:a16="http://schemas.microsoft.com/office/drawing/2014/main" id="{2C8BD664-69FC-41EF-AA57-14CF9EBF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29968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启动</a:t>
            </a:r>
            <a:endParaRPr sz="1300"/>
          </a:p>
        </p:txBody>
      </p:sp>
      <p:sp>
        <p:nvSpPr>
          <p:cNvPr id="14" name="ph-b-0">
            <a:extLst xmlns:a="http://schemas.openxmlformats.org/drawingml/2006/main">
              <a:ext uri="{FF2B5EF4-FFF2-40B4-BE49-F238E27FC236}">
                <a16:creationId xmlns:a16="http://schemas.microsoft.com/office/drawing/2014/main" id="{A95F1A00-8EC9-4F0C-8B5D-460721DF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340864"/>
            <a:ext cx="142646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chemeClr val="tx2"/>
                </a:solidFill>
              </a:rPr>
              <a:t>拉取代码、创建分支，预编译，加载团队 Skill</a:t>
            </a:r>
            <a:endParaRPr sz="1050"/>
          </a:p>
        </p:txBody>
      </p:sp>
      <p:sp>
        <p:nvSpPr>
          <p:cNvPr id="15" name="ph-h-1">
            <a:extLst xmlns:a="http://schemas.openxmlformats.org/drawingml/2006/main">
              <a:ext uri="{FF2B5EF4-FFF2-40B4-BE49-F238E27FC236}">
                <a16:creationId xmlns:a16="http://schemas.microsoft.com/office/drawing/2014/main" id="{2E6F7D33-FBBA-40F8-A7B5-7AB9096B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060" y="2029968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澄清需求</a:t>
            </a:r>
            <a:endParaRPr sz="1300"/>
          </a:p>
        </p:txBody>
      </p:sp>
      <p:sp>
        <p:nvSpPr>
          <p:cNvPr id="16" name="ph-b-1">
            <a:extLst xmlns:a="http://schemas.openxmlformats.org/drawingml/2006/main">
              <a:ext uri="{FF2B5EF4-FFF2-40B4-BE49-F238E27FC236}">
                <a16:creationId xmlns:a16="http://schemas.microsoft.com/office/drawing/2014/main" id="{B0A16C07-98E0-42DA-923A-98CA5782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348" y="2340864"/>
            <a:ext cx="142646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chemeClr val="tx2"/>
                </a:solidFill>
              </a:rPr>
              <a:t>阅读需求，有疑问时向人提问</a:t>
            </a:r>
            <a:endParaRPr sz="1050"/>
          </a:p>
        </p:txBody>
      </p:sp>
      <p:sp>
        <p:nvSpPr>
          <p:cNvPr id="17" name="ph-human-1-bg">
            <a:extLst xmlns:a="http://schemas.openxmlformats.org/drawingml/2006/main">
              <a:ext uri="{FF2B5EF4-FFF2-40B4-BE49-F238E27FC236}">
                <a16:creationId xmlns:a16="http://schemas.microsoft.com/office/drawing/2014/main" id="{8822842C-472F-4D1A-AF45-4D199154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325880"/>
            <a:ext cx="1097280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8" name="ph-human-1">
            <a:extLst xmlns:a="http://schemas.openxmlformats.org/drawingml/2006/main">
              <a:ext uri="{FF2B5EF4-FFF2-40B4-BE49-F238E27FC236}">
                <a16:creationId xmlns:a16="http://schemas.microsoft.com/office/drawing/2014/main" id="{A3D3301E-63BF-409F-8D49-53124191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325880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chemeClr val="bg1"/>
                </a:solidFill>
              </a:rPr>
              <a:t>人工确认</a:t>
            </a:r>
            <a:endParaRPr sz="1050"/>
          </a:p>
        </p:txBody>
      </p:sp>
      <p:sp>
        <p:nvSpPr>
          <p:cNvPr id="19" name="ph-h-2">
            <a:extLst xmlns:a="http://schemas.openxmlformats.org/drawingml/2006/main">
              <a:ext uri="{FF2B5EF4-FFF2-40B4-BE49-F238E27FC236}">
                <a16:creationId xmlns:a16="http://schemas.microsoft.com/office/drawing/2014/main" id="{BDDEC4EA-2632-4E68-BA19-54259D79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80" y="2029968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定规格</a:t>
            </a:r>
            <a:endParaRPr sz="1300"/>
          </a:p>
        </p:txBody>
      </p:sp>
      <p:sp>
        <p:nvSpPr>
          <p:cNvPr id="20" name="ph-b-2">
            <a:extLst xmlns:a="http://schemas.openxmlformats.org/drawingml/2006/main">
              <a:ext uri="{FF2B5EF4-FFF2-40B4-BE49-F238E27FC236}">
                <a16:creationId xmlns:a16="http://schemas.microsoft.com/office/drawing/2014/main" id="{85A46CB8-549C-486B-B710-34B1FA9C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368" y="2340864"/>
            <a:ext cx="142646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chemeClr val="tx2"/>
                </a:solidFill>
              </a:rPr>
              <a:t>编写规格说明，验收条件逐条编号</a:t>
            </a:r>
            <a:endParaRPr sz="1050"/>
          </a:p>
        </p:txBody>
      </p:sp>
      <p:sp>
        <p:nvSpPr>
          <p:cNvPr id="21" name="ph-human-2-bg">
            <a:extLst xmlns:a="http://schemas.openxmlformats.org/drawingml/2006/main">
              <a:ext uri="{FF2B5EF4-FFF2-40B4-BE49-F238E27FC236}">
                <a16:creationId xmlns:a16="http://schemas.microsoft.com/office/drawing/2014/main" id="{60ACB292-BAF2-4F9B-9931-F23F3B0A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960" y="1325880"/>
            <a:ext cx="1097280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22" name="ph-human-2">
            <a:extLst xmlns:a="http://schemas.openxmlformats.org/drawingml/2006/main">
              <a:ext uri="{FF2B5EF4-FFF2-40B4-BE49-F238E27FC236}">
                <a16:creationId xmlns:a16="http://schemas.microsoft.com/office/drawing/2014/main" id="{C9115A47-7BDE-4639-9B5D-2773D8F1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960" y="1325880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chemeClr val="bg1"/>
                </a:solidFill>
              </a:rPr>
              <a:t>人工确认</a:t>
            </a:r>
            <a:endParaRPr sz="1050"/>
          </a:p>
        </p:txBody>
      </p:sp>
      <p:sp>
        <p:nvSpPr>
          <p:cNvPr id="23" name="ph-h-3">
            <a:extLst xmlns:a="http://schemas.openxmlformats.org/drawingml/2006/main">
              <a:ext uri="{FF2B5EF4-FFF2-40B4-BE49-F238E27FC236}">
                <a16:creationId xmlns:a16="http://schemas.microsoft.com/office/drawing/2014/main" id="{334882CE-BF86-4E81-942C-9917863B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29968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写设计</a:t>
            </a:r>
            <a:endParaRPr sz="1300"/>
          </a:p>
        </p:txBody>
      </p:sp>
      <p:sp>
        <p:nvSpPr>
          <p:cNvPr id="24" name="ph-b-3">
            <a:extLst xmlns:a="http://schemas.openxmlformats.org/drawingml/2006/main">
              <a:ext uri="{FF2B5EF4-FFF2-40B4-BE49-F238E27FC236}">
                <a16:creationId xmlns:a16="http://schemas.microsoft.com/office/drawing/2014/main" id="{E2E79752-08BF-439C-80EC-E60AD1C6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388" y="2340864"/>
            <a:ext cx="142646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chemeClr val="tx2"/>
                </a:solidFill>
              </a:rPr>
              <a:t>编写 4+1 视图设计和架构图，制定组件选用计划</a:t>
            </a:r>
            <a:endParaRPr sz="1050"/>
          </a:p>
        </p:txBody>
      </p:sp>
      <p:sp>
        <p:nvSpPr>
          <p:cNvPr id="25" name="ph-h-4">
            <a:extLst xmlns:a="http://schemas.openxmlformats.org/drawingml/2006/main">
              <a:ext uri="{FF2B5EF4-FFF2-40B4-BE49-F238E27FC236}">
                <a16:creationId xmlns:a16="http://schemas.microsoft.com/office/drawing/2014/main" id="{F8CD9A0A-AD97-4F25-A10F-75C705E7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120" y="2029968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写代码</a:t>
            </a:r>
            <a:endParaRPr sz="1300"/>
          </a:p>
        </p:txBody>
      </p:sp>
      <p:sp>
        <p:nvSpPr>
          <p:cNvPr id="26" name="ph-b-4">
            <a:extLst xmlns:a="http://schemas.openxmlformats.org/drawingml/2006/main">
              <a:ext uri="{FF2B5EF4-FFF2-40B4-BE49-F238E27FC236}">
                <a16:creationId xmlns:a16="http://schemas.microsoft.com/office/drawing/2014/main" id="{7A8436E2-CE53-4DE4-9DB4-166D88BB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408" y="2340864"/>
            <a:ext cx="142646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chemeClr val="tx2"/>
                </a:solidFill>
              </a:rPr>
              <a:t>编码并编写单元测试，按改动范围编译和测试</a:t>
            </a:r>
            <a:endParaRPr sz="1050"/>
          </a:p>
        </p:txBody>
      </p:sp>
      <p:sp>
        <p:nvSpPr>
          <p:cNvPr id="27" name="ph-h-5">
            <a:extLst xmlns:a="http://schemas.openxmlformats.org/drawingml/2006/main">
              <a:ext uri="{FF2B5EF4-FFF2-40B4-BE49-F238E27FC236}">
                <a16:creationId xmlns:a16="http://schemas.microsoft.com/office/drawing/2014/main" id="{805884A4-B7B8-4B57-B3A9-4E343828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140" y="2029968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检视与验证</a:t>
            </a:r>
            <a:endParaRPr sz="1300"/>
          </a:p>
        </p:txBody>
      </p:sp>
      <p:sp>
        <p:nvSpPr>
          <p:cNvPr id="28" name="ph-b-5">
            <a:extLst xmlns:a="http://schemas.openxmlformats.org/drawingml/2006/main">
              <a:ext uri="{FF2B5EF4-FFF2-40B4-BE49-F238E27FC236}">
                <a16:creationId xmlns:a16="http://schemas.microsoft.com/office/drawing/2014/main" id="{77C40702-185B-4272-BC5D-3CD6AFCF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428" y="2340864"/>
            <a:ext cx="142646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chemeClr val="tx2"/>
                </a:solidFill>
              </a:rPr>
              <a:t>推送前检视，创建 MR，跟踪流水线并修复失败</a:t>
            </a:r>
            <a:endParaRPr sz="1050"/>
          </a:p>
        </p:txBody>
      </p:sp>
      <p:sp>
        <p:nvSpPr>
          <p:cNvPr id="29" name="ph-human-5-bg">
            <a:extLst xmlns:a="http://schemas.openxmlformats.org/drawingml/2006/main">
              <a:ext uri="{FF2B5EF4-FFF2-40B4-BE49-F238E27FC236}">
                <a16:creationId xmlns:a16="http://schemas.microsoft.com/office/drawing/2014/main" id="{CCA7A0B9-4590-40B4-A99C-4B109192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020" y="1325880"/>
            <a:ext cx="1097280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30" name="ph-human-5">
            <a:extLst xmlns:a="http://schemas.openxmlformats.org/drawingml/2006/main">
              <a:ext uri="{FF2B5EF4-FFF2-40B4-BE49-F238E27FC236}">
                <a16:creationId xmlns:a16="http://schemas.microsoft.com/office/drawing/2014/main" id="{A1DBF413-E462-4196-BA22-AD44B615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020" y="1325880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chemeClr val="bg1"/>
                </a:solidFill>
              </a:rPr>
              <a:t>人工确认</a:t>
            </a:r>
            <a:endParaRPr sz="1050"/>
          </a:p>
        </p:txBody>
      </p:sp>
      <p:sp>
        <p:nvSpPr>
          <p:cNvPr id="31" name="ph-h-6">
            <a:extLst xmlns:a="http://schemas.openxmlformats.org/drawingml/2006/main">
              <a:ext uri="{FF2B5EF4-FFF2-40B4-BE49-F238E27FC236}">
                <a16:creationId xmlns:a16="http://schemas.microsoft.com/office/drawing/2014/main" id="{4BC294DA-BCD5-43DD-B289-7A747F28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2029968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已合入</a:t>
            </a:r>
            <a:endParaRPr sz="1300"/>
          </a:p>
        </p:txBody>
      </p:sp>
      <p:sp>
        <p:nvSpPr>
          <p:cNvPr id="32" name="ph-b-6">
            <a:extLst xmlns:a="http://schemas.openxmlformats.org/drawingml/2006/main">
              <a:ext uri="{FF2B5EF4-FFF2-40B4-BE49-F238E27FC236}">
                <a16:creationId xmlns:a16="http://schemas.microsoft.com/office/drawing/2014/main" id="{F89187DD-544B-4C9B-AEB6-7B339F34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2340864"/>
            <a:ext cx="142646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chemeClr val="tx2"/>
                </a:solidFill>
              </a:rPr>
              <a:t>合入后结束，需要时可继续修改</a:t>
            </a:r>
            <a:endParaRPr sz="1050"/>
          </a:p>
        </p:txBody>
      </p:sp>
      <p:sp>
        <p:nvSpPr>
          <p:cNvPr id="33" name="shot-frame">
            <a:extLst xmlns:a="http://schemas.openxmlformats.org/drawingml/2006/main">
              <a:ext uri="{FF2B5EF4-FFF2-40B4-BE49-F238E27FC236}">
                <a16:creationId xmlns:a16="http://schemas.microsoft.com/office/drawing/2014/main" id="{3FA8BE87-F645-4040-AED1-9E79B36A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72968"/>
            <a:ext cx="5632704" cy="27663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34" name="shot">
            <a:extLst xmlns:a="http://schemas.openxmlformats.org/drawingml/2006/main">
              <a:ext uri="{FF2B5EF4-FFF2-40B4-BE49-F238E27FC236}">
                <a16:creationId xmlns:a16="http://schemas.microsoft.com/office/drawing/2014/main" id="{B57129DA-8D49-46BD-AD9C-9435CD8C1D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d7cd0f97f47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200400"/>
            <a:ext cx="5577840" cy="2711450"/>
          </a:xfrm>
          <a:prstGeom xmlns:a="http://schemas.openxmlformats.org/drawingml/2006/main" prst="rect">
            <a:avLst/>
          </a:prstGeom>
        </p:spPr>
      </p:pic>
      <p:sp>
        <p:nvSpPr>
          <p:cNvPr id="35" name="shot-cap">
            <a:extLst xmlns:a="http://schemas.openxmlformats.org/drawingml/2006/main">
              <a:ext uri="{FF2B5EF4-FFF2-40B4-BE49-F238E27FC236}">
                <a16:creationId xmlns:a16="http://schemas.microsoft.com/office/drawing/2014/main" id="{C2BF60CE-6C91-4E34-B2DB-B4C0F339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5002"/>
            <a:ext cx="5577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2"/>
                </a:solidFill>
              </a:rPr>
              <a:t>顶部为阶段进度，右侧为推送前检视卡片，列出推送文件，可确认或提出修改意见</a:t>
            </a:r>
            <a:endParaRPr sz="1000"/>
          </a:p>
        </p:txBody>
      </p:sp>
      <p:sp>
        <p:nvSpPr>
          <p:cNvPr id="36" name="r-h">
            <a:extLst xmlns:a="http://schemas.openxmlformats.org/drawingml/2006/main">
              <a:ext uri="{FF2B5EF4-FFF2-40B4-BE49-F238E27FC236}">
                <a16:creationId xmlns:a16="http://schemas.microsoft.com/office/drawing/2014/main" id="{C7A0F769-DD3B-427E-AA2E-8E49C04F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200400"/>
            <a:ext cx="483077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三个人工确认点</a:t>
            </a:r>
            <a:endParaRPr sz="1500"/>
          </a:p>
        </p:txBody>
      </p:sp>
      <p:sp>
        <p:nvSpPr>
          <p:cNvPr id="37" name="r-n-0">
            <a:extLst xmlns:a="http://schemas.openxmlformats.org/drawingml/2006/main">
              <a:ext uri="{FF2B5EF4-FFF2-40B4-BE49-F238E27FC236}">
                <a16:creationId xmlns:a16="http://schemas.microsoft.com/office/drawing/2014/main" id="{1A3D86D9-8BEC-4D50-94C5-5F1AB7AE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65760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chemeClr val="bg1"/>
                </a:solidFill>
              </a:rPr>
              <a:t>1</a:t>
            </a:r>
            <a:endParaRPr sz="1200"/>
          </a:p>
        </p:txBody>
      </p:sp>
      <p:sp>
        <p:nvSpPr>
          <p:cNvPr id="38" name="r-ph-0">
            <a:extLst xmlns:a="http://schemas.openxmlformats.org/drawingml/2006/main">
              <a:ext uri="{FF2B5EF4-FFF2-40B4-BE49-F238E27FC236}">
                <a16:creationId xmlns:a16="http://schemas.microsoft.com/office/drawing/2014/main" id="{4FCFF92A-1F8B-41EB-820B-5DD51321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639312"/>
            <a:ext cx="439186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回答澄清问题</a:t>
            </a:r>
            <a:endParaRPr sz="1300"/>
          </a:p>
        </p:txBody>
      </p:sp>
      <p:sp>
        <p:nvSpPr>
          <p:cNvPr id="39" name="r-pb-0">
            <a:extLst xmlns:a="http://schemas.openxmlformats.org/drawingml/2006/main">
              <a:ext uri="{FF2B5EF4-FFF2-40B4-BE49-F238E27FC236}">
                <a16:creationId xmlns:a16="http://schemas.microsoft.com/office/drawing/2014/main" id="{5F66E9CF-B062-4A16-A4E5-1B4FAE35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931920"/>
            <a:ext cx="439186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chemeClr val="tx2"/>
                </a:solidFill>
              </a:rPr>
              <a:t>只在需求存在歧义时提问，可以选择选项，也可以直接填写答复</a:t>
            </a:r>
            <a:endParaRPr sz="1150"/>
          </a:p>
        </p:txBody>
      </p:sp>
      <p:sp>
        <p:nvSpPr>
          <p:cNvPr id="40" name="r-n-1">
            <a:extLst xmlns:a="http://schemas.openxmlformats.org/drawingml/2006/main">
              <a:ext uri="{FF2B5EF4-FFF2-40B4-BE49-F238E27FC236}">
                <a16:creationId xmlns:a16="http://schemas.microsoft.com/office/drawing/2014/main" id="{2096FDAD-0435-4357-A23E-7CB303F4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425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chemeClr val="bg1"/>
                </a:solidFill>
              </a:rPr>
              <a:t>2</a:t>
            </a:r>
            <a:endParaRPr sz="1200"/>
          </a:p>
        </p:txBody>
      </p:sp>
      <p:sp>
        <p:nvSpPr>
          <p:cNvPr id="41" name="r-ph-1">
            <a:extLst xmlns:a="http://schemas.openxmlformats.org/drawingml/2006/main">
              <a:ext uri="{FF2B5EF4-FFF2-40B4-BE49-F238E27FC236}">
                <a16:creationId xmlns:a16="http://schemas.microsoft.com/office/drawing/2014/main" id="{3C0DB8E7-F95F-4343-BD3A-F982A58E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4407408"/>
            <a:ext cx="439186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确认拆分方案</a:t>
            </a:r>
            <a:endParaRPr sz="1300"/>
          </a:p>
        </p:txBody>
      </p:sp>
      <p:sp>
        <p:nvSpPr>
          <p:cNvPr id="42" name="r-pb-1">
            <a:extLst xmlns:a="http://schemas.openxmlformats.org/drawingml/2006/main">
              <a:ext uri="{FF2B5EF4-FFF2-40B4-BE49-F238E27FC236}">
                <a16:creationId xmlns:a16="http://schemas.microsoft.com/office/drawing/2014/main" id="{7FA53C5E-283A-4600-A0EA-4010963F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4700016"/>
            <a:ext cx="439186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chemeClr val="tx2"/>
                </a:solidFill>
              </a:rPr>
              <a:t>较大的需求先给出整体设计和模块拆分，确认后再创建子任务</a:t>
            </a:r>
            <a:endParaRPr sz="1150"/>
          </a:p>
        </p:txBody>
      </p:sp>
      <p:sp>
        <p:nvSpPr>
          <p:cNvPr id="43" name="r-n-2">
            <a:extLst xmlns:a="http://schemas.openxmlformats.org/drawingml/2006/main">
              <a:ext uri="{FF2B5EF4-FFF2-40B4-BE49-F238E27FC236}">
                <a16:creationId xmlns:a16="http://schemas.microsoft.com/office/drawing/2014/main" id="{9226C938-99D3-4A42-BEF1-05AEE677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19379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chemeClr val="bg1"/>
                </a:solidFill>
              </a:rPr>
              <a:t>3</a:t>
            </a:r>
            <a:endParaRPr sz="1200"/>
          </a:p>
        </p:txBody>
      </p:sp>
      <p:sp>
        <p:nvSpPr>
          <p:cNvPr id="44" name="r-ph-2">
            <a:extLst xmlns:a="http://schemas.openxmlformats.org/drawingml/2006/main">
              <a:ext uri="{FF2B5EF4-FFF2-40B4-BE49-F238E27FC236}">
                <a16:creationId xmlns:a16="http://schemas.microsoft.com/office/drawing/2014/main" id="{460DD5CA-FF8D-4602-B4BD-1449AE90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5175504"/>
            <a:ext cx="439186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推送前检视代码</a:t>
            </a:r>
            <a:endParaRPr sz="1300"/>
          </a:p>
        </p:txBody>
      </p:sp>
      <p:sp>
        <p:nvSpPr>
          <p:cNvPr id="45" name="r-pb-2">
            <a:extLst xmlns:a="http://schemas.openxmlformats.org/drawingml/2006/main">
              <a:ext uri="{FF2B5EF4-FFF2-40B4-BE49-F238E27FC236}">
                <a16:creationId xmlns:a16="http://schemas.microsoft.com/office/drawing/2014/main" id="{869B7711-CBBA-4230-90BB-1917CCB5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5468112"/>
            <a:ext cx="439186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chemeClr val="tx2"/>
                </a:solidFill>
              </a:rPr>
              <a:t>可以逐行批注，Agent 修改后逐条回复，确认后再推送</a:t>
            </a:r>
            <a:endParaRPr sz="1150"/>
          </a:p>
        </p:txBody>
      </p:sp>
      <p:sp>
        <p:nvSpPr>
          <p:cNvPr id="46" name="r-foot">
            <a:extLst xmlns:a="http://schemas.openxmlformats.org/drawingml/2006/main">
              <a:ext uri="{FF2B5EF4-FFF2-40B4-BE49-F238E27FC236}">
                <a16:creationId xmlns:a16="http://schemas.microsoft.com/office/drawing/2014/main" id="{F533F3CE-83A7-4988-B7E2-B25BDEC9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961888"/>
            <a:ext cx="48307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chemeClr val="accent1"/>
                </a:solidFill>
              </a:rPr>
              <a:t>其余环节由 AI 推进，人可随时暂停或接手</a:t>
            </a:r>
            <a:endParaRPr sz="1150"/>
          </a:p>
        </p:txBody>
      </p:sp>
      <p:sp>
        <p:nvSpPr>
          <p:cNvPr id="4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8E2877E-5B0C-43A6-AA1C-8EF96A03A9E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9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fld id="{8C630A04-5A25-9E0C-9436-126091DB86B3}" type="slidenum"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96645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FA6903C0-7D74-4223-8992-9DD17D6817F2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85800" y="27432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chemeClr val="accent1"/>
                </a:solidFill>
              </a:rPr>
              <a:t>全程贯通：</a:t>
            </a:r>
            <a:r>
              <a:rPr sz="2400" b="1">
                <a:solidFill>
                  <a:schemeClr val="tx1"/>
                </a:solidFill>
              </a:rPr>
              <a:t>需求开发覆盖整体设计到合入后修改</a:t>
            </a:r>
            <a:endParaRPr sz="2400"/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5A5BDC3E-7D52-49A0-B0DC-8272AD1CDB4E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685800" y="768096"/>
            <a:ext cx="10881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chemeClr val="tx2"/>
                </a:solidFill>
              </a:rPr>
              <a:t>一张需求单可以跨多个代码仓；检视意见、流水线结果和人工修改都记录在同一个任务中</a:t>
            </a:r>
            <a:endParaRPr sz="1300"/>
          </a:p>
        </p:txBody>
      </p:sp>
      <p:pic>
        <p:nvPicPr>
          <p:cNvPr id="4" name="diagram-req">
            <a:extLst xmlns:a="http://schemas.openxmlformats.org/drawingml/2006/main">
              <a:ext uri="{FF2B5EF4-FFF2-40B4-BE49-F238E27FC236}">
                <a16:creationId xmlns:a16="http://schemas.microsoft.com/office/drawing/2014/main" id="{49FA4A83-FB58-4B2A-8CD9-57837B5342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ef78f0a5245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3541" y="1298448"/>
            <a:ext cx="10584614" cy="3931920"/>
          </a:xfrm>
          <a:prstGeom xmlns:a="http://schemas.openxmlformats.org/drawingml/2006/main" prst="rect">
            <a:avLst/>
          </a:prstGeom>
        </p:spPr>
      </p:pic>
      <p:sp>
        <p:nvSpPr>
          <p:cNvPr id="5" name="k5-0">
            <a:extLst xmlns:a="http://schemas.openxmlformats.org/drawingml/2006/main">
              <a:ext uri="{FF2B5EF4-FFF2-40B4-BE49-F238E27FC236}">
                <a16:creationId xmlns:a16="http://schemas.microsoft.com/office/drawing/2014/main" id="{8E7D8723-C441-466F-9C5F-A7ABEAE0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2567864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6" name="k5-m-0">
            <a:extLst xmlns:a="http://schemas.openxmlformats.org/drawingml/2006/main">
              <a:ext uri="{FF2B5EF4-FFF2-40B4-BE49-F238E27FC236}">
                <a16:creationId xmlns:a16="http://schemas.microsoft.com/office/drawing/2014/main" id="{B21B1569-D568-4D18-9C7C-060BA411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7" name="k5-h-0">
            <a:extLst xmlns:a="http://schemas.openxmlformats.org/drawingml/2006/main">
              <a:ext uri="{FF2B5EF4-FFF2-40B4-BE49-F238E27FC236}">
                <a16:creationId xmlns:a16="http://schemas.microsoft.com/office/drawing/2014/main" id="{E8794F6C-9EB6-4754-BCD0-DD13E086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50408"/>
            <a:ext cx="20649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大需求拆分</a:t>
            </a:r>
            <a:endParaRPr sz="1300"/>
          </a:p>
        </p:txBody>
      </p:sp>
      <p:sp>
        <p:nvSpPr>
          <p:cNvPr id="8" name="k5-b-0">
            <a:extLst xmlns:a="http://schemas.openxmlformats.org/drawingml/2006/main">
              <a:ext uri="{FF2B5EF4-FFF2-40B4-BE49-F238E27FC236}">
                <a16:creationId xmlns:a16="http://schemas.microsoft.com/office/drawing/2014/main" id="{1E42AC2F-75D5-4498-9662-301907D5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843016"/>
            <a:ext cx="20649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先出整体设计，再按代码仓拆成子任务</a:t>
            </a:r>
            <a:endParaRPr sz="1100"/>
          </a:p>
        </p:txBody>
      </p:sp>
      <p:sp>
        <p:nvSpPr>
          <p:cNvPr id="9" name="k5-1">
            <a:extLst xmlns:a="http://schemas.openxmlformats.org/drawingml/2006/main">
              <a:ext uri="{FF2B5EF4-FFF2-40B4-BE49-F238E27FC236}">
                <a16:creationId xmlns:a16="http://schemas.microsoft.com/office/drawing/2014/main" id="{8B96B037-6DA1-4EC2-AAC2-BCA67D67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544" y="5440680"/>
            <a:ext cx="2567864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10" name="k5-m-1">
            <a:extLst xmlns:a="http://schemas.openxmlformats.org/drawingml/2006/main">
              <a:ext uri="{FF2B5EF4-FFF2-40B4-BE49-F238E27FC236}">
                <a16:creationId xmlns:a16="http://schemas.microsoft.com/office/drawing/2014/main" id="{25143FDE-47DC-4B5F-A4F6-485265FE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424" y="56235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1" name="k5-h-1">
            <a:extLst xmlns:a="http://schemas.openxmlformats.org/drawingml/2006/main">
              <a:ext uri="{FF2B5EF4-FFF2-40B4-BE49-F238E27FC236}">
                <a16:creationId xmlns:a16="http://schemas.microsoft.com/office/drawing/2014/main" id="{5808C59C-9662-44F0-84F9-8EAD4FDE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04" y="5550408"/>
            <a:ext cx="20649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检视意见逐条处理</a:t>
            </a:r>
            <a:endParaRPr sz="1300"/>
          </a:p>
        </p:txBody>
      </p:sp>
      <p:sp>
        <p:nvSpPr>
          <p:cNvPr id="12" name="k5-b-1">
            <a:extLst xmlns:a="http://schemas.openxmlformats.org/drawingml/2006/main">
              <a:ext uri="{FF2B5EF4-FFF2-40B4-BE49-F238E27FC236}">
                <a16:creationId xmlns:a16="http://schemas.microsoft.com/office/drawing/2014/main" id="{889A51A3-41C6-4697-B42E-388A79BB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04" y="5843016"/>
            <a:ext cx="20649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可以逐行批注，Agent 修改后逐条回复</a:t>
            </a:r>
            <a:endParaRPr sz="1100"/>
          </a:p>
        </p:txBody>
      </p:sp>
      <p:sp>
        <p:nvSpPr>
          <p:cNvPr id="13" name="k5-2">
            <a:extLst xmlns:a="http://schemas.openxmlformats.org/drawingml/2006/main">
              <a:ext uri="{FF2B5EF4-FFF2-40B4-BE49-F238E27FC236}">
                <a16:creationId xmlns:a16="http://schemas.microsoft.com/office/drawing/2014/main" id="{A3893636-3FDE-4572-8835-4EC85A18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5440680"/>
            <a:ext cx="2567864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14" name="k5-m-2">
            <a:extLst xmlns:a="http://schemas.openxmlformats.org/drawingml/2006/main">
              <a:ext uri="{FF2B5EF4-FFF2-40B4-BE49-F238E27FC236}">
                <a16:creationId xmlns:a16="http://schemas.microsoft.com/office/drawing/2014/main" id="{9F4FE165-DA22-4747-A0CC-CAE8CFD0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56235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5" name="k5-h-2">
            <a:extLst xmlns:a="http://schemas.openxmlformats.org/drawingml/2006/main">
              <a:ext uri="{FF2B5EF4-FFF2-40B4-BE49-F238E27FC236}">
                <a16:creationId xmlns:a16="http://schemas.microsoft.com/office/drawing/2014/main" id="{7CA5E1B7-88FD-41AF-9BA1-2A90D680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48" y="5550408"/>
            <a:ext cx="20649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流水线结果对应提交</a:t>
            </a:r>
            <a:endParaRPr sz="1300"/>
          </a:p>
        </p:txBody>
      </p:sp>
      <p:sp>
        <p:nvSpPr>
          <p:cNvPr id="16" name="k5-b-2">
            <a:extLst xmlns:a="http://schemas.openxmlformats.org/drawingml/2006/main">
              <a:ext uri="{FF2B5EF4-FFF2-40B4-BE49-F238E27FC236}">
                <a16:creationId xmlns:a16="http://schemas.microsoft.com/office/drawing/2014/main" id="{78B2CFB0-D8B7-46D4-80BA-CC54C232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48" y="5843016"/>
            <a:ext cx="20649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失败时由 AI 修复，修复次数用完则通知人</a:t>
            </a:r>
            <a:endParaRPr sz="1100"/>
          </a:p>
        </p:txBody>
      </p:sp>
      <p:sp>
        <p:nvSpPr>
          <p:cNvPr id="17" name="k5-3">
            <a:extLst xmlns:a="http://schemas.openxmlformats.org/drawingml/2006/main">
              <a:ext uri="{FF2B5EF4-FFF2-40B4-BE49-F238E27FC236}">
                <a16:creationId xmlns:a16="http://schemas.microsoft.com/office/drawing/2014/main" id="{26B4BD5A-59A2-4E6F-8AFB-CB9E1DE1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31" y="5440680"/>
            <a:ext cx="2567864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18" name="k5-m-3">
            <a:extLst xmlns:a="http://schemas.openxmlformats.org/drawingml/2006/main">
              <a:ext uri="{FF2B5EF4-FFF2-40B4-BE49-F238E27FC236}">
                <a16:creationId xmlns:a16="http://schemas.microsoft.com/office/drawing/2014/main" id="{21D4C030-3ECD-4533-9298-FA6BF154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911" y="56235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9" name="k5-h-3">
            <a:extLst xmlns:a="http://schemas.openxmlformats.org/drawingml/2006/main">
              <a:ext uri="{FF2B5EF4-FFF2-40B4-BE49-F238E27FC236}">
                <a16:creationId xmlns:a16="http://schemas.microsoft.com/office/drawing/2014/main" id="{AFE1F498-B98C-457D-A4EC-D8132497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791" y="5550408"/>
            <a:ext cx="20649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合入后继续修改</a:t>
            </a:r>
            <a:endParaRPr sz="1300"/>
          </a:p>
        </p:txBody>
      </p:sp>
      <p:sp>
        <p:nvSpPr>
          <p:cNvPr id="20" name="k5-b-3">
            <a:extLst xmlns:a="http://schemas.openxmlformats.org/drawingml/2006/main">
              <a:ext uri="{FF2B5EF4-FFF2-40B4-BE49-F238E27FC236}">
                <a16:creationId xmlns:a16="http://schemas.microsoft.com/office/drawing/2014/main" id="{CDCE25B8-0B21-4EC1-BE85-7AEAB67D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791" y="5843016"/>
            <a:ext cx="20649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沿用原目录，新建分支提交新的 MR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CC56DB2-9C50-4C41-AB81-AB6ECE3C9B0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9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fld id="{D3D7D1C8-AE23-AA48-DF65-C742588DBE47}" type="slidenum"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88466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AAED7AF7-8D28-4543-95A4-DA6F21E69E38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85800" y="27432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chemeClr val="accent1"/>
                </a:solidFill>
              </a:rPr>
              <a:t>因单施策：</a:t>
            </a:r>
            <a:r>
              <a:rPr sz="2400" b="1">
                <a:solidFill>
                  <a:schemeClr val="tx1"/>
                </a:solidFill>
              </a:rPr>
              <a:t>问题单按分析结果选择后续步骤</a:t>
            </a:r>
            <a:endParaRPr sz="2400"/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6FBF08FE-C87D-48F2-B0EC-6F6F24CA3BD7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685800" y="768096"/>
            <a:ext cx="10881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chemeClr val="tx2"/>
                </a:solidFill>
              </a:rPr>
              <a:t>问题单不一定需要修改代码，可能只需定位，也可能不是问题；需要修改时，以流水线全部通过作为完成标准</a:t>
            </a:r>
            <a:endParaRPr sz="1300"/>
          </a:p>
        </p:txBody>
      </p:sp>
      <p:sp>
        <p:nvSpPr>
          <p:cNvPr id="4" name="a-h">
            <a:extLst xmlns:a="http://schemas.openxmlformats.org/drawingml/2006/main">
              <a:ext uri="{FF2B5EF4-FFF2-40B4-BE49-F238E27FC236}">
                <a16:creationId xmlns:a16="http://schemas.microsoft.com/office/drawing/2014/main" id="{F19C3342-940C-4159-B2F2-7F2CA7DB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5608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有问题单：五个阶段</a:t>
            </a:r>
            <a:endParaRPr sz="1400"/>
          </a:p>
        </p:txBody>
      </p:sp>
      <p:sp>
        <p:nvSpPr>
          <p:cNvPr id="5" name="a-line">
            <a:extLst xmlns:a="http://schemas.openxmlformats.org/drawingml/2006/main">
              <a:ext uri="{FF2B5EF4-FFF2-40B4-BE49-F238E27FC236}">
                <a16:creationId xmlns:a16="http://schemas.microsoft.com/office/drawing/2014/main" id="{822F4194-405A-47B1-9476-FC263740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57400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3"/>
            </a:solidFill>
            <a:prstDash val="solid"/>
          </a:ln>
        </p:spPr>
      </p:sp>
      <p:sp>
        <p:nvSpPr>
          <p:cNvPr id="6" name="a-done">
            <a:extLst xmlns:a="http://schemas.openxmlformats.org/drawingml/2006/main">
              <a:ext uri="{FF2B5EF4-FFF2-40B4-BE49-F238E27FC236}">
                <a16:creationId xmlns:a16="http://schemas.microsoft.com/office/drawing/2014/main" id="{61D1DF7B-3E81-421D-8970-44DA760A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57400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chemeClr val="accent1"/>
            </a:solidFill>
            <a:prstDash val="solid"/>
          </a:ln>
        </p:spPr>
      </p:sp>
      <p:sp>
        <p:nvSpPr>
          <p:cNvPr id="7" name="a-n0">
            <a:extLst xmlns:a="http://schemas.openxmlformats.org/drawingml/2006/main">
              <a:ext uri="{FF2B5EF4-FFF2-40B4-BE49-F238E27FC236}">
                <a16:creationId xmlns:a16="http://schemas.microsoft.com/office/drawing/2014/main" id="{10F25C9C-584C-4DA3-BB4D-8BFFDAB8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9568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accent1"/>
            </a:solidFill>
            <a:prstDash val="solid"/>
          </a:ln>
        </p:spPr>
      </p:sp>
      <p:sp>
        <p:nvSpPr>
          <p:cNvPr id="8" name="a-n1">
            <a:extLst xmlns:a="http://schemas.openxmlformats.org/drawingml/2006/main">
              <a:ext uri="{FF2B5EF4-FFF2-40B4-BE49-F238E27FC236}">
                <a16:creationId xmlns:a16="http://schemas.microsoft.com/office/drawing/2014/main" id="{5A6A2A6D-6D9D-41CB-9608-5E48AF85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19568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accent1"/>
            </a:solidFill>
            <a:prstDash val="solid"/>
          </a:ln>
        </p:spPr>
      </p:sp>
      <p:sp>
        <p:nvSpPr>
          <p:cNvPr id="9" name="a-n2">
            <a:extLst xmlns:a="http://schemas.openxmlformats.org/drawingml/2006/main">
              <a:ext uri="{FF2B5EF4-FFF2-40B4-BE49-F238E27FC236}">
                <a16:creationId xmlns:a16="http://schemas.microsoft.com/office/drawing/2014/main" id="{491CAB70-53B1-4FC8-B1D6-95727A82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9568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accent1"/>
            </a:solidFill>
            <a:prstDash val="solid"/>
          </a:ln>
        </p:spPr>
      </p:sp>
      <p:sp>
        <p:nvSpPr>
          <p:cNvPr id="10" name="a-n3">
            <a:extLst xmlns:a="http://schemas.openxmlformats.org/drawingml/2006/main">
              <a:ext uri="{FF2B5EF4-FFF2-40B4-BE49-F238E27FC236}">
                <a16:creationId xmlns:a16="http://schemas.microsoft.com/office/drawing/2014/main" id="{D4184A1E-7E7F-4AE9-8A81-5131EE84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19568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accent1"/>
            </a:solidFill>
            <a:prstDash val="solid"/>
          </a:ln>
        </p:spPr>
      </p:sp>
      <p:sp>
        <p:nvSpPr>
          <p:cNvPr id="11" name="a-n4">
            <a:extLst xmlns:a="http://schemas.openxmlformats.org/drawingml/2006/main">
              <a:ext uri="{FF2B5EF4-FFF2-40B4-BE49-F238E27FC236}">
                <a16:creationId xmlns:a16="http://schemas.microsoft.com/office/drawing/2014/main" id="{72B73AF4-2516-4736-B747-F1DDB25D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95681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accent1"/>
            </a:solidFill>
            <a:prstDash val="solid"/>
          </a:ln>
        </p:spPr>
      </p:sp>
      <p:sp>
        <p:nvSpPr>
          <p:cNvPr id="12" name="a-ph-0">
            <a:extLst xmlns:a="http://schemas.openxmlformats.org/drawingml/2006/main">
              <a:ext uri="{FF2B5EF4-FFF2-40B4-BE49-F238E27FC236}">
                <a16:creationId xmlns:a16="http://schemas.microsoft.com/office/drawing/2014/main" id="{328BA9E8-40F0-4034-BCD9-8B492DBD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25856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获取 DTS 单</a:t>
            </a:r>
            <a:endParaRPr sz="1300"/>
          </a:p>
        </p:txBody>
      </p:sp>
      <p:sp>
        <p:nvSpPr>
          <p:cNvPr id="13" name="a-pb-0">
            <a:extLst xmlns:a="http://schemas.openxmlformats.org/drawingml/2006/main">
              <a:ext uri="{FF2B5EF4-FFF2-40B4-BE49-F238E27FC236}">
                <a16:creationId xmlns:a16="http://schemas.microsoft.com/office/drawing/2014/main" id="{8BF0BFAC-425B-4984-A643-8420A68C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551176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chemeClr val="tx2"/>
                </a:solidFill>
              </a:rPr>
              <a:t>读取问题单信息</a:t>
            </a:r>
            <a:endParaRPr sz="1100"/>
          </a:p>
        </p:txBody>
      </p:sp>
      <p:sp>
        <p:nvSpPr>
          <p:cNvPr id="14" name="a-ph-1">
            <a:extLst xmlns:a="http://schemas.openxmlformats.org/drawingml/2006/main">
              <a:ext uri="{FF2B5EF4-FFF2-40B4-BE49-F238E27FC236}">
                <a16:creationId xmlns:a16="http://schemas.microsoft.com/office/drawing/2014/main" id="{4980CC66-47DD-44DE-9BF9-ED236797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25856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拉取代码、建分支</a:t>
            </a:r>
            <a:endParaRPr sz="1300"/>
          </a:p>
        </p:txBody>
      </p:sp>
      <p:sp>
        <p:nvSpPr>
          <p:cNvPr id="15" name="a-pb-1">
            <a:extLst xmlns:a="http://schemas.openxmlformats.org/drawingml/2006/main">
              <a:ext uri="{FF2B5EF4-FFF2-40B4-BE49-F238E27FC236}">
                <a16:creationId xmlns:a16="http://schemas.microsoft.com/office/drawing/2014/main" id="{6A84522B-6A81-4EE2-819B-2C3540C8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551176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chemeClr val="tx2"/>
                </a:solidFill>
              </a:rPr>
              <a:t>平台按单号创建分支</a:t>
            </a:r>
            <a:endParaRPr sz="1100"/>
          </a:p>
        </p:txBody>
      </p:sp>
      <p:sp>
        <p:nvSpPr>
          <p:cNvPr id="16" name="a-ph-2">
            <a:extLst xmlns:a="http://schemas.openxmlformats.org/drawingml/2006/main">
              <a:ext uri="{FF2B5EF4-FFF2-40B4-BE49-F238E27FC236}">
                <a16:creationId xmlns:a16="http://schemas.microsoft.com/office/drawing/2014/main" id="{4C219186-C780-42FD-A7A6-C0E4F453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25856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问题分析</a:t>
            </a:r>
            <a:endParaRPr sz="1300"/>
          </a:p>
        </p:txBody>
      </p:sp>
      <p:sp>
        <p:nvSpPr>
          <p:cNvPr id="17" name="a-pb-2">
            <a:extLst xmlns:a="http://schemas.openxmlformats.org/drawingml/2006/main">
              <a:ext uri="{FF2B5EF4-FFF2-40B4-BE49-F238E27FC236}">
                <a16:creationId xmlns:a16="http://schemas.microsoft.com/office/drawing/2014/main" id="{0156A2CF-9D48-4CBA-9259-A0BDFAC6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551176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chemeClr val="tx2"/>
                </a:solidFill>
              </a:rPr>
              <a:t>分析日志、复现、定位根因</a:t>
            </a:r>
            <a:endParaRPr sz="1100"/>
          </a:p>
        </p:txBody>
      </p:sp>
      <p:sp>
        <p:nvSpPr>
          <p:cNvPr id="18" name="a-ph-3">
            <a:extLst xmlns:a="http://schemas.openxmlformats.org/drawingml/2006/main">
              <a:ext uri="{FF2B5EF4-FFF2-40B4-BE49-F238E27FC236}">
                <a16:creationId xmlns:a16="http://schemas.microsoft.com/office/drawing/2014/main" id="{F5C68DE0-C46D-4514-A490-ECEC8C72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5856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问题修复</a:t>
            </a:r>
            <a:endParaRPr sz="1300"/>
          </a:p>
        </p:txBody>
      </p:sp>
      <p:sp>
        <p:nvSpPr>
          <p:cNvPr id="19" name="a-pb-3">
            <a:extLst xmlns:a="http://schemas.openxmlformats.org/drawingml/2006/main">
              <a:ext uri="{FF2B5EF4-FFF2-40B4-BE49-F238E27FC236}">
                <a16:creationId xmlns:a16="http://schemas.microsoft.com/office/drawing/2014/main" id="{C14DD3E8-8B70-42FC-B0C0-A502524D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51176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chemeClr val="tx2"/>
                </a:solidFill>
              </a:rPr>
              <a:t>先写测试用例，再修复</a:t>
            </a:r>
            <a:endParaRPr sz="1100"/>
          </a:p>
        </p:txBody>
      </p:sp>
      <p:sp>
        <p:nvSpPr>
          <p:cNvPr id="20" name="a-ph-4">
            <a:extLst xmlns:a="http://schemas.openxmlformats.org/drawingml/2006/main">
              <a:ext uri="{FF2B5EF4-FFF2-40B4-BE49-F238E27FC236}">
                <a16:creationId xmlns:a16="http://schemas.microsoft.com/office/drawing/2014/main" id="{09127988-90B4-4196-A92A-10D08188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25856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提交 MR</a:t>
            </a:r>
            <a:endParaRPr sz="1300"/>
          </a:p>
        </p:txBody>
      </p:sp>
      <p:sp>
        <p:nvSpPr>
          <p:cNvPr id="21" name="a-pb-4">
            <a:extLst xmlns:a="http://schemas.openxmlformats.org/drawingml/2006/main">
              <a:ext uri="{FF2B5EF4-FFF2-40B4-BE49-F238E27FC236}">
                <a16:creationId xmlns:a16="http://schemas.microsoft.com/office/drawing/2014/main" id="{EEDFC00B-BD03-44BE-9259-35F58A03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551176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chemeClr val="tx2"/>
                </a:solidFill>
              </a:rPr>
              <a:t>所有 MR 的流水线通过后结束</a:t>
            </a:r>
            <a:endParaRPr sz="1100"/>
          </a:p>
        </p:txBody>
      </p:sp>
      <p:sp>
        <p:nvSpPr>
          <p:cNvPr id="22" name="gate-1-bg">
            <a:extLst xmlns:a="http://schemas.openxmlformats.org/drawingml/2006/main">
              <a:ext uri="{FF2B5EF4-FFF2-40B4-BE49-F238E27FC236}">
                <a16:creationId xmlns:a16="http://schemas.microsoft.com/office/drawing/2014/main" id="{CB5E11F5-C458-4002-B707-905F794E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1554480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23" name="gate-1">
            <a:extLst xmlns:a="http://schemas.openxmlformats.org/drawingml/2006/main">
              <a:ext uri="{FF2B5EF4-FFF2-40B4-BE49-F238E27FC236}">
                <a16:creationId xmlns:a16="http://schemas.microsoft.com/office/drawing/2014/main" id="{171AD84D-C216-49C9-97E6-CEA55BD2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1554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chemeClr val="bg1"/>
                </a:solidFill>
              </a:rPr>
              <a:t>人工确认分析报告</a:t>
            </a:r>
            <a:endParaRPr sz="1050"/>
          </a:p>
        </p:txBody>
      </p:sp>
      <p:sp>
        <p:nvSpPr>
          <p:cNvPr id="24" name="gate-2-bg">
            <a:extLst xmlns:a="http://schemas.openxmlformats.org/drawingml/2006/main">
              <a:ext uri="{FF2B5EF4-FFF2-40B4-BE49-F238E27FC236}">
                <a16:creationId xmlns:a16="http://schemas.microsoft.com/office/drawing/2014/main" id="{AF334CF1-E2D5-454D-941A-72F16412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600200"/>
            <a:ext cx="1645920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25" name="gate-2">
            <a:extLst xmlns:a="http://schemas.openxmlformats.org/drawingml/2006/main">
              <a:ext uri="{FF2B5EF4-FFF2-40B4-BE49-F238E27FC236}">
                <a16:creationId xmlns:a16="http://schemas.microsoft.com/office/drawing/2014/main" id="{5DD7D145-E108-4340-A464-3081A2A2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600200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chemeClr val="bg1"/>
                </a:solidFill>
              </a:rPr>
              <a:t>平台核对流水线结果</a:t>
            </a:r>
            <a:endParaRPr sz="1050"/>
          </a:p>
        </p:txBody>
      </p:sp>
      <p:sp>
        <p:nvSpPr>
          <p:cNvPr id="26" name="b-h">
            <a:extLst xmlns:a="http://schemas.openxmlformats.org/drawingml/2006/main">
              <a:ext uri="{FF2B5EF4-FFF2-40B4-BE49-F238E27FC236}">
                <a16:creationId xmlns:a16="http://schemas.microsoft.com/office/drawing/2014/main" id="{6309DD64-00B8-444B-8470-21748E8A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2968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无问题单：三个阶段，用于自行定位</a:t>
            </a:r>
            <a:endParaRPr sz="1400"/>
          </a:p>
        </p:txBody>
      </p:sp>
      <p:sp>
        <p:nvSpPr>
          <p:cNvPr id="27" name="b-line">
            <a:extLst xmlns:a="http://schemas.openxmlformats.org/drawingml/2006/main">
              <a:ext uri="{FF2B5EF4-FFF2-40B4-BE49-F238E27FC236}">
                <a16:creationId xmlns:a16="http://schemas.microsoft.com/office/drawing/2014/main" id="{ED5EEBA0-AEC0-4074-8CB7-118CFDA3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9476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3"/>
            </a:solidFill>
            <a:prstDash val="solid"/>
          </a:ln>
        </p:spPr>
      </p:sp>
      <p:sp>
        <p:nvSpPr>
          <p:cNvPr id="28" name="b-done">
            <a:extLst xmlns:a="http://schemas.openxmlformats.org/drawingml/2006/main">
              <a:ext uri="{FF2B5EF4-FFF2-40B4-BE49-F238E27FC236}">
                <a16:creationId xmlns:a16="http://schemas.microsoft.com/office/drawing/2014/main" id="{2BC35B58-B786-4060-AC8B-612BAFB8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9476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595959"/>
            </a:solidFill>
            <a:prstDash val="solid"/>
          </a:ln>
        </p:spPr>
      </p:sp>
      <p:sp>
        <p:nvSpPr>
          <p:cNvPr id="29" name="b-n0">
            <a:extLst xmlns:a="http://schemas.openxmlformats.org/drawingml/2006/main">
              <a:ext uri="{FF2B5EF4-FFF2-40B4-BE49-F238E27FC236}">
                <a16:creationId xmlns:a16="http://schemas.microsoft.com/office/drawing/2014/main" id="{7DE51F24-8F95-4555-99CD-93E57093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69417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19050">
            <a:solidFill>
              <a:srgbClr val="595959"/>
            </a:solidFill>
            <a:prstDash val="solid"/>
          </a:ln>
        </p:spPr>
      </p:sp>
      <p:sp>
        <p:nvSpPr>
          <p:cNvPr id="30" name="b-n1">
            <a:extLst xmlns:a="http://schemas.openxmlformats.org/drawingml/2006/main">
              <a:ext uri="{FF2B5EF4-FFF2-40B4-BE49-F238E27FC236}">
                <a16:creationId xmlns:a16="http://schemas.microsoft.com/office/drawing/2014/main" id="{146678B0-D918-45DE-8829-485825DF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369417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19050">
            <a:solidFill>
              <a:srgbClr val="595959"/>
            </a:solidFill>
            <a:prstDash val="solid"/>
          </a:ln>
        </p:spPr>
      </p:sp>
      <p:sp>
        <p:nvSpPr>
          <p:cNvPr id="31" name="b-n2">
            <a:extLst xmlns:a="http://schemas.openxmlformats.org/drawingml/2006/main">
              <a:ext uri="{FF2B5EF4-FFF2-40B4-BE49-F238E27FC236}">
                <a16:creationId xmlns:a16="http://schemas.microsoft.com/office/drawing/2014/main" id="{D265B1D1-DAF6-4D4C-AFB5-0CC0AB3B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369417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19050">
            <a:solidFill>
              <a:srgbClr val="595959"/>
            </a:solidFill>
            <a:prstDash val="solid"/>
          </a:ln>
        </p:spPr>
      </p:sp>
      <p:sp>
        <p:nvSpPr>
          <p:cNvPr id="32" name="b-ph-0">
            <a:extLst xmlns:a="http://schemas.openxmlformats.org/drawingml/2006/main">
              <a:ext uri="{FF2B5EF4-FFF2-40B4-BE49-F238E27FC236}">
                <a16:creationId xmlns:a16="http://schemas.microsoft.com/office/drawing/2014/main" id="{4D94A933-63BC-4BD1-A5AE-3FB4AE0E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99592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拉取代码</a:t>
            </a:r>
            <a:endParaRPr sz="1300"/>
          </a:p>
        </p:txBody>
      </p:sp>
      <p:sp>
        <p:nvSpPr>
          <p:cNvPr id="33" name="b-pb-0">
            <a:extLst xmlns:a="http://schemas.openxmlformats.org/drawingml/2006/main">
              <a:ext uri="{FF2B5EF4-FFF2-40B4-BE49-F238E27FC236}">
                <a16:creationId xmlns:a16="http://schemas.microsoft.com/office/drawing/2014/main" id="{79029A35-46BD-44D0-8A0B-1CB88892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288536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chemeClr val="tx2"/>
                </a:solidFill>
              </a:rPr>
              <a:t>不创建分支</a:t>
            </a:r>
            <a:endParaRPr sz="1100"/>
          </a:p>
        </p:txBody>
      </p:sp>
      <p:sp>
        <p:nvSpPr>
          <p:cNvPr id="34" name="b-ph-1">
            <a:extLst xmlns:a="http://schemas.openxmlformats.org/drawingml/2006/main">
              <a:ext uri="{FF2B5EF4-FFF2-40B4-BE49-F238E27FC236}">
                <a16:creationId xmlns:a16="http://schemas.microsoft.com/office/drawing/2014/main" id="{F08452F3-6BED-49DC-ACC3-4EB75B43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99592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问题分析</a:t>
            </a:r>
            <a:endParaRPr sz="1300"/>
          </a:p>
        </p:txBody>
      </p:sp>
      <p:sp>
        <p:nvSpPr>
          <p:cNvPr id="35" name="b-pb-1">
            <a:extLst xmlns:a="http://schemas.openxmlformats.org/drawingml/2006/main">
              <a:ext uri="{FF2B5EF4-FFF2-40B4-BE49-F238E27FC236}">
                <a16:creationId xmlns:a16="http://schemas.microsoft.com/office/drawing/2014/main" id="{230A44B8-B022-4184-AC9A-29398796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288536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chemeClr val="tx2"/>
                </a:solidFill>
              </a:rPr>
              <a:t>同样需要人工确认</a:t>
            </a:r>
            <a:endParaRPr sz="1100"/>
          </a:p>
        </p:txBody>
      </p:sp>
      <p:sp>
        <p:nvSpPr>
          <p:cNvPr id="36" name="b-ph-2">
            <a:extLst xmlns:a="http://schemas.openxmlformats.org/drawingml/2006/main">
              <a:ext uri="{FF2B5EF4-FFF2-40B4-BE49-F238E27FC236}">
                <a16:creationId xmlns:a16="http://schemas.microsoft.com/office/drawing/2014/main" id="{16A82CEC-1016-4861-BE17-1BFAEB97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99592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tx1"/>
                </a:solidFill>
              </a:rPr>
              <a:t>得出结论</a:t>
            </a:r>
            <a:endParaRPr sz="1300"/>
          </a:p>
        </p:txBody>
      </p:sp>
      <p:sp>
        <p:nvSpPr>
          <p:cNvPr id="37" name="b-pb-2">
            <a:extLst xmlns:a="http://schemas.openxmlformats.org/drawingml/2006/main">
              <a:ext uri="{FF2B5EF4-FFF2-40B4-BE49-F238E27FC236}">
                <a16:creationId xmlns:a16="http://schemas.microsoft.com/office/drawing/2014/main" id="{5BEF67E9-E548-4A67-91EC-ACF3CE5B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288536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chemeClr val="tx2"/>
                </a:solidFill>
              </a:rPr>
              <a:t>是问题则等待提单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chemeClr val="tx2"/>
                </a:solidFill>
              </a:rPr>
              <a:t>不是问题则直接结束</a:t>
            </a:r>
            <a:endParaRPr sz="1100"/>
          </a:p>
        </p:txBody>
      </p:sp>
      <p:sp>
        <p:nvSpPr>
          <p:cNvPr id="38" name="gates-bg">
            <a:extLst xmlns:a="http://schemas.openxmlformats.org/drawingml/2006/main">
              <a:ext uri="{FF2B5EF4-FFF2-40B4-BE49-F238E27FC236}">
                <a16:creationId xmlns:a16="http://schemas.microsoft.com/office/drawing/2014/main" id="{C600CB77-51F8-4341-A06E-5F9CC8F6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154680"/>
            <a:ext cx="4922215" cy="3063240"/>
          </a:xfrm>
          <a:prstGeom xmlns:a="http://schemas.openxmlformats.org/drawingml/2006/main" prst="roundRect">
            <a:avLst>
              <a:gd name="adj" fmla="val 1791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2700">
            <a:solidFill>
              <a:srgbClr val="FBEAEA"/>
            </a:solidFill>
            <a:prstDash val="solid"/>
          </a:ln>
        </p:spPr>
      </p:sp>
      <p:sp>
        <p:nvSpPr>
          <p:cNvPr id="39" name="gates-h">
            <a:extLst xmlns:a="http://schemas.openxmlformats.org/drawingml/2006/main">
              <a:ext uri="{FF2B5EF4-FFF2-40B4-BE49-F238E27FC236}">
                <a16:creationId xmlns:a16="http://schemas.microsoft.com/office/drawing/2014/main" id="{E074B2D4-2D9B-489C-9FA4-264773F7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7560"/>
            <a:ext cx="437357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accent1"/>
                </a:solidFill>
              </a:rPr>
              <a:t>平台的两道检查</a:t>
            </a:r>
            <a:endParaRPr sz="1400"/>
          </a:p>
        </p:txBody>
      </p:sp>
      <p:sp>
        <p:nvSpPr>
          <p:cNvPr id="40" name="g-k-0">
            <a:extLst xmlns:a="http://schemas.openxmlformats.org/drawingml/2006/main">
              <a:ext uri="{FF2B5EF4-FFF2-40B4-BE49-F238E27FC236}">
                <a16:creationId xmlns:a16="http://schemas.microsoft.com/office/drawing/2014/main" id="{F130DE0E-8945-4C2F-ADB6-D1096FDD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7328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1"/>
                </a:solidFill>
              </a:rPr>
              <a:t>检查 1</a:t>
            </a:r>
            <a:endParaRPr sz="1200"/>
          </a:p>
        </p:txBody>
      </p:sp>
      <p:sp>
        <p:nvSpPr>
          <p:cNvPr id="41" name="g-h-0">
            <a:extLst xmlns:a="http://schemas.openxmlformats.org/drawingml/2006/main">
              <a:ext uri="{FF2B5EF4-FFF2-40B4-BE49-F238E27FC236}">
                <a16:creationId xmlns:a16="http://schemas.microsoft.com/office/drawing/2014/main" id="{3A4BC4A3-1C90-4242-B4A9-CE0C2B46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767328"/>
            <a:ext cx="377921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chemeClr val="tx1"/>
                </a:solidFill>
              </a:rPr>
              <a:t>分析报告确认</a:t>
            </a:r>
            <a:endParaRPr sz="1250"/>
          </a:p>
        </p:txBody>
      </p:sp>
      <p:sp>
        <p:nvSpPr>
          <p:cNvPr id="42" name="g-b-0">
            <a:extLst xmlns:a="http://schemas.openxmlformats.org/drawingml/2006/main">
              <a:ext uri="{FF2B5EF4-FFF2-40B4-BE49-F238E27FC236}">
                <a16:creationId xmlns:a16="http://schemas.microsoft.com/office/drawing/2014/main" id="{04A8658A-099B-43E6-BD06-F8BAAF93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023360"/>
            <a:ext cx="377921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AI 提交根因分析报告，人确认后才能开始修改代码</a:t>
            </a:r>
            <a:endParaRPr sz="1100"/>
          </a:p>
        </p:txBody>
      </p:sp>
      <p:sp>
        <p:nvSpPr>
          <p:cNvPr id="43" name="g-k-1">
            <a:extLst xmlns:a="http://schemas.openxmlformats.org/drawingml/2006/main">
              <a:ext uri="{FF2B5EF4-FFF2-40B4-BE49-F238E27FC236}">
                <a16:creationId xmlns:a16="http://schemas.microsoft.com/office/drawing/2014/main" id="{DE3043AD-8221-4F86-8210-55FA8202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5371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1"/>
                </a:solidFill>
              </a:rPr>
              <a:t>检查 2</a:t>
            </a:r>
            <a:endParaRPr sz="1200"/>
          </a:p>
        </p:txBody>
      </p:sp>
      <p:sp>
        <p:nvSpPr>
          <p:cNvPr id="44" name="g-h-1">
            <a:extLst xmlns:a="http://schemas.openxmlformats.org/drawingml/2006/main">
              <a:ext uri="{FF2B5EF4-FFF2-40B4-BE49-F238E27FC236}">
                <a16:creationId xmlns:a16="http://schemas.microsoft.com/office/drawing/2014/main" id="{C72D1289-2BA7-4EDD-BC7E-A9B54CDC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553712"/>
            <a:ext cx="377921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chemeClr val="tx1"/>
                </a:solidFill>
              </a:rPr>
              <a:t>流水线结果核对</a:t>
            </a:r>
            <a:endParaRPr sz="1250"/>
          </a:p>
        </p:txBody>
      </p:sp>
      <p:sp>
        <p:nvSpPr>
          <p:cNvPr id="45" name="g-b-1">
            <a:extLst xmlns:a="http://schemas.openxmlformats.org/drawingml/2006/main">
              <a:ext uri="{FF2B5EF4-FFF2-40B4-BE49-F238E27FC236}">
                <a16:creationId xmlns:a16="http://schemas.microsoft.com/office/drawing/2014/main" id="{98FA2BFF-63EE-4FDB-8620-C4A95218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809744"/>
            <a:ext cx="377921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AI 提交的 MR 清单需与平台记录一致，且每个 MR 最新提交的流水线全部通过；有失败时退回并附失败项</a:t>
            </a:r>
            <a:endParaRPr sz="1100"/>
          </a:p>
        </p:txBody>
      </p:sp>
      <p:sp>
        <p:nvSpPr>
          <p:cNvPr id="46" name="g-k-2">
            <a:extLst xmlns:a="http://schemas.openxmlformats.org/drawingml/2006/main">
              <a:ext uri="{FF2B5EF4-FFF2-40B4-BE49-F238E27FC236}">
                <a16:creationId xmlns:a16="http://schemas.microsoft.com/office/drawing/2014/main" id="{FE8535BC-EC90-4492-B4EB-4DC54D6A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40096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1"/>
                </a:solidFill>
              </a:rPr>
              <a:t>其余</a:t>
            </a:r>
            <a:endParaRPr sz="1200"/>
          </a:p>
        </p:txBody>
      </p:sp>
      <p:sp>
        <p:nvSpPr>
          <p:cNvPr id="47" name="g-h-2">
            <a:extLst xmlns:a="http://schemas.openxmlformats.org/drawingml/2006/main">
              <a:ext uri="{FF2B5EF4-FFF2-40B4-BE49-F238E27FC236}">
                <a16:creationId xmlns:a16="http://schemas.microsoft.com/office/drawing/2014/main" id="{8B70CE96-A7FB-450F-9A29-1372C3E1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340096"/>
            <a:ext cx="377921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chemeClr val="tx1"/>
                </a:solidFill>
              </a:rPr>
              <a:t>由 AI 判断</a:t>
            </a:r>
            <a:endParaRPr sz="1250"/>
          </a:p>
        </p:txBody>
      </p:sp>
      <p:sp>
        <p:nvSpPr>
          <p:cNvPr id="48" name="g-b-2">
            <a:extLst xmlns:a="http://schemas.openxmlformats.org/drawingml/2006/main">
              <a:ext uri="{FF2B5EF4-FFF2-40B4-BE49-F238E27FC236}">
                <a16:creationId xmlns:a16="http://schemas.microsoft.com/office/drawing/2014/main" id="{A101CFBF-2D65-41B2-8C33-BA17936E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596128"/>
            <a:ext cx="377921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拉单、拉代码、修复是否完成由 AI 判断；每个阶段只开放对应的工具</a:t>
            </a:r>
            <a:endParaRPr sz="1100"/>
          </a:p>
        </p:txBody>
      </p:sp>
      <p:sp>
        <p:nvSpPr>
          <p:cNvPr id="49" name="flow-note">
            <a:extLst xmlns:a="http://schemas.openxmlformats.org/drawingml/2006/main">
              <a:ext uri="{FF2B5EF4-FFF2-40B4-BE49-F238E27FC236}">
                <a16:creationId xmlns:a16="http://schemas.microsoft.com/office/drawing/2014/main" id="{B0052386-8362-4FD8-9CC6-CE452EA3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0640"/>
            <a:ext cx="562356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50" name="flow-note-t">
            <a:extLst xmlns:a="http://schemas.openxmlformats.org/drawingml/2006/main">
              <a:ext uri="{FF2B5EF4-FFF2-40B4-BE49-F238E27FC236}">
                <a16:creationId xmlns:a16="http://schemas.microsoft.com/office/drawing/2014/main" id="{2121D8F5-299E-41AB-9764-FAE9EE8E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230368"/>
            <a:ext cx="5212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tx1"/>
                </a:solidFill>
              </a:rPr>
              <a:t>同一个会话完成全部阶段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阶段状态由平台记录。结束后如果用户继续提出问题，会回到提交 MR 阶段继续修改，可以进行多轮。</a:t>
            </a:r>
            <a:endParaRPr sz="1200"/>
          </a:p>
        </p:txBody>
      </p:sp>
      <p:sp>
        <p:nvSpPr>
          <p:cNvPr id="5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BDBA1CC-E06B-405D-8FD4-0F102377B70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9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fld id="{BA58DA2A-B818-18A9-29C1-B697728D5BCE}" type="slidenum"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23152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5ABC0ED4-2ACD-43FD-A622-B54A3693E7A6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85800" y="27432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chemeClr val="accent1"/>
                </a:solidFill>
              </a:rPr>
              <a:t>一线减负：</a:t>
            </a:r>
            <a:r>
              <a:rPr sz="2400" b="1">
                <a:solidFill>
                  <a:schemeClr val="tx1"/>
                </a:solidFill>
              </a:rPr>
              <a:t>问题定位中的重复操作由 AI 完成</a:t>
            </a:r>
            <a:endParaRPr sz="2400"/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07F3D34E-7FAB-4C56-8226-88219C9D0BCF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685800" y="768096"/>
            <a:ext cx="10881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chemeClr val="tx2"/>
                </a:solidFill>
              </a:rPr>
              <a:t>现场操作已封装成平台技能供 AI 调用；AI 无法解决的情况交给人处理</a:t>
            </a:r>
            <a:endParaRPr sz="1300"/>
          </a:p>
        </p:txBody>
      </p:sp>
      <p:pic>
        <p:nvPicPr>
          <p:cNvPr id="4" name="diagram-fix">
            <a:extLst xmlns:a="http://schemas.openxmlformats.org/drawingml/2006/main">
              <a:ext uri="{FF2B5EF4-FFF2-40B4-BE49-F238E27FC236}">
                <a16:creationId xmlns:a16="http://schemas.microsoft.com/office/drawing/2014/main" id="{27EAAAD7-F505-4226-9DAB-F8985098C7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acb7651c84e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333" y="1298448"/>
            <a:ext cx="10785029" cy="3931920"/>
          </a:xfrm>
          <a:prstGeom xmlns:a="http://schemas.openxmlformats.org/drawingml/2006/main" prst="rect">
            <a:avLst/>
          </a:prstGeom>
        </p:spPr>
      </p:pic>
      <p:sp>
        <p:nvSpPr>
          <p:cNvPr id="5" name="k7-0">
            <a:extLst xmlns:a="http://schemas.openxmlformats.org/drawingml/2006/main">
              <a:ext uri="{FF2B5EF4-FFF2-40B4-BE49-F238E27FC236}">
                <a16:creationId xmlns:a16="http://schemas.microsoft.com/office/drawing/2014/main" id="{4F07BCEF-E96A-496F-B281-82854ED9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3484778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6" name="k7-m-0">
            <a:extLst xmlns:a="http://schemas.openxmlformats.org/drawingml/2006/main">
              <a:ext uri="{FF2B5EF4-FFF2-40B4-BE49-F238E27FC236}">
                <a16:creationId xmlns:a16="http://schemas.microsoft.com/office/drawing/2014/main" id="{9DED6123-0AA3-4438-BF10-8086190B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7" name="k7-h-0">
            <a:extLst xmlns:a="http://schemas.openxmlformats.org/drawingml/2006/main">
              <a:ext uri="{FF2B5EF4-FFF2-40B4-BE49-F238E27FC236}">
                <a16:creationId xmlns:a16="http://schemas.microsoft.com/office/drawing/2014/main" id="{FBDB7ACC-1791-4FC6-87AE-A19BCC96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50408"/>
            <a:ext cx="298185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现场操作封装成技能</a:t>
            </a:r>
            <a:endParaRPr sz="1300"/>
          </a:p>
        </p:txBody>
      </p:sp>
      <p:sp>
        <p:nvSpPr>
          <p:cNvPr id="8" name="k7-b-0">
            <a:extLst xmlns:a="http://schemas.openxmlformats.org/drawingml/2006/main">
              <a:ext uri="{FF2B5EF4-FFF2-40B4-BE49-F238E27FC236}">
                <a16:creationId xmlns:a16="http://schemas.microsoft.com/office/drawing/2014/main" id="{26252164-352B-426B-B139-635E0900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843016"/>
            <a:ext cx="298185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拉日志、换库部署做成平台技能，AI 直接调用</a:t>
            </a:r>
            <a:endParaRPr sz="1100"/>
          </a:p>
        </p:txBody>
      </p:sp>
      <p:sp>
        <p:nvSpPr>
          <p:cNvPr id="9" name="k7-1">
            <a:extLst xmlns:a="http://schemas.openxmlformats.org/drawingml/2006/main">
              <a:ext uri="{FF2B5EF4-FFF2-40B4-BE49-F238E27FC236}">
                <a16:creationId xmlns:a16="http://schemas.microsoft.com/office/drawing/2014/main" id="{DC1E6695-8DCC-4114-8051-876362F7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5440680"/>
            <a:ext cx="3484778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10" name="k7-m-1">
            <a:extLst xmlns:a="http://schemas.openxmlformats.org/drawingml/2006/main">
              <a:ext uri="{FF2B5EF4-FFF2-40B4-BE49-F238E27FC236}">
                <a16:creationId xmlns:a16="http://schemas.microsoft.com/office/drawing/2014/main" id="{DCB48449-BC20-48AD-8B06-EAB210FA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338" y="56235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1" name="k7-h-1">
            <a:extLst xmlns:a="http://schemas.openxmlformats.org/drawingml/2006/main">
              <a:ext uri="{FF2B5EF4-FFF2-40B4-BE49-F238E27FC236}">
                <a16:creationId xmlns:a16="http://schemas.microsoft.com/office/drawing/2014/main" id="{73C02D9E-0457-478D-830B-984B5CBE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218" y="5550408"/>
            <a:ext cx="298185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提前准备编译环境</a:t>
            </a:r>
            <a:endParaRPr sz="1300"/>
          </a:p>
        </p:txBody>
      </p:sp>
      <p:sp>
        <p:nvSpPr>
          <p:cNvPr id="12" name="k7-b-1">
            <a:extLst xmlns:a="http://schemas.openxmlformats.org/drawingml/2006/main">
              <a:ext uri="{FF2B5EF4-FFF2-40B4-BE49-F238E27FC236}">
                <a16:creationId xmlns:a16="http://schemas.microsoft.com/office/drawing/2014/main" id="{4F40C51B-4C61-41D6-91E5-87249157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218" y="5843016"/>
            <a:ext cx="298185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拉代码后在同一容器后台预编译，修复时直接复用</a:t>
            </a:r>
            <a:endParaRPr sz="1100"/>
          </a:p>
        </p:txBody>
      </p:sp>
      <p:sp>
        <p:nvSpPr>
          <p:cNvPr id="13" name="k7-2">
            <a:extLst xmlns:a="http://schemas.openxmlformats.org/drawingml/2006/main">
              <a:ext uri="{FF2B5EF4-FFF2-40B4-BE49-F238E27FC236}">
                <a16:creationId xmlns:a16="http://schemas.microsoft.com/office/drawing/2014/main" id="{5464927F-E61D-4F73-AED5-A0D99D08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117" y="5440680"/>
            <a:ext cx="3484778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14" name="k7-m-2">
            <a:extLst xmlns:a="http://schemas.openxmlformats.org/drawingml/2006/main">
              <a:ext uri="{FF2B5EF4-FFF2-40B4-BE49-F238E27FC236}">
                <a16:creationId xmlns:a16="http://schemas.microsoft.com/office/drawing/2014/main" id="{76DE5D17-3055-4507-BFA5-A6C1452B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997" y="56235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5" name="k7-h-2">
            <a:extLst xmlns:a="http://schemas.openxmlformats.org/drawingml/2006/main">
              <a:ext uri="{FF2B5EF4-FFF2-40B4-BE49-F238E27FC236}">
                <a16:creationId xmlns:a16="http://schemas.microsoft.com/office/drawing/2014/main" id="{22BD1BE7-435D-42AC-A094-170ACB8A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877" y="5550408"/>
            <a:ext cx="298185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安全与稳定</a:t>
            </a:r>
            <a:endParaRPr sz="1300"/>
          </a:p>
        </p:txBody>
      </p:sp>
      <p:sp>
        <p:nvSpPr>
          <p:cNvPr id="16" name="k7-b-2">
            <a:extLst xmlns:a="http://schemas.openxmlformats.org/drawingml/2006/main">
              <a:ext uri="{FF2B5EF4-FFF2-40B4-BE49-F238E27FC236}">
                <a16:creationId xmlns:a16="http://schemas.microsoft.com/office/drawing/2014/main" id="{C9FFF7BB-21FA-42EC-B0C5-CDBAB817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877" y="5843016"/>
            <a:ext cx="298185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网管口令加密保存；命令超时只终止该命令，不销毁容器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E0275DD-D23F-4B9B-92BB-BF7ED9EE7C8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9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fld id="{388657AE-30A1-5A7A-6A7F-315D84436430}" type="slidenum"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49193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D6484063-4A3D-45CB-A59B-90DCCE50958A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85800" y="27432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chemeClr val="accent1"/>
                </a:solidFill>
              </a:rPr>
              <a:t>分类治理：</a:t>
            </a:r>
            <a:r>
              <a:rPr sz="2400" b="1">
                <a:solidFill>
                  <a:schemeClr val="tx1"/>
                </a:solidFill>
              </a:rPr>
              <a:t>团队知识分四类，组件知识贯通生产与使用</a:t>
            </a:r>
            <a:endParaRPr sz="2400"/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8E7E2B56-6673-4A29-B081-FD9E6E49C385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685800" y="768096"/>
            <a:ext cx="10881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chemeClr val="tx2"/>
                </a:solidFill>
              </a:rPr>
              <a:t>AI 不了解团队的业务规则和自研组件；领域知识只负责生产，基础组件知识同时管理生产和使用</a:t>
            </a:r>
            <a:endParaRPr sz="1300"/>
          </a:p>
        </p:txBody>
      </p:sp>
      <p:pic>
        <p:nvPicPr>
          <p:cNvPr id="4" name="diagram-know">
            <a:extLst xmlns:a="http://schemas.openxmlformats.org/drawingml/2006/main">
              <a:ext uri="{FF2B5EF4-FFF2-40B4-BE49-F238E27FC236}">
                <a16:creationId xmlns:a16="http://schemas.microsoft.com/office/drawing/2014/main" id="{4249CBB6-0625-41F2-B829-EACB489B8F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4ed9e28bb42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846" y="1298448"/>
            <a:ext cx="10204003" cy="3931920"/>
          </a:xfrm>
          <a:prstGeom xmlns:a="http://schemas.openxmlformats.org/drawingml/2006/main" prst="rect">
            <a:avLst/>
          </a:prstGeom>
        </p:spPr>
      </p:pic>
      <p:sp>
        <p:nvSpPr>
          <p:cNvPr id="5" name="k8-0">
            <a:extLst xmlns:a="http://schemas.openxmlformats.org/drawingml/2006/main">
              <a:ext uri="{FF2B5EF4-FFF2-40B4-BE49-F238E27FC236}">
                <a16:creationId xmlns:a16="http://schemas.microsoft.com/office/drawing/2014/main" id="{7FD066A7-CD59-49E9-BCF4-32AAAF6F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2567864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6" name="k8-m-0">
            <a:extLst xmlns:a="http://schemas.openxmlformats.org/drawingml/2006/main">
              <a:ext uri="{FF2B5EF4-FFF2-40B4-BE49-F238E27FC236}">
                <a16:creationId xmlns:a16="http://schemas.microsoft.com/office/drawing/2014/main" id="{F24B478A-E329-457F-B5A8-4F0F18C3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235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7" name="k8-h-0">
            <a:extLst xmlns:a="http://schemas.openxmlformats.org/drawingml/2006/main">
              <a:ext uri="{FF2B5EF4-FFF2-40B4-BE49-F238E27FC236}">
                <a16:creationId xmlns:a16="http://schemas.microsoft.com/office/drawing/2014/main" id="{0F50FD79-E34B-4005-8DE2-45B2D358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50408"/>
            <a:ext cx="20649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领域知识</a:t>
            </a:r>
            <a:endParaRPr sz="1300"/>
          </a:p>
        </p:txBody>
      </p:sp>
      <p:sp>
        <p:nvSpPr>
          <p:cNvPr id="8" name="k8-b-0">
            <a:extLst xmlns:a="http://schemas.openxmlformats.org/drawingml/2006/main">
              <a:ext uri="{FF2B5EF4-FFF2-40B4-BE49-F238E27FC236}">
                <a16:creationId xmlns:a16="http://schemas.microsoft.com/office/drawing/2014/main" id="{27FFCA7C-4BE5-4E67-9443-DBA0936E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843016"/>
            <a:ext cx="20649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业务规则和背景，归档到业务代码仓</a:t>
            </a:r>
            <a:endParaRPr sz="1100"/>
          </a:p>
        </p:txBody>
      </p:sp>
      <p:sp>
        <p:nvSpPr>
          <p:cNvPr id="9" name="k8-1">
            <a:extLst xmlns:a="http://schemas.openxmlformats.org/drawingml/2006/main">
              <a:ext uri="{FF2B5EF4-FFF2-40B4-BE49-F238E27FC236}">
                <a16:creationId xmlns:a16="http://schemas.microsoft.com/office/drawing/2014/main" id="{2B199681-4974-4B1B-9B12-5B4898D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544" y="5440680"/>
            <a:ext cx="2567864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10" name="k8-m-1">
            <a:extLst xmlns:a="http://schemas.openxmlformats.org/drawingml/2006/main">
              <a:ext uri="{FF2B5EF4-FFF2-40B4-BE49-F238E27FC236}">
                <a16:creationId xmlns:a16="http://schemas.microsoft.com/office/drawing/2014/main" id="{ED404E66-2385-4A06-89E5-F4A2942A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424" y="56235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1" name="k8-h-1">
            <a:extLst xmlns:a="http://schemas.openxmlformats.org/drawingml/2006/main">
              <a:ext uri="{FF2B5EF4-FFF2-40B4-BE49-F238E27FC236}">
                <a16:creationId xmlns:a16="http://schemas.microsoft.com/office/drawing/2014/main" id="{8F8BEF26-DE6F-4145-8181-2C984EB7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04" y="5550408"/>
            <a:ext cx="20649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基础组件知识</a:t>
            </a:r>
            <a:endParaRPr sz="1300"/>
          </a:p>
        </p:txBody>
      </p:sp>
      <p:sp>
        <p:nvSpPr>
          <p:cNvPr id="12" name="k8-b-1">
            <a:extLst xmlns:a="http://schemas.openxmlformats.org/drawingml/2006/main">
              <a:ext uri="{FF2B5EF4-FFF2-40B4-BE49-F238E27FC236}">
                <a16:creationId xmlns:a16="http://schemas.microsoft.com/office/drawing/2014/main" id="{44774850-A699-4CE0-8617-5AB1E9D4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04" y="5843016"/>
            <a:ext cx="20649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自研组件用法，用于设计选型、改代码和 MR 检查</a:t>
            </a:r>
            <a:endParaRPr sz="1100"/>
          </a:p>
        </p:txBody>
      </p:sp>
      <p:sp>
        <p:nvSpPr>
          <p:cNvPr id="13" name="k8-2">
            <a:extLst xmlns:a="http://schemas.openxmlformats.org/drawingml/2006/main">
              <a:ext uri="{FF2B5EF4-FFF2-40B4-BE49-F238E27FC236}">
                <a16:creationId xmlns:a16="http://schemas.microsoft.com/office/drawing/2014/main" id="{5B21B04D-6AC7-4797-BAAC-9350A456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5440680"/>
            <a:ext cx="2567864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14" name="k8-m-2">
            <a:extLst xmlns:a="http://schemas.openxmlformats.org/drawingml/2006/main">
              <a:ext uri="{FF2B5EF4-FFF2-40B4-BE49-F238E27FC236}">
                <a16:creationId xmlns:a16="http://schemas.microsoft.com/office/drawing/2014/main" id="{FE5155F7-99DD-41CD-AC72-7A958144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56235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5" name="k8-h-2">
            <a:extLst xmlns:a="http://schemas.openxmlformats.org/drawingml/2006/main">
              <a:ext uri="{FF2B5EF4-FFF2-40B4-BE49-F238E27FC236}">
                <a16:creationId xmlns:a16="http://schemas.microsoft.com/office/drawing/2014/main" id="{03E1D384-8D7A-419A-ACDE-8BBAA473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48" y="5550408"/>
            <a:ext cx="20649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Skill</a:t>
            </a:r>
            <a:endParaRPr sz="1300"/>
          </a:p>
        </p:txBody>
      </p:sp>
      <p:sp>
        <p:nvSpPr>
          <p:cNvPr id="16" name="k8-b-2">
            <a:extLst xmlns:a="http://schemas.openxmlformats.org/drawingml/2006/main">
              <a:ext uri="{FF2B5EF4-FFF2-40B4-BE49-F238E27FC236}">
                <a16:creationId xmlns:a16="http://schemas.microsoft.com/office/drawing/2014/main" id="{564B8DDA-8B0A-4B80-B304-C4C35875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48" y="5843016"/>
            <a:ext cx="20649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可直接执行的操作步骤，审查后按模块提供</a:t>
            </a:r>
            <a:endParaRPr sz="1100"/>
          </a:p>
        </p:txBody>
      </p:sp>
      <p:sp>
        <p:nvSpPr>
          <p:cNvPr id="17" name="k8-3">
            <a:extLst xmlns:a="http://schemas.openxmlformats.org/drawingml/2006/main">
              <a:ext uri="{FF2B5EF4-FFF2-40B4-BE49-F238E27FC236}">
                <a16:creationId xmlns:a16="http://schemas.microsoft.com/office/drawing/2014/main" id="{041DD195-166E-4EB6-BC7B-C98949F8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31" y="5440680"/>
            <a:ext cx="2567864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18" name="k8-m-3">
            <a:extLst xmlns:a="http://schemas.openxmlformats.org/drawingml/2006/main">
              <a:ext uri="{FF2B5EF4-FFF2-40B4-BE49-F238E27FC236}">
                <a16:creationId xmlns:a16="http://schemas.microsoft.com/office/drawing/2014/main" id="{6BEA9621-D2BE-4D2B-B7DC-FFEA5E2B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911" y="56235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9" name="k8-h-3">
            <a:extLst xmlns:a="http://schemas.openxmlformats.org/drawingml/2006/main">
              <a:ext uri="{FF2B5EF4-FFF2-40B4-BE49-F238E27FC236}">
                <a16:creationId xmlns:a16="http://schemas.microsoft.com/office/drawing/2014/main" id="{736D030E-6FA7-482B-82CF-76C7A590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791" y="5550408"/>
            <a:ext cx="206494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1"/>
                </a:solidFill>
              </a:rPr>
              <a:t>团队经验</a:t>
            </a:r>
            <a:endParaRPr sz="1300"/>
          </a:p>
        </p:txBody>
      </p:sp>
      <p:sp>
        <p:nvSpPr>
          <p:cNvPr id="20" name="k8-b-3">
            <a:extLst xmlns:a="http://schemas.openxmlformats.org/drawingml/2006/main">
              <a:ext uri="{FF2B5EF4-FFF2-40B4-BE49-F238E27FC236}">
                <a16:creationId xmlns:a16="http://schemas.microsoft.com/office/drawing/2014/main" id="{8E3EF9A1-8D19-4E28-AEF0-17254103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791" y="5843016"/>
            <a:ext cx="20649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交付后自动整理，人工采纳后才使用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E4AA481-57BE-4071-B071-B813DE875BF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9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fld id="{DB7BEEEC-A170-5376-2B6E-CB54687B0CB1}" type="slidenum"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58170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CC592383-4112-4397-9002-3388816DF2C1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85800" y="27432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chemeClr val="accent1"/>
                </a:solidFill>
              </a:rPr>
              <a:t>标准化生产：</a:t>
            </a:r>
            <a:r>
              <a:rPr sz="2400" b="1">
                <a:solidFill>
                  <a:schemeClr val="tx1"/>
                </a:solidFill>
              </a:rPr>
              <a:t>三类知识统一经过研究、审查、发布、归档</a:t>
            </a:r>
            <a:endParaRPr sz="2400"/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AB5E4644-76B0-4C0B-A96B-FFFC70ABCC57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685800" y="768096"/>
            <a:ext cx="10881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chemeClr val="tx2"/>
                </a:solidFill>
              </a:rPr>
              <a:t>所有知识任务集中在「知识任务」页面，需要人处理的任务排在前面，并标明下一步操作</a:t>
            </a:r>
            <a:endParaRPr sz="1300"/>
          </a:p>
        </p:txBody>
      </p:sp>
      <p:sp>
        <p:nvSpPr>
          <p:cNvPr id="4" name="ks-ic-0-bg">
            <a:extLst xmlns:a="http://schemas.openxmlformats.org/drawingml/2006/main">
              <a:ext uri="{FF2B5EF4-FFF2-40B4-BE49-F238E27FC236}">
                <a16:creationId xmlns:a16="http://schemas.microsoft.com/office/drawing/2014/main" id="{03BB3771-CCE9-44BF-B6F0-CBEAD355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5" name="ks-ic-0">
            <a:extLst xmlns:a="http://schemas.openxmlformats.org/drawingml/2006/main">
              <a:ext uri="{FF2B5EF4-FFF2-40B4-BE49-F238E27FC236}">
                <a16:creationId xmlns:a16="http://schemas.microsoft.com/office/drawing/2014/main" id="{758AAE19-CEC5-48FF-BE4A-5D0A3B111E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956ef57ea46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8695" y="1585935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6" name="ks-link-0">
            <a:extLst xmlns:a="http://schemas.openxmlformats.org/drawingml/2006/main">
              <a:ext uri="{FF2B5EF4-FFF2-40B4-BE49-F238E27FC236}">
                <a16:creationId xmlns:a16="http://schemas.microsoft.com/office/drawing/2014/main" id="{19FC1894-36BF-49F5-93A3-2BD91A30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029968"/>
            <a:ext cx="0" cy="5669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3"/>
            </a:solidFill>
            <a:prstDash val="solid"/>
          </a:ln>
        </p:spPr>
      </p:sp>
      <p:sp>
        <p:nvSpPr>
          <p:cNvPr id="7" name="ks-h-0">
            <a:extLst xmlns:a="http://schemas.openxmlformats.org/drawingml/2006/main">
              <a:ext uri="{FF2B5EF4-FFF2-40B4-BE49-F238E27FC236}">
                <a16:creationId xmlns:a16="http://schemas.microsoft.com/office/drawing/2014/main" id="{C859E24E-823A-4474-9616-6E201EA8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481328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01  发起研究或导入</a:t>
            </a:r>
            <a:endParaRPr sz="1400"/>
          </a:p>
        </p:txBody>
      </p:sp>
      <p:sp>
        <p:nvSpPr>
          <p:cNvPr id="8" name="ks-b-0">
            <a:extLst xmlns:a="http://schemas.openxmlformats.org/drawingml/2006/main">
              <a:ext uri="{FF2B5EF4-FFF2-40B4-BE49-F238E27FC236}">
                <a16:creationId xmlns:a16="http://schemas.microsoft.com/office/drawing/2014/main" id="{06EAE4AA-D47E-4BA2-B0D2-485034D9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10512"/>
            <a:ext cx="32918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选择业务模块或语言，上传资料，关联单号；创建后直接进入任务页面</a:t>
            </a:r>
            <a:endParaRPr sz="1200"/>
          </a:p>
        </p:txBody>
      </p:sp>
      <p:sp>
        <p:nvSpPr>
          <p:cNvPr id="9" name="ks-ic-1-bg">
            <a:extLst xmlns:a="http://schemas.openxmlformats.org/drawingml/2006/main">
              <a:ext uri="{FF2B5EF4-FFF2-40B4-BE49-F238E27FC236}">
                <a16:creationId xmlns:a16="http://schemas.microsoft.com/office/drawing/2014/main" id="{1D974FE4-6EE2-4A87-9E4C-5B4795B1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176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10" name="ks-ic-1">
            <a:extLst xmlns:a="http://schemas.openxmlformats.org/drawingml/2006/main">
              <a:ext uri="{FF2B5EF4-FFF2-40B4-BE49-F238E27FC236}">
                <a16:creationId xmlns:a16="http://schemas.microsoft.com/office/drawing/2014/main" id="{97C46062-5DF1-482C-8CCD-09D3FE867C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686f534e34a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8695" y="2774655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1" name="ks-link-1">
            <a:extLst xmlns:a="http://schemas.openxmlformats.org/drawingml/2006/main">
              <a:ext uri="{FF2B5EF4-FFF2-40B4-BE49-F238E27FC236}">
                <a16:creationId xmlns:a16="http://schemas.microsoft.com/office/drawing/2014/main" id="{DE13F277-99C0-4C41-BE9D-5C74E8EB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218688"/>
            <a:ext cx="0" cy="5669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3"/>
            </a:solidFill>
            <a:prstDash val="solid"/>
          </a:ln>
        </p:spPr>
      </p:sp>
      <p:sp>
        <p:nvSpPr>
          <p:cNvPr id="12" name="ks-h-1">
            <a:extLst xmlns:a="http://schemas.openxmlformats.org/drawingml/2006/main">
              <a:ext uri="{FF2B5EF4-FFF2-40B4-BE49-F238E27FC236}">
                <a16:creationId xmlns:a16="http://schemas.microsoft.com/office/drawing/2014/main" id="{7E86567E-43A0-4AF5-A915-732AC215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70048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02  审查</a:t>
            </a:r>
            <a:endParaRPr sz="1400"/>
          </a:p>
        </p:txBody>
      </p:sp>
      <p:sp>
        <p:nvSpPr>
          <p:cNvPr id="13" name="ks-b-1">
            <a:extLst xmlns:a="http://schemas.openxmlformats.org/drawingml/2006/main">
              <a:ext uri="{FF2B5EF4-FFF2-40B4-BE49-F238E27FC236}">
                <a16:creationId xmlns:a16="http://schemas.microsoft.com/office/drawing/2014/main" id="{B8FB4E82-F9D9-4433-A171-B6D6A895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99232"/>
            <a:ext cx="32918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逐篇阅读，可逐行提意见并交给 Agent 修订；研究进行中也可以提意见</a:t>
            </a:r>
            <a:endParaRPr sz="1200"/>
          </a:p>
        </p:txBody>
      </p:sp>
      <p:sp>
        <p:nvSpPr>
          <p:cNvPr id="14" name="ks-ic-2-bg">
            <a:extLst xmlns:a="http://schemas.openxmlformats.org/drawingml/2006/main">
              <a:ext uri="{FF2B5EF4-FFF2-40B4-BE49-F238E27FC236}">
                <a16:creationId xmlns:a16="http://schemas.microsoft.com/office/drawing/2014/main" id="{E65D081C-4EFF-47FE-83BC-C6D15B8B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15" name="ks-ic-2">
            <a:extLst xmlns:a="http://schemas.openxmlformats.org/drawingml/2006/main">
              <a:ext uri="{FF2B5EF4-FFF2-40B4-BE49-F238E27FC236}">
                <a16:creationId xmlns:a16="http://schemas.microsoft.com/office/drawing/2014/main" id="{C665A2EB-A585-4401-BE0B-DBA778A451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b86db937447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8695" y="3963375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6" name="ks-link-2">
            <a:extLst xmlns:a="http://schemas.openxmlformats.org/drawingml/2006/main">
              <a:ext uri="{FF2B5EF4-FFF2-40B4-BE49-F238E27FC236}">
                <a16:creationId xmlns:a16="http://schemas.microsoft.com/office/drawing/2014/main" id="{2301505C-9B52-4B32-9832-D339C582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07408"/>
            <a:ext cx="0" cy="5669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3"/>
            </a:solidFill>
            <a:prstDash val="solid"/>
          </a:ln>
        </p:spPr>
      </p:sp>
      <p:sp>
        <p:nvSpPr>
          <p:cNvPr id="17" name="ks-h-2">
            <a:extLst xmlns:a="http://schemas.openxmlformats.org/drawingml/2006/main">
              <a:ext uri="{FF2B5EF4-FFF2-40B4-BE49-F238E27FC236}">
                <a16:creationId xmlns:a16="http://schemas.microsoft.com/office/drawing/2014/main" id="{56C8EC83-B448-42C8-9AEC-53463064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58768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03  发布</a:t>
            </a:r>
            <a:endParaRPr sz="1400"/>
          </a:p>
        </p:txBody>
      </p:sp>
      <p:sp>
        <p:nvSpPr>
          <p:cNvPr id="18" name="ks-b-2">
            <a:extLst xmlns:a="http://schemas.openxmlformats.org/drawingml/2006/main">
              <a:ext uri="{FF2B5EF4-FFF2-40B4-BE49-F238E27FC236}">
                <a16:creationId xmlns:a16="http://schemas.microsoft.com/office/drawing/2014/main" id="{3AE735AF-3FAD-4FD4-94E9-04FE86B6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187952"/>
            <a:ext cx="32918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选择要发布的文档，发布后即可在平台上阅读；每个版本都保留，可对比和恢复</a:t>
            </a:r>
            <a:endParaRPr sz="1200"/>
          </a:p>
        </p:txBody>
      </p:sp>
      <p:sp>
        <p:nvSpPr>
          <p:cNvPr id="19" name="ks-ic-3-bg">
            <a:extLst xmlns:a="http://schemas.openxmlformats.org/drawingml/2006/main">
              <a:ext uri="{FF2B5EF4-FFF2-40B4-BE49-F238E27FC236}">
                <a16:creationId xmlns:a16="http://schemas.microsoft.com/office/drawing/2014/main" id="{FB63BD74-215A-4467-A63B-EDBA363F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20" name="ks-ic-3">
            <a:extLst xmlns:a="http://schemas.openxmlformats.org/drawingml/2006/main">
              <a:ext uri="{FF2B5EF4-FFF2-40B4-BE49-F238E27FC236}">
                <a16:creationId xmlns:a16="http://schemas.microsoft.com/office/drawing/2014/main" id="{1FEE5767-8A40-4512-BD35-FB7B317810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04ef5819448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8695" y="5152095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21" name="ks-h-3">
            <a:extLst xmlns:a="http://schemas.openxmlformats.org/drawingml/2006/main">
              <a:ext uri="{FF2B5EF4-FFF2-40B4-BE49-F238E27FC236}">
                <a16:creationId xmlns:a16="http://schemas.microsoft.com/office/drawing/2014/main" id="{BCD21E02-7007-4CDA-810A-4A712BF9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047488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1"/>
                </a:solidFill>
              </a:rPr>
              <a:t>04  归档</a:t>
            </a:r>
            <a:endParaRPr sz="1400"/>
          </a:p>
        </p:txBody>
      </p:sp>
      <p:sp>
        <p:nvSpPr>
          <p:cNvPr id="22" name="ks-b-3">
            <a:extLst xmlns:a="http://schemas.openxmlformats.org/drawingml/2006/main">
              <a:ext uri="{FF2B5EF4-FFF2-40B4-BE49-F238E27FC236}">
                <a16:creationId xmlns:a16="http://schemas.microsoft.com/office/drawing/2014/main" id="{B3330B49-1064-4D7D-91DD-D847EA66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376672"/>
            <a:ext cx="32918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填写单号后创建 MR 提交到代码仓；MR 创建后任务结束，是否合入由 CodeHub 审核</a:t>
            </a:r>
            <a:endParaRPr sz="1200"/>
          </a:p>
        </p:txBody>
      </p:sp>
      <p:sp>
        <p:nvSpPr>
          <p:cNvPr id="23" name="kshot-frame">
            <a:extLst xmlns:a="http://schemas.openxmlformats.org/drawingml/2006/main">
              <a:ext uri="{FF2B5EF4-FFF2-40B4-BE49-F238E27FC236}">
                <a16:creationId xmlns:a16="http://schemas.microsoft.com/office/drawing/2014/main" id="{5D49FC43-6EB6-4C50-AE39-FE912D11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1344168"/>
            <a:ext cx="6577279" cy="37219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kshot">
            <a:extLst xmlns:a="http://schemas.openxmlformats.org/drawingml/2006/main">
              <a:ext uri="{FF2B5EF4-FFF2-40B4-BE49-F238E27FC236}">
                <a16:creationId xmlns:a16="http://schemas.microsoft.com/office/drawing/2014/main" id="{2E808C9E-6DE4-484E-8400-CE7770D4D6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2018c70704e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3480" y="1371600"/>
            <a:ext cx="6522415" cy="3667068"/>
          </a:xfrm>
          <a:prstGeom xmlns:a="http://schemas.openxmlformats.org/drawingml/2006/main" prst="rect">
            <a:avLst/>
          </a:prstGeom>
        </p:spPr>
      </p:pic>
      <p:sp>
        <p:nvSpPr>
          <p:cNvPr id="25" name="kshot-cap">
            <a:extLst xmlns:a="http://schemas.openxmlformats.org/drawingml/2006/main">
              <a:ext uri="{FF2B5EF4-FFF2-40B4-BE49-F238E27FC236}">
                <a16:creationId xmlns:a16="http://schemas.microsoft.com/office/drawing/2014/main" id="{67A09F34-7F41-4F12-92B9-CF495DC0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111820"/>
            <a:ext cx="652241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2"/>
                </a:solidFill>
              </a:rPr>
              <a:t>知识任务中心的状态由后端统一计算，每行右侧为下一步操作</a:t>
            </a:r>
            <a:endParaRPr sz="1000"/>
          </a:p>
        </p:txBody>
      </p:sp>
      <p:sp>
        <p:nvSpPr>
          <p:cNvPr id="26" name="duty-0">
            <a:extLst xmlns:a="http://schemas.openxmlformats.org/drawingml/2006/main">
              <a:ext uri="{FF2B5EF4-FFF2-40B4-BE49-F238E27FC236}">
                <a16:creationId xmlns:a16="http://schemas.microsoft.com/office/drawing/2014/main" id="{A8B4819F-D5C7-4964-B4C1-461B5AD0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495868"/>
            <a:ext cx="3169768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bg2"/>
            </a:solidFill>
            <a:prstDash val="solid"/>
          </a:ln>
        </p:spPr>
      </p:sp>
      <p:sp>
        <p:nvSpPr>
          <p:cNvPr id="27" name="duty-k-0">
            <a:extLst xmlns:a="http://schemas.openxmlformats.org/drawingml/2006/main">
              <a:ext uri="{FF2B5EF4-FFF2-40B4-BE49-F238E27FC236}">
                <a16:creationId xmlns:a16="http://schemas.microsoft.com/office/drawing/2014/main" id="{8937A3CD-DF30-40CC-93EE-4E077CB9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605596"/>
            <a:ext cx="27125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tx2"/>
                </a:solidFill>
              </a:rPr>
              <a:t>AI 负责</a:t>
            </a:r>
            <a:endParaRPr sz="1300"/>
          </a:p>
        </p:txBody>
      </p:sp>
      <p:sp>
        <p:nvSpPr>
          <p:cNvPr id="28" name="duty-v-0">
            <a:extLst xmlns:a="http://schemas.openxmlformats.org/drawingml/2006/main">
              <a:ext uri="{FF2B5EF4-FFF2-40B4-BE49-F238E27FC236}">
                <a16:creationId xmlns:a16="http://schemas.microsoft.com/office/drawing/2014/main" id="{EC1F3098-7AF5-4B83-85C2-DEF89A6D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898204"/>
            <a:ext cx="27125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chemeClr val="tx1"/>
                </a:solidFill>
              </a:rPr>
              <a:t>研究资料和源码，起草并按意见修订</a:t>
            </a:r>
            <a:endParaRPr sz="1150"/>
          </a:p>
        </p:txBody>
      </p:sp>
      <p:sp>
        <p:nvSpPr>
          <p:cNvPr id="29" name="duty-1">
            <a:extLst xmlns:a="http://schemas.openxmlformats.org/drawingml/2006/main">
              <a:ext uri="{FF2B5EF4-FFF2-40B4-BE49-F238E27FC236}">
                <a16:creationId xmlns:a16="http://schemas.microsoft.com/office/drawing/2014/main" id="{14FFF084-D224-402E-8908-C56385A3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128" y="5495868"/>
            <a:ext cx="3169768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2700">
            <a:solidFill>
              <a:srgbClr val="FBEAEA"/>
            </a:solidFill>
            <a:prstDash val="solid"/>
          </a:ln>
        </p:spPr>
      </p:sp>
      <p:sp>
        <p:nvSpPr>
          <p:cNvPr id="30" name="duty-k-1">
            <a:extLst xmlns:a="http://schemas.openxmlformats.org/drawingml/2006/main">
              <a:ext uri="{FF2B5EF4-FFF2-40B4-BE49-F238E27FC236}">
                <a16:creationId xmlns:a16="http://schemas.microsoft.com/office/drawing/2014/main" id="{ECA5B422-8BEE-4DED-9C24-42CEA29B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728" y="5605596"/>
            <a:ext cx="27125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1"/>
                </a:solidFill>
              </a:rPr>
              <a:t>人负责</a:t>
            </a:r>
            <a:endParaRPr sz="1300"/>
          </a:p>
        </p:txBody>
      </p:sp>
      <p:sp>
        <p:nvSpPr>
          <p:cNvPr id="31" name="duty-v-1">
            <a:extLst xmlns:a="http://schemas.openxmlformats.org/drawingml/2006/main">
              <a:ext uri="{FF2B5EF4-FFF2-40B4-BE49-F238E27FC236}">
                <a16:creationId xmlns:a16="http://schemas.microsoft.com/office/drawing/2014/main" id="{FAE91019-D2B6-4B0F-A06D-1D64A48D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728" y="5898204"/>
            <a:ext cx="27125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chemeClr val="tx1"/>
                </a:solidFill>
              </a:rPr>
              <a:t>逐篇审查，选定发布内容，填单号归档</a:t>
            </a:r>
            <a:endParaRPr sz="1150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CDE8583-4117-42BB-BB9D-BE763AC120E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9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fld id="{30394428-F1DC-E5F6-DB0C-7DE31F3D8A23}" type="slidenum"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90607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EA3AECC5-19F0-4AFA-B35C-42E317911312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85800" y="27432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chemeClr val="accent1"/>
                </a:solidFill>
              </a:rPr>
              <a:t>可信执行：</a:t>
            </a:r>
            <a:r>
              <a:rPr sz="2400" b="1">
                <a:solidFill>
                  <a:schemeClr val="tx1"/>
                </a:solidFill>
              </a:rPr>
              <a:t>四项规则确保 AI 结果可核实</a:t>
            </a:r>
            <a:endParaRPr sz="2400"/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BD0A5215-A243-4B0A-8AF8-503A9C2A0019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685800" y="768096"/>
            <a:ext cx="10881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chemeClr val="tx2"/>
                </a:solidFill>
              </a:rPr>
              <a:t>这些规则写在平台的开发规范中，由自动化测试覆盖；每次推送前运行类型检查、构建和测试</a:t>
            </a:r>
            <a:endParaRPr sz="1300"/>
          </a:p>
        </p:txBody>
      </p:sp>
      <p:pic>
        <p:nvPicPr>
          <p:cNvPr id="4" name="diagram-trust">
            <a:extLst xmlns:a="http://schemas.openxmlformats.org/drawingml/2006/main">
              <a:ext uri="{FF2B5EF4-FFF2-40B4-BE49-F238E27FC236}">
                <a16:creationId xmlns:a16="http://schemas.microsoft.com/office/drawing/2014/main" id="{8FD4688C-AA1E-4503-A0D4-54DD6E8450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8b27a1c0e46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734" y="1298448"/>
            <a:ext cx="10324228" cy="3794760"/>
          </a:xfrm>
          <a:prstGeom xmlns:a="http://schemas.openxmlformats.org/drawingml/2006/main" prst="rect">
            <a:avLst/>
          </a:prstGeom>
        </p:spPr>
      </p:pic>
      <p:sp>
        <p:nvSpPr>
          <p:cNvPr id="5" name="stats-bg">
            <a:extLst xmlns:a="http://schemas.openxmlformats.org/drawingml/2006/main">
              <a:ext uri="{FF2B5EF4-FFF2-40B4-BE49-F238E27FC236}">
                <a16:creationId xmlns:a16="http://schemas.microsoft.com/office/drawing/2014/main" id="{CFEBC3A9-1657-4D7B-87A5-258C1944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095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C1C1E"/>
          </a:solidFill>
          <a:ln xmlns:a="http://schemas.openxmlformats.org/drawingml/2006/main" w="12700">
            <a:solidFill>
              <a:srgbClr val="1C1C1E"/>
            </a:solidFill>
            <a:prstDash val="solid"/>
          </a:ln>
        </p:spPr>
      </p:sp>
      <p:sp>
        <p:nvSpPr>
          <p:cNvPr id="6" name="st-n-0">
            <a:extLst xmlns:a="http://schemas.openxmlformats.org/drawingml/2006/main">
              <a:ext uri="{FF2B5EF4-FFF2-40B4-BE49-F238E27FC236}">
                <a16:creationId xmlns:a16="http://schemas.microsoft.com/office/drawing/2014/main" id="{CB71D809-C5EF-423F-AD0C-5D46DB29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49240"/>
            <a:ext cx="252214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C7000B"/>
                </a:solidFill>
              </a:rPr>
              <a:t>3000+</a:t>
            </a:r>
            <a:endParaRPr sz="2600"/>
          </a:p>
        </p:txBody>
      </p:sp>
      <p:sp>
        <p:nvSpPr>
          <p:cNvPr id="7" name="st-l-0">
            <a:extLst xmlns:a="http://schemas.openxmlformats.org/drawingml/2006/main">
              <a:ext uri="{FF2B5EF4-FFF2-40B4-BE49-F238E27FC236}">
                <a16:creationId xmlns:a16="http://schemas.microsoft.com/office/drawing/2014/main" id="{249BD9F0-F70F-4045-955A-50EDFCD8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24728"/>
            <a:ext cx="25221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FBFBF"/>
                </a:solidFill>
              </a:rPr>
              <a:t>自动化测试</a:t>
            </a:r>
            <a:endParaRPr sz="1200"/>
          </a:p>
        </p:txBody>
      </p:sp>
      <p:sp>
        <p:nvSpPr>
          <p:cNvPr id="8" name="st-n-1">
            <a:extLst xmlns:a="http://schemas.openxmlformats.org/drawingml/2006/main">
              <a:ext uri="{FF2B5EF4-FFF2-40B4-BE49-F238E27FC236}">
                <a16:creationId xmlns:a16="http://schemas.microsoft.com/office/drawing/2014/main" id="{DED201AB-A7DD-4FE3-ACB7-F42D80A0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264" y="5349240"/>
            <a:ext cx="252214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bg1"/>
                </a:solidFill>
              </a:rPr>
              <a:t>真实容器和 Git</a:t>
            </a:r>
            <a:endParaRPr sz="1800"/>
          </a:p>
        </p:txBody>
      </p:sp>
      <p:sp>
        <p:nvSpPr>
          <p:cNvPr id="9" name="st-l-1">
            <a:extLst xmlns:a="http://schemas.openxmlformats.org/drawingml/2006/main">
              <a:ext uri="{FF2B5EF4-FFF2-40B4-BE49-F238E27FC236}">
                <a16:creationId xmlns:a16="http://schemas.microsoft.com/office/drawing/2014/main" id="{0C4A3518-948C-4A8C-B1DC-D7E434A4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264" y="5824728"/>
            <a:ext cx="25221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FBFBF"/>
                </a:solidFill>
              </a:rPr>
              <a:t>强制终止进程后的重启演练</a:t>
            </a:r>
            <a:endParaRPr sz="1200"/>
          </a:p>
        </p:txBody>
      </p:sp>
      <p:sp>
        <p:nvSpPr>
          <p:cNvPr id="10" name="st-sep-1">
            <a:extLst xmlns:a="http://schemas.openxmlformats.org/drawingml/2006/main">
              <a:ext uri="{FF2B5EF4-FFF2-40B4-BE49-F238E27FC236}">
                <a16:creationId xmlns:a16="http://schemas.microsoft.com/office/drawing/2014/main" id="{5B7E3817-5CFB-4D77-940D-29973070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24" y="5440680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484A"/>
            </a:solidFill>
            <a:prstDash val="solid"/>
          </a:ln>
        </p:spPr>
      </p:sp>
      <p:sp>
        <p:nvSpPr>
          <p:cNvPr id="11" name="st-n-2">
            <a:extLst xmlns:a="http://schemas.openxmlformats.org/drawingml/2006/main">
              <a:ext uri="{FF2B5EF4-FFF2-40B4-BE49-F238E27FC236}">
                <a16:creationId xmlns:a16="http://schemas.microsoft.com/office/drawing/2014/main" id="{BA7F7B89-F41F-498C-BEDC-63FA00A5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5349240"/>
            <a:ext cx="252214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bg1"/>
                </a:solidFill>
              </a:rPr>
              <a:t>五种屏幕宽度</a:t>
            </a:r>
            <a:endParaRPr sz="1800"/>
          </a:p>
        </p:txBody>
      </p:sp>
      <p:sp>
        <p:nvSpPr>
          <p:cNvPr id="12" name="st-l-2">
            <a:extLst xmlns:a="http://schemas.openxmlformats.org/drawingml/2006/main">
              <a:ext uri="{FF2B5EF4-FFF2-40B4-BE49-F238E27FC236}">
                <a16:creationId xmlns:a16="http://schemas.microsoft.com/office/drawing/2014/main" id="{9D3DAEB4-B7F1-447E-BF8A-B6E77C24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5824728"/>
            <a:ext cx="25221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FBFBF"/>
                </a:solidFill>
              </a:rPr>
              <a:t>界面截图逐像素对比</a:t>
            </a:r>
            <a:endParaRPr sz="1200"/>
          </a:p>
        </p:txBody>
      </p:sp>
      <p:sp>
        <p:nvSpPr>
          <p:cNvPr id="13" name="st-sep-2">
            <a:extLst xmlns:a="http://schemas.openxmlformats.org/drawingml/2006/main">
              <a:ext uri="{FF2B5EF4-FFF2-40B4-BE49-F238E27FC236}">
                <a16:creationId xmlns:a16="http://schemas.microsoft.com/office/drawing/2014/main" id="{250F6674-2D9D-49F5-A8E8-7592E18E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8" y="5440680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484A"/>
            </a:solidFill>
            <a:prstDash val="solid"/>
          </a:ln>
        </p:spPr>
      </p:sp>
      <p:sp>
        <p:nvSpPr>
          <p:cNvPr id="14" name="st-n-3">
            <a:extLst xmlns:a="http://schemas.openxmlformats.org/drawingml/2006/main">
              <a:ext uri="{FF2B5EF4-FFF2-40B4-BE49-F238E27FC236}">
                <a16:creationId xmlns:a16="http://schemas.microsoft.com/office/drawing/2014/main" id="{9DA954D8-AEF1-471A-90B8-0E1E3BC2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311" y="5349240"/>
            <a:ext cx="252214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bg1"/>
                </a:solidFill>
              </a:rPr>
              <a:t>推送前检查</a:t>
            </a:r>
            <a:endParaRPr sz="1800"/>
          </a:p>
        </p:txBody>
      </p:sp>
      <p:sp>
        <p:nvSpPr>
          <p:cNvPr id="15" name="st-l-3">
            <a:extLst xmlns:a="http://schemas.openxmlformats.org/drawingml/2006/main">
              <a:ext uri="{FF2B5EF4-FFF2-40B4-BE49-F238E27FC236}">
                <a16:creationId xmlns:a16="http://schemas.microsoft.com/office/drawing/2014/main" id="{7DC43060-6F2E-48A0-8465-EB1699AC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311" y="5824728"/>
            <a:ext cx="25221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FBFBF"/>
                </a:solidFill>
              </a:rPr>
              <a:t>类型检查、构建和测试</a:t>
            </a:r>
            <a:endParaRPr sz="1200"/>
          </a:p>
        </p:txBody>
      </p:sp>
      <p:sp>
        <p:nvSpPr>
          <p:cNvPr id="16" name="st-sep-3">
            <a:extLst xmlns:a="http://schemas.openxmlformats.org/drawingml/2006/main">
              <a:ext uri="{FF2B5EF4-FFF2-40B4-BE49-F238E27FC236}">
                <a16:creationId xmlns:a16="http://schemas.microsoft.com/office/drawing/2014/main" id="{6ABB225A-7CB0-4486-A52A-568FC0D9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871" y="5440680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484A"/>
            </a:solidFill>
            <a:prstDash val="solid"/>
          </a:ln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0FBB592-1FDA-4D62-AC5C-6234B63222B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44652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9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algn="r">
              <a:buNone/>
              <a:defRPr sz="9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fld id="{4DB16885-0D3F-A391-B669-3211DB3B26E8}" type="slidenum"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94841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haring-title">
            <a:extLst xmlns:a="http://schemas.openxmlformats.org/drawingml/2006/main">
              <a:ext uri="{FF2B5EF4-FFF2-40B4-BE49-F238E27FC236}">
                <a16:creationId xmlns:a16="http://schemas.microsoft.com/office/drawing/2014/main" id="{4B1FF1E0-7C2A-41C2-89C4-1FB2D6E8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三、</a:t>
            </a:r>
            <a:r>
              <a:rPr sz="2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跨组织实践分享与推广</a:t>
            </a:r>
          </a:p>
        </p:txBody>
      </p:sp>
      <p:sp>
        <p:nvSpPr>
          <p:cNvPr id="2" name="sharing-intro">
            <a:extLst xmlns:a="http://schemas.openxmlformats.org/drawingml/2006/main">
              <a:ext uri="{FF2B5EF4-FFF2-40B4-BE49-F238E27FC236}">
                <a16:creationId xmlns:a16="http://schemas.microsoft.com/office/drawing/2014/main" id="{755BCB7B-49B7-4F4A-99B7-65F62D18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77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围绕实际研发用法与项目经验，在公司、产品线、研究所和 PDU 开展交流</a:t>
            </a:r>
          </a:p>
        </p:txBody>
      </p:sp>
      <p:sp>
        <p:nvSpPr>
          <p:cNvPr id="3" name="公司级分享截图">
            <a:extLst xmlns:a="http://schemas.openxmlformats.org/drawingml/2006/main">
              <a:ext uri="{FF2B5EF4-FFF2-40B4-BE49-F238E27FC236}">
                <a16:creationId xmlns:a16="http://schemas.microsoft.com/office/drawing/2014/main" id="{90A47DBE-90F8-4B91-B37D-B41AB1EC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1816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9525">
            <a:solidFill>
              <a:srgbClr val="D6D6D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>
                <a:solidFill>
                  <a:srgbClr val="9B9B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500">
                <a:solidFill>
                  <a:srgbClr val="9B9B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9B9B9F"/>
                </a:solidFill>
                <a:latin typeface="Microsoft YaHei"/>
                <a:ea typeface="Microsoft YaHei"/>
                <a:cs typeface="Microsoft YaHei"/>
              </a:rPr>
              <a:t>公司级分享截图</a:t>
            </a:r>
          </a:p>
        </p:txBody>
      </p:sp>
      <p:sp>
        <p:nvSpPr>
          <p:cNvPr id="4" name="sharing-event-0">
            <a:extLst xmlns:a="http://schemas.openxmlformats.org/drawingml/2006/main">
              <a:ext uri="{FF2B5EF4-FFF2-40B4-BE49-F238E27FC236}">
                <a16:creationId xmlns:a16="http://schemas.microsoft.com/office/drawing/2014/main" id="{DCF2602B-7A13-49B8-915A-8023B496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公司级</a:t>
            </a:r>
            <a:r>
              <a:rPr sz="1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 研发能力参联会</a:t>
            </a:r>
          </a:p>
        </p:txBody>
      </p:sp>
      <p:sp>
        <p:nvSpPr>
          <p:cNvPr id="5" name="sharing-topic-0">
            <a:extLst xmlns:a="http://schemas.openxmlformats.org/drawingml/2006/main">
              <a:ext uri="{FF2B5EF4-FFF2-40B4-BE49-F238E27FC236}">
                <a16:creationId xmlns:a16="http://schemas.microsoft.com/office/drawing/2014/main" id="{F050F57B-7CF5-49C8-9EB8-C31ED817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MAE-M AI 超级团队 E2E 实践</a:t>
            </a:r>
          </a:p>
          <a:p xmlns:a="http://schemas.openxmlformats.org/drawingml/2006/main">
            <a:pPr algn="l">
              <a:buNone/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与 AI 产品自动化工厂探索</a:t>
            </a:r>
          </a:p>
        </p:txBody>
      </p:sp>
      <p:sp>
        <p:nvSpPr>
          <p:cNvPr id="6" name="产品线分享截图">
            <a:extLst xmlns:a="http://schemas.openxmlformats.org/drawingml/2006/main">
              <a:ext uri="{FF2B5EF4-FFF2-40B4-BE49-F238E27FC236}">
                <a16:creationId xmlns:a16="http://schemas.microsoft.com/office/drawing/2014/main" id="{CB9E5D7D-6034-4AA9-B53B-EE5C6948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57300"/>
            <a:ext cx="51816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9525">
            <a:solidFill>
              <a:srgbClr val="D6D6D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>
                <a:solidFill>
                  <a:srgbClr val="9B9B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500">
                <a:solidFill>
                  <a:srgbClr val="9B9B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9B9B9F"/>
                </a:solidFill>
                <a:latin typeface="Microsoft YaHei"/>
                <a:ea typeface="Microsoft YaHei"/>
                <a:cs typeface="Microsoft YaHei"/>
              </a:rPr>
              <a:t>产品线分享截图</a:t>
            </a:r>
          </a:p>
        </p:txBody>
      </p:sp>
      <p:sp>
        <p:nvSpPr>
          <p:cNvPr id="7" name="sharing-event-1">
            <a:extLst xmlns:a="http://schemas.openxmlformats.org/drawingml/2006/main">
              <a:ext uri="{FF2B5EF4-FFF2-40B4-BE49-F238E27FC236}">
                <a16:creationId xmlns:a16="http://schemas.microsoft.com/office/drawing/2014/main" id="{8ECB8A5D-336D-4437-AE65-BEA5BD81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52775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产品线</a:t>
            </a:r>
            <a:r>
              <a:rPr sz="1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 无线大讲堂</a:t>
            </a:r>
          </a:p>
        </p:txBody>
      </p:sp>
      <p:sp>
        <p:nvSpPr>
          <p:cNvPr id="8" name="sharing-topic-1">
            <a:extLst xmlns:a="http://schemas.openxmlformats.org/drawingml/2006/main">
              <a:ext uri="{FF2B5EF4-FFF2-40B4-BE49-F238E27FC236}">
                <a16:creationId xmlns:a16="http://schemas.microsoft.com/office/drawing/2014/main" id="{5466F419-CDF4-42AC-AD30-9EFC37D6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76625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组织级交付工作流实践</a:t>
            </a:r>
          </a:p>
        </p:txBody>
      </p:sp>
      <p:sp>
        <p:nvSpPr>
          <p:cNvPr id="9" name="西研所分享截图">
            <a:extLst xmlns:a="http://schemas.openxmlformats.org/drawingml/2006/main">
              <a:ext uri="{FF2B5EF4-FFF2-40B4-BE49-F238E27FC236}">
                <a16:creationId xmlns:a16="http://schemas.microsoft.com/office/drawing/2014/main" id="{F2C4D849-47E0-4D28-93FB-63FA5611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1816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9525">
            <a:solidFill>
              <a:srgbClr val="D6D6D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>
                <a:solidFill>
                  <a:srgbClr val="9B9B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500">
                <a:solidFill>
                  <a:srgbClr val="9B9B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9B9B9F"/>
                </a:solidFill>
                <a:latin typeface="Microsoft YaHei"/>
                <a:ea typeface="Microsoft YaHei"/>
                <a:cs typeface="Microsoft YaHei"/>
              </a:rPr>
              <a:t>西研所分享截图</a:t>
            </a:r>
          </a:p>
        </p:txBody>
      </p:sp>
      <p:sp>
        <p:nvSpPr>
          <p:cNvPr id="10" name="sharing-event-2">
            <a:extLst xmlns:a="http://schemas.openxmlformats.org/drawingml/2006/main">
              <a:ext uri="{FF2B5EF4-FFF2-40B4-BE49-F238E27FC236}">
                <a16:creationId xmlns:a16="http://schemas.microsoft.com/office/drawing/2014/main" id="{295486DF-74E0-449D-8D83-A7A24DBE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西研所</a:t>
            </a:r>
            <a:r>
              <a:rPr sz="1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 智荟西北狼 · 小龙门阵第 43 期</a:t>
            </a:r>
          </a:p>
        </p:txBody>
      </p:sp>
      <p:sp>
        <p:nvSpPr>
          <p:cNvPr id="11" name="sharing-topic-2">
            <a:extLst xmlns:a="http://schemas.openxmlformats.org/drawingml/2006/main">
              <a:ext uri="{FF2B5EF4-FFF2-40B4-BE49-F238E27FC236}">
                <a16:creationId xmlns:a16="http://schemas.microsoft.com/office/drawing/2014/main" id="{F99BD4BB-F0C7-456C-9A46-B714FF93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AI for 开发 &amp; 问题单处理交流</a:t>
            </a:r>
          </a:p>
        </p:txBody>
      </p:sp>
      <p:sp>
        <p:nvSpPr>
          <p:cNvPr id="12" name="PDU分享截图">
            <a:extLst xmlns:a="http://schemas.openxmlformats.org/drawingml/2006/main">
              <a:ext uri="{FF2B5EF4-FFF2-40B4-BE49-F238E27FC236}">
                <a16:creationId xmlns:a16="http://schemas.microsoft.com/office/drawing/2014/main" id="{6CC0A8BA-D8FD-4340-B81F-883954A1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51816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9525">
            <a:solidFill>
              <a:srgbClr val="D6D6D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>
                <a:solidFill>
                  <a:srgbClr val="9B9B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500">
                <a:solidFill>
                  <a:srgbClr val="9B9B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9B9B9F"/>
                </a:solidFill>
                <a:latin typeface="Microsoft YaHei"/>
                <a:ea typeface="Microsoft YaHei"/>
                <a:cs typeface="Microsoft YaHei"/>
              </a:rPr>
              <a:t>PDU分享截图</a:t>
            </a:r>
          </a:p>
        </p:txBody>
      </p:sp>
      <p:sp>
        <p:nvSpPr>
          <p:cNvPr id="13" name="sharing-event-3">
            <a:extLst xmlns:a="http://schemas.openxmlformats.org/drawingml/2006/main">
              <a:ext uri="{FF2B5EF4-FFF2-40B4-BE49-F238E27FC236}">
                <a16:creationId xmlns:a16="http://schemas.microsoft.com/office/drawing/2014/main" id="{605C44AD-0646-4B90-BEC9-735119EA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95975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PDU</a:t>
            </a:r>
            <a:r>
              <a:rPr sz="14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 MAE-M 产品部 AI 技术沙龙</a:t>
            </a:r>
          </a:p>
        </p:txBody>
      </p:sp>
      <p:sp>
        <p:nvSpPr>
          <p:cNvPr id="14" name="sharing-topic-3">
            <a:extLst xmlns:a="http://schemas.openxmlformats.org/drawingml/2006/main">
              <a:ext uri="{FF2B5EF4-FFF2-40B4-BE49-F238E27FC236}">
                <a16:creationId xmlns:a16="http://schemas.microsoft.com/office/drawing/2014/main" id="{3194E4EF-D0CC-4C3D-A1DF-69EF876B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219825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从需求到 MR：MAE-FLOW 的 SDD 实践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52C41F-B887-4653-9EF1-6CEE9031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4484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9601549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">
            <a:extLst xmlns:a="http://schemas.openxmlformats.org/drawingml/2006/main">
              <a:ext uri="{FF2B5EF4-FFF2-40B4-BE49-F238E27FC236}">
                <a16:creationId xmlns:a16="http://schemas.microsoft.com/office/drawing/2014/main" id="{FFF3B250-809B-49B0-8A80-E5D7BE76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698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chemeClr val="bg1"/>
                </a:solidFill>
              </a:rPr>
              <a:t>后续计划</a:t>
            </a:r>
            <a:endParaRPr sz="3000"/>
          </a:p>
        </p:txBody>
      </p:sp>
      <p:sp>
        <p:nvSpPr>
          <p:cNvPr id="3" name="n-0">
            <a:extLst xmlns:a="http://schemas.openxmlformats.org/drawingml/2006/main">
              <a:ext uri="{FF2B5EF4-FFF2-40B4-BE49-F238E27FC236}">
                <a16:creationId xmlns:a16="http://schemas.microsoft.com/office/drawing/2014/main" id="{34DCC6D7-9D18-48C4-A863-7D7E380F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3393338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C2C2E"/>
          </a:solidFill>
          <a:ln xmlns:a="http://schemas.openxmlformats.org/drawingml/2006/main" w="12700">
            <a:solidFill>
              <a:srgbClr val="2C2C2E"/>
            </a:solidFill>
            <a:prstDash val="solid"/>
          </a:ln>
        </p:spPr>
      </p:sp>
      <p:sp>
        <p:nvSpPr>
          <p:cNvPr id="4" name="n-ic-0-bg">
            <a:extLst xmlns:a="http://schemas.openxmlformats.org/drawingml/2006/main">
              <a:ext uri="{FF2B5EF4-FFF2-40B4-BE49-F238E27FC236}">
                <a16:creationId xmlns:a16="http://schemas.microsoft.com/office/drawing/2014/main" id="{ECFFA54A-F20C-4ACB-9213-11B18987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031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5" name="n-ic-0">
            <a:extLst xmlns:a="http://schemas.openxmlformats.org/drawingml/2006/main">
              <a:ext uri="{FF2B5EF4-FFF2-40B4-BE49-F238E27FC236}">
                <a16:creationId xmlns:a16="http://schemas.microsoft.com/office/drawing/2014/main" id="{0D454918-D3B8-406E-82E6-898D2765CF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16b31c6844c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6541" y="222382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6" name="n-h-0">
            <a:extLst xmlns:a="http://schemas.openxmlformats.org/drawingml/2006/main">
              <a:ext uri="{FF2B5EF4-FFF2-40B4-BE49-F238E27FC236}">
                <a16:creationId xmlns:a16="http://schemas.microsoft.com/office/drawing/2014/main" id="{9979D65E-DFFB-4041-B6F2-177F6B59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88920"/>
            <a:ext cx="284469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bg1"/>
                </a:solidFill>
              </a:rPr>
              <a:t>组件知识持续校准</a:t>
            </a:r>
            <a:endParaRPr sz="1600"/>
          </a:p>
        </p:txBody>
      </p:sp>
      <p:sp>
        <p:nvSpPr>
          <p:cNvPr id="7" name="n-b-0">
            <a:extLst xmlns:a="http://schemas.openxmlformats.org/drawingml/2006/main">
              <a:ext uri="{FF2B5EF4-FFF2-40B4-BE49-F238E27FC236}">
                <a16:creationId xmlns:a16="http://schemas.microsoft.com/office/drawing/2014/main" id="{851A4375-7761-48D8-8164-2B5152EB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284469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FBFBF"/>
                </a:solidFill>
              </a:rPr>
              <a:t>收集设计选型、改代码提示和 MR 检查的实际效果，用来修正组件规则</a:t>
            </a:r>
            <a:endParaRPr sz="1200"/>
          </a:p>
        </p:txBody>
      </p:sp>
      <p:sp>
        <p:nvSpPr>
          <p:cNvPr id="8" name="n-1">
            <a:extLst xmlns:a="http://schemas.openxmlformats.org/drawingml/2006/main">
              <a:ext uri="{FF2B5EF4-FFF2-40B4-BE49-F238E27FC236}">
                <a16:creationId xmlns:a16="http://schemas.microsoft.com/office/drawing/2014/main" id="{3519ECE2-41A9-44BF-8627-88C29119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178" y="1828800"/>
            <a:ext cx="3393338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C2C2E"/>
          </a:solidFill>
          <a:ln xmlns:a="http://schemas.openxmlformats.org/drawingml/2006/main" w="12700">
            <a:solidFill>
              <a:srgbClr val="2C2C2E"/>
            </a:solidFill>
            <a:prstDash val="solid"/>
          </a:ln>
        </p:spPr>
      </p:sp>
      <p:sp>
        <p:nvSpPr>
          <p:cNvPr id="9" name="n-ic-1-bg">
            <a:extLst xmlns:a="http://schemas.openxmlformats.org/drawingml/2006/main">
              <a:ext uri="{FF2B5EF4-FFF2-40B4-BE49-F238E27FC236}">
                <a16:creationId xmlns:a16="http://schemas.microsoft.com/office/drawing/2014/main" id="{DC1D2FD4-925E-48FA-8602-4863A177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498" y="21031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10" name="n-ic-1">
            <a:extLst xmlns:a="http://schemas.openxmlformats.org/drawingml/2006/main">
              <a:ext uri="{FF2B5EF4-FFF2-40B4-BE49-F238E27FC236}">
                <a16:creationId xmlns:a16="http://schemas.microsoft.com/office/drawing/2014/main" id="{C1FDAB83-9549-442C-BFDC-2D7B183604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c84f39c304f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199" y="222382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1" name="n-h-1">
            <a:extLst xmlns:a="http://schemas.openxmlformats.org/drawingml/2006/main">
              <a:ext uri="{FF2B5EF4-FFF2-40B4-BE49-F238E27FC236}">
                <a16:creationId xmlns:a16="http://schemas.microsoft.com/office/drawing/2014/main" id="{EAC96455-CFAE-4E36-904E-578CF8C0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498" y="2788920"/>
            <a:ext cx="284469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bg1"/>
                </a:solidFill>
              </a:rPr>
              <a:t>推广到更多团队</a:t>
            </a:r>
            <a:endParaRPr sz="1600"/>
          </a:p>
        </p:txBody>
      </p:sp>
      <p:sp>
        <p:nvSpPr>
          <p:cNvPr id="12" name="n-b-1">
            <a:extLst xmlns:a="http://schemas.openxmlformats.org/drawingml/2006/main">
              <a:ext uri="{FF2B5EF4-FFF2-40B4-BE49-F238E27FC236}">
                <a16:creationId xmlns:a16="http://schemas.microsoft.com/office/drawing/2014/main" id="{BBAA526A-A7E4-4063-AB8C-70B6D14E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498" y="3154680"/>
            <a:ext cx="284469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FBFBF"/>
                </a:solidFill>
              </a:rPr>
              <a:t>接入更多业务团队，统一需求和问题单入口，形成团队默认配置</a:t>
            </a:r>
            <a:endParaRPr sz="1200"/>
          </a:p>
        </p:txBody>
      </p:sp>
      <p:sp>
        <p:nvSpPr>
          <p:cNvPr id="13" name="n-2">
            <a:extLst xmlns:a="http://schemas.openxmlformats.org/drawingml/2006/main">
              <a:ext uri="{FF2B5EF4-FFF2-40B4-BE49-F238E27FC236}">
                <a16:creationId xmlns:a16="http://schemas.microsoft.com/office/drawing/2014/main" id="{C3C29D9D-F135-4CE8-AFD1-8EBA7BBB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837" y="1828800"/>
            <a:ext cx="3393338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C2C2E"/>
          </a:solidFill>
          <a:ln xmlns:a="http://schemas.openxmlformats.org/drawingml/2006/main" w="12700">
            <a:solidFill>
              <a:srgbClr val="2C2C2E"/>
            </a:solidFill>
            <a:prstDash val="solid"/>
          </a:ln>
        </p:spPr>
      </p:sp>
      <p:sp>
        <p:nvSpPr>
          <p:cNvPr id="14" name="n-ic-2-bg">
            <a:extLst xmlns:a="http://schemas.openxmlformats.org/drawingml/2006/main">
              <a:ext uri="{FF2B5EF4-FFF2-40B4-BE49-F238E27FC236}">
                <a16:creationId xmlns:a16="http://schemas.microsoft.com/office/drawing/2014/main" id="{51D94FCD-7C9E-49B1-AAE5-002ADBF3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57" y="21031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15" name="n-ic-2">
            <a:extLst xmlns:a="http://schemas.openxmlformats.org/drawingml/2006/main">
              <a:ext uri="{FF2B5EF4-FFF2-40B4-BE49-F238E27FC236}">
                <a16:creationId xmlns:a16="http://schemas.microsoft.com/office/drawing/2014/main" id="{D29A804A-4479-4418-8650-7D8A234C57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334e2dfb34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61858" y="222382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6" name="n-h-2">
            <a:extLst xmlns:a="http://schemas.openxmlformats.org/drawingml/2006/main">
              <a:ext uri="{FF2B5EF4-FFF2-40B4-BE49-F238E27FC236}">
                <a16:creationId xmlns:a16="http://schemas.microsoft.com/office/drawing/2014/main" id="{DC373E6F-9ED7-457A-8E06-60B2702A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57" y="2788920"/>
            <a:ext cx="284469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bg1"/>
                </a:solidFill>
              </a:rPr>
              <a:t>经验自动整理</a:t>
            </a:r>
            <a:endParaRPr sz="1600"/>
          </a:p>
        </p:txBody>
      </p:sp>
      <p:sp>
        <p:nvSpPr>
          <p:cNvPr id="17" name="n-b-2">
            <a:extLst xmlns:a="http://schemas.openxmlformats.org/drawingml/2006/main">
              <a:ext uri="{FF2B5EF4-FFF2-40B4-BE49-F238E27FC236}">
                <a16:creationId xmlns:a16="http://schemas.microsoft.com/office/drawing/2014/main" id="{6864B51C-97EE-48A6-8721-18A11CAF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57" y="3154680"/>
            <a:ext cx="284469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FBFBF"/>
                </a:solidFill>
              </a:rPr>
              <a:t>每次交付后自动整理经验，人工采纳后用于后续交付</a:t>
            </a:r>
            <a:endParaRPr sz="1200"/>
          </a:p>
        </p:txBody>
      </p:sp>
      <p:sp>
        <p:nvSpPr>
          <p:cNvPr id="18" name="close">
            <a:extLst xmlns:a="http://schemas.openxmlformats.org/drawingml/2006/main">
              <a:ext uri="{FF2B5EF4-FFF2-40B4-BE49-F238E27FC236}">
                <a16:creationId xmlns:a16="http://schemas.microsoft.com/office/drawing/2014/main" id="{019392B0-6595-4768-952A-9B1CC279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10698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C7000B"/>
                </a:solidFill>
              </a:rPr>
              <a:t>AI 推进交付全程，关键决定由人做出</a:t>
            </a:r>
            <a:endParaRPr sz="2200"/>
          </a:p>
        </p:txBody>
      </p:sp>
      <p:sp>
        <p:nvSpPr>
          <p:cNvPr id="19" name="thanks">
            <a:extLst xmlns:a="http://schemas.openxmlformats.org/drawingml/2006/main">
              <a:ext uri="{FF2B5EF4-FFF2-40B4-BE49-F238E27FC236}">
                <a16:creationId xmlns:a16="http://schemas.microsoft.com/office/drawing/2014/main" id="{18E87EC2-3016-4650-9C02-E93B8962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5486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BFBFBF"/>
                </a:solidFill>
              </a:rPr>
              <a:t>谢谢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55910281"/>
      </p:ext>
    </p:extLst>
  </p:cSld>
</p:sld>
</file>

<file path=ppt/theme/theme1.xml><?xml version="1.0" encoding="utf-8"?>
<a:theme xmlns:a="http://schemas.openxmlformats.org/drawingml/2006/main" name="Mae-Flow Pioneer">
  <a:themeElements>
    <a:clrScheme name="Mae-Flow Pioneer">
      <a:dk1>
        <a:srgbClr val="1F1F1F"/>
      </a:dk1>
      <a:lt1>
        <a:srgbClr val="FFFFFF"/>
      </a:lt1>
      <a:dk2>
        <a:srgbClr val="595959"/>
      </a:dk2>
      <a:lt2>
        <a:srgbClr val="F4F4F5"/>
      </a:lt2>
      <a:accent1>
        <a:srgbClr val="C7000B"/>
      </a:accent1>
      <a:accent2>
        <a:srgbClr val="8C8C8C"/>
      </a:accent2>
      <a:accent3>
        <a:srgbClr val="DCDCDE"/>
      </a:accent3>
      <a:accent4>
        <a:srgbClr val="1C1C1E"/>
      </a:accent4>
      <a:accent5>
        <a:srgbClr val="FBEAEA"/>
      </a:accent5>
      <a:accent6>
        <a:srgbClr val="2C2C2E"/>
      </a:accent6>
      <a:hlink>
        <a:srgbClr val="C7000B"/>
      </a:hlink>
      <a:folHlink>
        <a:srgbClr val="595959"/>
      </a:folHlink>
    </a:clrScheme>
    <a:fontScheme name="Mae-Flow Pioneer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ae-Flow Pione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2026-10-12T02:27:19.0810000Z</dcterms:created>
  <dcterms:modified xsi:type="dcterms:W3CDTF">2026-10-12T02:27:19.0810000Z</dcterms:modified>
</coreProperties>
</file>